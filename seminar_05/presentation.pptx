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ink/ink1.xml" ContentType="application/inkml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handoutMasterIdLst>
    <p:handoutMasterId r:id="rId42"/>
  </p:handoutMasterIdLst>
  <p:sldIdLst>
    <p:sldId id="256" r:id="rId2"/>
    <p:sldId id="307" r:id="rId3"/>
    <p:sldId id="317" r:id="rId4"/>
    <p:sldId id="414" r:id="rId5"/>
    <p:sldId id="415" r:id="rId6"/>
    <p:sldId id="315" r:id="rId7"/>
    <p:sldId id="416" r:id="rId8"/>
    <p:sldId id="323" r:id="rId9"/>
    <p:sldId id="309" r:id="rId10"/>
    <p:sldId id="417" r:id="rId11"/>
    <p:sldId id="418" r:id="rId12"/>
    <p:sldId id="419" r:id="rId13"/>
    <p:sldId id="420" r:id="rId14"/>
    <p:sldId id="421" r:id="rId15"/>
    <p:sldId id="422" r:id="rId16"/>
    <p:sldId id="423" r:id="rId17"/>
    <p:sldId id="424" r:id="rId18"/>
    <p:sldId id="425" r:id="rId19"/>
    <p:sldId id="426" r:id="rId20"/>
    <p:sldId id="427" r:id="rId21"/>
    <p:sldId id="428" r:id="rId22"/>
    <p:sldId id="429" r:id="rId23"/>
    <p:sldId id="430" r:id="rId24"/>
    <p:sldId id="431" r:id="rId25"/>
    <p:sldId id="433" r:id="rId26"/>
    <p:sldId id="432" r:id="rId27"/>
    <p:sldId id="434" r:id="rId28"/>
    <p:sldId id="436" r:id="rId29"/>
    <p:sldId id="437" r:id="rId30"/>
    <p:sldId id="438" r:id="rId31"/>
    <p:sldId id="439" r:id="rId32"/>
    <p:sldId id="440" r:id="rId33"/>
    <p:sldId id="441" r:id="rId34"/>
    <p:sldId id="435" r:id="rId35"/>
    <p:sldId id="442" r:id="rId36"/>
    <p:sldId id="444" r:id="rId37"/>
    <p:sldId id="445" r:id="rId38"/>
    <p:sldId id="293" r:id="rId39"/>
    <p:sldId id="345" r:id="rId40"/>
  </p:sldIdLst>
  <p:sldSz cx="12192000" cy="6858000"/>
  <p:notesSz cx="7315200" cy="96012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1F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FCA41B-7398-400B-83DC-FDE8722EB923}" v="79" dt="2020-02-09T01:28:39.664"/>
  </p1510:revLst>
</p1510:revInfo>
</file>

<file path=ppt/tableStyles.xml><?xml version="1.0" encoding="utf-8"?>
<a:tblStyleLst xmlns:a="http://schemas.openxmlformats.org/drawingml/2006/main" def="{5C22544A-7EE6-4342-B048-85BDC9FD1C3A}">
  <a:tblStyle styleId="{35758FB7-9AC5-4552-8A53-C91805E547FA}" styleName="Themed Style 1 –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73" autoAdjust="0"/>
    <p:restoredTop sz="83293" autoAdjust="0"/>
  </p:normalViewPr>
  <p:slideViewPr>
    <p:cSldViewPr snapToGrid="0">
      <p:cViewPr varScale="1">
        <p:scale>
          <a:sx n="88" d="100"/>
          <a:sy n="88" d="100"/>
        </p:scale>
        <p:origin x="1554" y="120"/>
      </p:cViewPr>
      <p:guideLst/>
    </p:cSldViewPr>
  </p:slideViewPr>
  <p:outlineViewPr>
    <p:cViewPr>
      <p:scale>
        <a:sx n="33" d="100"/>
        <a:sy n="33" d="100"/>
      </p:scale>
      <p:origin x="0" y="-8862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47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lipe Augusto Pereira de Figueiredo" userId="e1771b70d906f94b" providerId="Windows Live" clId="Web-{B3FCA41B-7398-400B-83DC-FDE8722EB923}"/>
    <pc:docChg chg="modSld">
      <pc:chgData name="Felipe Augusto Pereira de Figueiredo" userId="e1771b70d906f94b" providerId="Windows Live" clId="Web-{B3FCA41B-7398-400B-83DC-FDE8722EB923}" dt="2020-02-09T01:40:38.055" v="257"/>
      <pc:docMkLst>
        <pc:docMk/>
      </pc:docMkLst>
      <pc:sldChg chg="modSp modNotes">
        <pc:chgData name="Felipe Augusto Pereira de Figueiredo" userId="e1771b70d906f94b" providerId="Windows Live" clId="Web-{B3FCA41B-7398-400B-83DC-FDE8722EB923}" dt="2020-02-09T01:26:20.191" v="45"/>
        <pc:sldMkLst>
          <pc:docMk/>
          <pc:sldMk cId="636059476" sldId="259"/>
        </pc:sldMkLst>
        <pc:spChg chg="mod">
          <ac:chgData name="Felipe Augusto Pereira de Figueiredo" userId="e1771b70d906f94b" providerId="Windows Live" clId="Web-{B3FCA41B-7398-400B-83DC-FDE8722EB923}" dt="2020-02-09T01:22:23.081" v="18" actId="1076"/>
          <ac:spMkLst>
            <pc:docMk/>
            <pc:sldMk cId="636059476" sldId="259"/>
            <ac:spMk id="3" creationId="{979D29AC-E01B-406F-AC75-55866B75A7CC}"/>
          </ac:spMkLst>
        </pc:spChg>
      </pc:sldChg>
      <pc:sldChg chg="modNotes">
        <pc:chgData name="Felipe Augusto Pereira de Figueiredo" userId="e1771b70d906f94b" providerId="Windows Live" clId="Web-{B3FCA41B-7398-400B-83DC-FDE8722EB923}" dt="2020-02-09T01:21:46.721" v="16"/>
        <pc:sldMkLst>
          <pc:docMk/>
          <pc:sldMk cId="248504461" sldId="267"/>
        </pc:sldMkLst>
      </pc:sldChg>
      <pc:sldChg chg="modSp modNotes">
        <pc:chgData name="Felipe Augusto Pereira de Figueiredo" userId="e1771b70d906f94b" providerId="Windows Live" clId="Web-{B3FCA41B-7398-400B-83DC-FDE8722EB923}" dt="2020-02-09T01:40:38.055" v="257"/>
        <pc:sldMkLst>
          <pc:docMk/>
          <pc:sldMk cId="2076219387" sldId="277"/>
        </pc:sldMkLst>
        <pc:spChg chg="mod">
          <ac:chgData name="Felipe Augusto Pereira de Figueiredo" userId="e1771b70d906f94b" providerId="Windows Live" clId="Web-{B3FCA41B-7398-400B-83DC-FDE8722EB923}" dt="2020-02-09T01:28:39.664" v="120" actId="14100"/>
          <ac:spMkLst>
            <pc:docMk/>
            <pc:sldMk cId="2076219387" sldId="277"/>
            <ac:spMk id="3" creationId="{5E0262E2-3A0F-4805-BCCB-6745237D1574}"/>
          </ac:spMkLst>
        </pc:spChg>
      </pc:sldChg>
    </pc:docChg>
  </pc:docChgLst>
  <pc:docChgLst>
    <pc:chgData name="Felipe Augusto Pereira de Figueiredo" userId="e1771b70d906f94b" providerId="Windows Live" clId="Web-{1FA475AF-6444-47C2-89B1-9776BABC0E66}"/>
    <pc:docChg chg="modSld">
      <pc:chgData name="Felipe Augusto Pereira de Figueiredo" userId="e1771b70d906f94b" providerId="Windows Live" clId="Web-{1FA475AF-6444-47C2-89B1-9776BABC0E66}" dt="2020-02-09T18:53:52.767" v="85"/>
      <pc:docMkLst>
        <pc:docMk/>
      </pc:docMkLst>
      <pc:sldChg chg="modNotes">
        <pc:chgData name="Felipe Augusto Pereira de Figueiredo" userId="e1771b70d906f94b" providerId="Windows Live" clId="Web-{1FA475AF-6444-47C2-89B1-9776BABC0E66}" dt="2020-02-09T18:53:52.767" v="85"/>
        <pc:sldMkLst>
          <pc:docMk/>
          <pc:sldMk cId="248504461" sldId="26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169922" cy="480722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l">
              <a:defRPr sz="2200"/>
            </a:lvl1pPr>
          </a:lstStyle>
          <a:p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9" y="0"/>
            <a:ext cx="3169922" cy="480722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r">
              <a:defRPr sz="2200"/>
            </a:lvl1pPr>
          </a:lstStyle>
          <a:p>
            <a:fld id="{144F1436-6906-4D93-B7A2-786C327BFA14}" type="datetimeFigureOut">
              <a:rPr lang="nl-BE" smtClean="0"/>
              <a:t>12/05/2026</a:t>
            </a:fld>
            <a:endParaRPr lang="nl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120488"/>
            <a:ext cx="3169922" cy="480718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l">
              <a:defRPr sz="2200"/>
            </a:lvl1pPr>
          </a:lstStyle>
          <a:p>
            <a:endParaRPr lang="nl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9" y="9120488"/>
            <a:ext cx="3169922" cy="480718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r">
              <a:defRPr sz="2200"/>
            </a:lvl1pPr>
          </a:lstStyle>
          <a:p>
            <a:fld id="{F7E56D9B-79AD-444A-AFED-DEC23408F8B4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635331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2T23:40:51.4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5234 275 24575,'-1'-1'0,"0"-1"0,0 1 0,0-1 0,0 1 0,-1-1 0,1 1 0,0 0 0,-1-1 0,1 1 0,-1 0 0,1 0 0,-1 0 0,0 0 0,0 0 0,1 1 0,-1-1 0,0 0 0,-2 0 0,-2-1 0,-43-14 0,-2 1 0,1 3 0,-91-11 0,48 9 0,-20 1 0,0 5 0,-158 9 0,95 2 0,-693-3 0,811-3 0,2-3 0,-1-3 0,-104-29 0,93 21 0,-147-19 0,54 12 0,69 12 0,0 4 0,-174 8 0,113 2 0,-568-2 0,680 3 0,1 1 0,0 2 0,-42 11 0,-23 5 0,-213 50 0,273-57 0,1 1 0,-75 40 0,31-14 0,75-36 0,0 1 0,1 0 0,0 1 0,0 0 0,1 1 0,0 0 0,1 0 0,0 1 0,0 1 0,1 0 0,0 0 0,1 1 0,1 0 0,0 0 0,-10 25 0,7-13 0,1 0 0,1 1 0,2 0 0,0 0 0,2 1 0,-2 34 0,-8 37 0,8-58 0,-3 63 0,9-88 0,0 0 0,1 0 0,1 1 0,0-1 0,1 0 0,1-1 0,0 1 0,0 0 0,2-1 0,0 0 0,0 0 0,1-1 0,1 0 0,0 0 0,0 0 0,1-1 0,15 13 0,7 9 0,2-2 0,1-2 0,2-1 0,0-1 0,2-2 0,1-2 0,0-2 0,2-1 0,72 24 0,-2 1 0,-88-34 0,0-1 0,0-1 0,1-1 0,0-1 0,50 7 0,-42-9 0,1 1 0,44 13 0,-49-10 0,1-2 0,0-1 0,50 4 0,-44-10 0,-4 0 0,-1 2 0,0 0 0,42 10 0,322 80 0,-269-60 0,0-5 0,149 11 0,240-30 0,-293-11 0,1321 3 0,-1500-2 0,1-2 0,0-2 0,46-13 0,8-1 0,131-32 0,-137 29 0,199-37 0,-270 56 0,0-1 0,0-1 0,0-1 0,-1 0 0,0-2 0,0 0 0,-1-1 0,0-1 0,-1 0 0,0-2 0,-1 0 0,-1 0 0,0-2 0,0 0 0,-2-1 0,16-22 0,-15 18 0,-2 0 0,-1 0 0,0-2 0,-2 1 0,0-1 0,-2 0 0,0-1 0,-2 0 0,5-30 0,-5 21 0,16-48 0,-12 50 0,9-59 0,-16 71 0,0 0 0,-2-1 0,0 1 0,-1-1 0,-1 1 0,0 0 0,-2 0 0,0 0 0,-1 0 0,-1 1 0,-13-29 0,15 40 0,-1 1 0,0 0 0,-1 0 0,1 1 0,-1-1 0,0 1 0,0 0 0,0 1 0,0 0 0,-1 0 0,0 0 0,1 0 0,-1 1 0,-11-2 0,7 1 0,0-1 0,-1 0 0,1-1 0,-10-6 0,-26-20 0,-1 2 0,-1 2 0,-86-32 0,81 43 0,38 12 0,-1-1 0,1-1 0,1 0 0,-1 0 0,-18-12 0,-206-145-1365,220 148-5461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5" y="1"/>
            <a:ext cx="3169922" cy="1903121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l">
              <a:defRPr sz="2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143592" y="1"/>
            <a:ext cx="3169922" cy="1903121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r">
              <a:defRPr sz="2200"/>
            </a:lvl1pPr>
          </a:lstStyle>
          <a:p>
            <a:fld id="{AA8CD09E-2914-4F47-B6C1-51B2C31814C9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-7721600" y="4740275"/>
            <a:ext cx="22758400" cy="12801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68634" tIns="84317" rIns="168634" bIns="84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31522" y="18254135"/>
            <a:ext cx="5852160" cy="14935200"/>
          </a:xfrm>
          <a:prstGeom prst="rect">
            <a:avLst/>
          </a:prstGeom>
        </p:spPr>
        <p:txBody>
          <a:bodyPr vert="horz" lIns="168634" tIns="84317" rIns="168634" bIns="84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5" y="36027558"/>
            <a:ext cx="3169922" cy="1903117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l">
              <a:defRPr sz="2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143592" y="36027558"/>
            <a:ext cx="3169922" cy="1903117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r">
              <a:defRPr sz="2200"/>
            </a:lvl1pPr>
          </a:lstStyle>
          <a:p>
            <a:fld id="{6FC8D850-966F-45A6-8DE7-15B891E7D40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1814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baseline="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07474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TPE (</a:t>
            </a:r>
            <a:r>
              <a:rPr lang="pt-B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Tree-structured</a:t>
            </a:r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Parzen</a:t>
            </a:r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Estimator</a:t>
            </a:r>
            <a:r>
              <a:rPr lang="pt-B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17274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97310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9D3C6-D88A-0EF0-74D1-EB37B87F5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4DFD18-F635-A205-BC14-B6D30B4C99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A1F44F-BC8D-2519-9183-D400FFB9B6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42DE9B-8D6F-7821-B94F-B55FEAC5CC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03799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7F180-FCF8-2893-C433-CC3E947D8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D37679-5BC9-0B2D-7302-D3C3D8167A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4CF9B9-6F9F-A296-586A-7479683795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BF913E-39B1-9AED-BF61-61163A7977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15489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42873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A0230-5C14-15A9-BEB7-FB8B64A23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CD53EA-6C52-CD65-4AA8-D9C21E4A07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DDAE15-68BD-D3AC-9987-E46B30ADAC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FC801-02C4-E1F3-A094-3D6ECD8E70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18730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7D45E-2D18-5490-F1E6-856E6DD65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59E40A-E2B0-79E6-E0A8-2DF7EC0F88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2151AF-D511-F8E8-2DA4-A19642F277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EF37A5-B1E6-E1CB-770E-A3C8933AA3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53672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pt-BR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A posição das antenas é variável importante porque, neste </a:t>
                </a:r>
                <a:r>
                  <a:rPr lang="pt-BR" dirty="0" err="1"/>
                  <a:t>paper</a:t>
                </a:r>
                <a:r>
                  <a:rPr lang="pt-BR" dirty="0"/>
                  <a:t>, a BS não é um arranjo fixo tradicional. As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antennas</a:t>
                </a:r>
                <a:r>
                  <a:rPr lang="pt-BR" dirty="0"/>
                  <a:t> podem se mover dentro de um painel. Isso altera o canal sem fio. Então, diferente de um sistema MIMO convencional em que a geometria é fixa, aqui a geometria da BS é parte do problema de otimização.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Aqui no lado esquerdo do slide estão as definições matemáticas das posições dessas antenas. O vetor </a:t>
                </a:r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𝐭_(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𝑢,𝑎</a:t>
                </a:r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)</a:t>
                </a:r>
                <a:r>
                  <a:rPr lang="pt-BR" dirty="0"/>
                  <a:t>representa a posição da antena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𝑎</a:t>
                </a:r>
                <a:r>
                  <a:rPr lang="pt-BR" dirty="0"/>
                  <a:t>do usuário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𝑢</a:t>
                </a:r>
                <a:r>
                  <a:rPr lang="pt-BR" dirty="0"/>
                  <a:t>, com coordenadas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pt-BR" dirty="0"/>
                  <a:t>e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</a:t>
                </a:r>
                <a:r>
                  <a:rPr lang="pt-BR" dirty="0"/>
                  <a:t>. O </a:t>
                </a:r>
                <a:r>
                  <a:rPr lang="pt-BR" dirty="0" err="1"/>
                  <a:t>paper</a:t>
                </a:r>
                <a:r>
                  <a:rPr lang="pt-BR" dirty="0"/>
                  <a:t> agrupa todas essas posições na matriz </a:t>
                </a:r>
                <a:r>
                  <a:rPr lang="pt-BR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𝐓</a:t>
                </a:r>
                <a:r>
                  <a:rPr lang="pt-BR" dirty="0"/>
                  <a:t>. Já a posição da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</a:t>
                </a:r>
                <a:r>
                  <a:rPr lang="pt-BR" dirty="0"/>
                  <a:t>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𝑚</a:t>
                </a:r>
                <a:r>
                  <a:rPr lang="pt-BR" dirty="0"/>
                  <a:t>da BS é representada por </a:t>
                </a:r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𝐫_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𝑚</a:t>
                </a:r>
                <a:r>
                  <a:rPr lang="ar-AE" dirty="0"/>
                  <a:t>, </a:t>
                </a:r>
                <a:r>
                  <a:rPr lang="pt-BR" dirty="0"/>
                  <a:t>e todas as posições da BS são agrupadas na matriz </a:t>
                </a:r>
                <a:r>
                  <a:rPr lang="pt-BR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𝐑</a:t>
                </a:r>
                <a:r>
                  <a:rPr lang="pt-BR" dirty="0"/>
                  <a:t>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pt-BR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Outro ponto importante é que o sistema usa </a:t>
                </a:r>
                <a:r>
                  <a:rPr lang="pt-BR" dirty="0" err="1"/>
                  <a:t>space-division</a:t>
                </a:r>
                <a:r>
                  <a:rPr lang="pt-BR" dirty="0"/>
                  <a:t> </a:t>
                </a:r>
                <a:r>
                  <a:rPr lang="pt-BR" dirty="0" err="1"/>
                  <a:t>multiple</a:t>
                </a:r>
                <a:r>
                  <a:rPr lang="pt-BR" dirty="0"/>
                  <a:t> </a:t>
                </a:r>
                <a:r>
                  <a:rPr lang="pt-BR" dirty="0" err="1"/>
                  <a:t>access</a:t>
                </a:r>
                <a:r>
                  <a:rPr lang="pt-BR" dirty="0"/>
                  <a:t>. Isso significa que vários usuários podem se comunicar com a base </a:t>
                </a:r>
                <a:r>
                  <a:rPr lang="pt-BR" dirty="0" err="1"/>
                  <a:t>station</a:t>
                </a:r>
                <a:r>
                  <a:rPr lang="pt-BR" dirty="0"/>
                  <a:t> ao mesmo tempo, explorando separação espacial.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Além disso, existe um servidor no sistema, e esse servidor é quem executa a parte pesada da inferência do </a:t>
                </a:r>
                <a:r>
                  <a:rPr lang="pt-BR" dirty="0" err="1"/>
                  <a:t>large</a:t>
                </a:r>
                <a:r>
                  <a:rPr lang="pt-BR" dirty="0"/>
                  <a:t> model. A outra parte é executada no cliente.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pt-BR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Por fim, o </a:t>
                </a:r>
                <a:r>
                  <a:rPr lang="pt-BR" dirty="0" err="1"/>
                  <a:t>paper</a:t>
                </a:r>
                <a:r>
                  <a:rPr lang="pt-BR" dirty="0"/>
                  <a:t> assume que o tempo necessário para ajustar a posição das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antennas</a:t>
                </a:r>
                <a:r>
                  <a:rPr lang="pt-BR" dirty="0"/>
                  <a:t> é desprezível. Em outras palavras, eles ignoram esse custo mecânico ou físico e consideram apenas o ganho que o reposicionamento traz para o canal e para a taxa de transmissão.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pt-BR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Pense em um painel retangular na BS, e cada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</a:t>
                </a:r>
                <a:r>
                  <a:rPr lang="pt-BR" dirty="0"/>
                  <a:t> pode “andar” nesse painel em duas direções,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pt-BR" dirty="0"/>
                  <a:t>e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</a:t>
                </a:r>
                <a:r>
                  <a:rPr lang="pt-BR" dirty="0"/>
                  <a:t>.</a:t>
                </a:r>
                <a:br>
                  <a:rPr lang="pt-BR" dirty="0"/>
                </a:br>
                <a:r>
                  <a:rPr lang="pt-BR" dirty="0"/>
                  <a:t>a modelagem não está nesse nível discreto de “</a:t>
                </a:r>
                <a:r>
                  <a:rPr lang="pt-BR" dirty="0" err="1"/>
                  <a:t>port</a:t>
                </a:r>
                <a:r>
                  <a:rPr lang="pt-BR" dirty="0"/>
                  <a:t> 1, </a:t>
                </a:r>
                <a:r>
                  <a:rPr lang="pt-BR" dirty="0" err="1"/>
                  <a:t>port</a:t>
                </a:r>
                <a:r>
                  <a:rPr lang="pt-BR" dirty="0"/>
                  <a:t> 2, </a:t>
                </a:r>
                <a:r>
                  <a:rPr lang="pt-BR" dirty="0" err="1"/>
                  <a:t>port</a:t>
                </a:r>
                <a:r>
                  <a:rPr lang="pt-BR" dirty="0"/>
                  <a:t> 3...”, é como uma antena 2d, porém em termos de x e y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68097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93D04-B90D-6A4E-C556-1CB496662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FAF3C6-734D-1663-0686-FD934A31BB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A517293D-6F92-2030-2970-A169A9E7203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pt-BR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A posição das antenas é variável importante porque, neste </a:t>
                </a:r>
                <a:r>
                  <a:rPr lang="pt-BR" dirty="0" err="1"/>
                  <a:t>paper</a:t>
                </a:r>
                <a:r>
                  <a:rPr lang="pt-BR" dirty="0"/>
                  <a:t>, a BS não é um arranjo fixo tradicional. As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antennas</a:t>
                </a:r>
                <a:r>
                  <a:rPr lang="pt-BR" dirty="0"/>
                  <a:t> podem se mover dentro de um painel. Isso altera o canal sem fio. Então, diferente de um sistema MIMO convencional em que a geometria é fixa, aqui a geometria da BS é parte do problema de otimização.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Aqui no lado esquerdo do slide estão as definições matemáticas das posições dessas antenas. O vetor </a:t>
                </a:r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𝐭_(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𝑢,𝑎</a:t>
                </a:r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)</a:t>
                </a:r>
                <a:r>
                  <a:rPr lang="pt-BR" dirty="0"/>
                  <a:t>representa a posição da antena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𝑎</a:t>
                </a:r>
                <a:r>
                  <a:rPr lang="pt-BR" dirty="0"/>
                  <a:t>do usuário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𝑢</a:t>
                </a:r>
                <a:r>
                  <a:rPr lang="pt-BR" dirty="0"/>
                  <a:t>, com coordenadas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pt-BR" dirty="0"/>
                  <a:t>e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</a:t>
                </a:r>
                <a:r>
                  <a:rPr lang="pt-BR" dirty="0"/>
                  <a:t>. O </a:t>
                </a:r>
                <a:r>
                  <a:rPr lang="pt-BR" dirty="0" err="1"/>
                  <a:t>paper</a:t>
                </a:r>
                <a:r>
                  <a:rPr lang="pt-BR" dirty="0"/>
                  <a:t> agrupa todas essas posições na matriz </a:t>
                </a:r>
                <a:r>
                  <a:rPr lang="pt-BR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𝐓</a:t>
                </a:r>
                <a:r>
                  <a:rPr lang="pt-BR" dirty="0"/>
                  <a:t>. Já a posição da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</a:t>
                </a:r>
                <a:r>
                  <a:rPr lang="pt-BR" dirty="0"/>
                  <a:t>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𝑚</a:t>
                </a:r>
                <a:r>
                  <a:rPr lang="pt-BR" dirty="0"/>
                  <a:t>da BS é representada por </a:t>
                </a:r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𝐫_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𝑚</a:t>
                </a:r>
                <a:r>
                  <a:rPr lang="ar-AE" dirty="0"/>
                  <a:t>, </a:t>
                </a:r>
                <a:r>
                  <a:rPr lang="pt-BR" dirty="0"/>
                  <a:t>e todas as posições da BS são agrupadas na matriz </a:t>
                </a:r>
                <a:r>
                  <a:rPr lang="pt-BR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𝐑</a:t>
                </a:r>
                <a:r>
                  <a:rPr lang="pt-BR" dirty="0"/>
                  <a:t>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pt-BR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Outro ponto importante é que o sistema usa </a:t>
                </a:r>
                <a:r>
                  <a:rPr lang="pt-BR" dirty="0" err="1"/>
                  <a:t>space-division</a:t>
                </a:r>
                <a:r>
                  <a:rPr lang="pt-BR" dirty="0"/>
                  <a:t> </a:t>
                </a:r>
                <a:r>
                  <a:rPr lang="pt-BR" dirty="0" err="1"/>
                  <a:t>multiple</a:t>
                </a:r>
                <a:r>
                  <a:rPr lang="pt-BR" dirty="0"/>
                  <a:t> </a:t>
                </a:r>
                <a:r>
                  <a:rPr lang="pt-BR" dirty="0" err="1"/>
                  <a:t>access</a:t>
                </a:r>
                <a:r>
                  <a:rPr lang="pt-BR" dirty="0"/>
                  <a:t>. Isso significa que vários usuários podem se comunicar com a base </a:t>
                </a:r>
                <a:r>
                  <a:rPr lang="pt-BR" dirty="0" err="1"/>
                  <a:t>station</a:t>
                </a:r>
                <a:r>
                  <a:rPr lang="pt-BR" dirty="0"/>
                  <a:t> ao mesmo tempo, explorando separação espacial.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Além disso, existe um servidor no sistema, e esse servidor é quem executa a parte pesada da inferência do </a:t>
                </a:r>
                <a:r>
                  <a:rPr lang="pt-BR" dirty="0" err="1"/>
                  <a:t>large</a:t>
                </a:r>
                <a:r>
                  <a:rPr lang="pt-BR" dirty="0"/>
                  <a:t> model. A outra parte é executada no cliente.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pt-BR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Por fim, o </a:t>
                </a:r>
                <a:r>
                  <a:rPr lang="pt-BR" dirty="0" err="1"/>
                  <a:t>paper</a:t>
                </a:r>
                <a:r>
                  <a:rPr lang="pt-BR" dirty="0"/>
                  <a:t> assume que o tempo necessário para ajustar a posição das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antennas</a:t>
                </a:r>
                <a:r>
                  <a:rPr lang="pt-BR" dirty="0"/>
                  <a:t> é desprezível. Em outras palavras, eles ignoram esse custo mecânico ou físico e consideram apenas o ganho que o reposicionamento traz para o canal e para a taxa de transmissão.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pt-BR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Pense em um painel retangular na BS, e cada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</a:t>
                </a:r>
                <a:r>
                  <a:rPr lang="pt-BR" dirty="0"/>
                  <a:t> pode “andar” nesse painel em duas direções,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pt-BR" dirty="0"/>
                  <a:t>e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</a:t>
                </a:r>
                <a:r>
                  <a:rPr lang="pt-BR" dirty="0"/>
                  <a:t>.</a:t>
                </a:r>
                <a:br>
                  <a:rPr lang="pt-BR" dirty="0"/>
                </a:br>
                <a:r>
                  <a:rPr lang="pt-BR" dirty="0"/>
                  <a:t>a modelagem não está nesse nível discreto de “</a:t>
                </a:r>
                <a:r>
                  <a:rPr lang="pt-BR" dirty="0" err="1"/>
                  <a:t>port</a:t>
                </a:r>
                <a:r>
                  <a:rPr lang="pt-BR" dirty="0"/>
                  <a:t> 1, </a:t>
                </a:r>
                <a:r>
                  <a:rPr lang="pt-BR" dirty="0" err="1"/>
                  <a:t>port</a:t>
                </a:r>
                <a:r>
                  <a:rPr lang="pt-BR" dirty="0"/>
                  <a:t> 2, </a:t>
                </a:r>
                <a:r>
                  <a:rPr lang="pt-BR" dirty="0" err="1"/>
                  <a:t>port</a:t>
                </a:r>
                <a:r>
                  <a:rPr lang="pt-BR" dirty="0"/>
                  <a:t> 3...”, é como uma antena 2d, porém em termos de x e y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B74B33-E7DD-F2E0-5016-2ACD6A829C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96579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93BF7-37C4-96AC-84AF-B057F0B62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103F35-F6DD-A0B1-8005-61C459C386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AD43EB39-10F9-B50D-F8F1-2A70926064F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pt-BR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A posição das antenas é variável importante porque, neste </a:t>
                </a:r>
                <a:r>
                  <a:rPr lang="pt-BR" dirty="0" err="1"/>
                  <a:t>paper</a:t>
                </a:r>
                <a:r>
                  <a:rPr lang="pt-BR" dirty="0"/>
                  <a:t>, a BS não é um arranjo fixo tradicional. As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antennas</a:t>
                </a:r>
                <a:r>
                  <a:rPr lang="pt-BR" dirty="0"/>
                  <a:t> podem se mover dentro de um painel. Isso altera o canal sem fio. Então, diferente de um sistema MIMO convencional em que a geometria é fixa, aqui a geometria da BS é parte do problema de otimização.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Aqui no lado esquerdo do slide estão as definições matemáticas das posições dessas antenas. O vetor </a:t>
                </a:r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𝐭_(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𝑢,𝑎</a:t>
                </a:r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)</a:t>
                </a:r>
                <a:r>
                  <a:rPr lang="pt-BR" dirty="0"/>
                  <a:t>representa a posição da antena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𝑎</a:t>
                </a:r>
                <a:r>
                  <a:rPr lang="pt-BR" dirty="0"/>
                  <a:t>do usuário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𝑢</a:t>
                </a:r>
                <a:r>
                  <a:rPr lang="pt-BR" dirty="0"/>
                  <a:t>, com coordenadas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pt-BR" dirty="0"/>
                  <a:t>e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</a:t>
                </a:r>
                <a:r>
                  <a:rPr lang="pt-BR" dirty="0"/>
                  <a:t>. O </a:t>
                </a:r>
                <a:r>
                  <a:rPr lang="pt-BR" dirty="0" err="1"/>
                  <a:t>paper</a:t>
                </a:r>
                <a:r>
                  <a:rPr lang="pt-BR" dirty="0"/>
                  <a:t> agrupa todas essas posições na matriz </a:t>
                </a:r>
                <a:r>
                  <a:rPr lang="pt-BR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𝐓</a:t>
                </a:r>
                <a:r>
                  <a:rPr lang="pt-BR" dirty="0"/>
                  <a:t>. Já a posição da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</a:t>
                </a:r>
                <a:r>
                  <a:rPr lang="pt-BR" dirty="0"/>
                  <a:t>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𝑚</a:t>
                </a:r>
                <a:r>
                  <a:rPr lang="pt-BR" dirty="0"/>
                  <a:t>da BS é representada por </a:t>
                </a:r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𝐫_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𝑚</a:t>
                </a:r>
                <a:r>
                  <a:rPr lang="ar-AE" dirty="0"/>
                  <a:t>, </a:t>
                </a:r>
                <a:r>
                  <a:rPr lang="pt-BR" dirty="0"/>
                  <a:t>e todas as posições da BS são agrupadas na matriz </a:t>
                </a:r>
                <a:r>
                  <a:rPr lang="pt-BR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𝐑</a:t>
                </a:r>
                <a:r>
                  <a:rPr lang="pt-BR" dirty="0"/>
                  <a:t>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pt-BR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Outro ponto importante é que o sistema usa </a:t>
                </a:r>
                <a:r>
                  <a:rPr lang="pt-BR" dirty="0" err="1"/>
                  <a:t>space-division</a:t>
                </a:r>
                <a:r>
                  <a:rPr lang="pt-BR" dirty="0"/>
                  <a:t> </a:t>
                </a:r>
                <a:r>
                  <a:rPr lang="pt-BR" dirty="0" err="1"/>
                  <a:t>multiple</a:t>
                </a:r>
                <a:r>
                  <a:rPr lang="pt-BR" dirty="0"/>
                  <a:t> </a:t>
                </a:r>
                <a:r>
                  <a:rPr lang="pt-BR" dirty="0" err="1"/>
                  <a:t>access</a:t>
                </a:r>
                <a:r>
                  <a:rPr lang="pt-BR" dirty="0"/>
                  <a:t>. Isso significa que vários usuários podem se comunicar com a base </a:t>
                </a:r>
                <a:r>
                  <a:rPr lang="pt-BR" dirty="0" err="1"/>
                  <a:t>station</a:t>
                </a:r>
                <a:r>
                  <a:rPr lang="pt-BR" dirty="0"/>
                  <a:t> ao mesmo tempo, explorando separação espacial.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Além disso, existe um servidor no sistema, e esse servidor é quem executa a parte pesada da inferência do </a:t>
                </a:r>
                <a:r>
                  <a:rPr lang="pt-BR" dirty="0" err="1"/>
                  <a:t>large</a:t>
                </a:r>
                <a:r>
                  <a:rPr lang="pt-BR" dirty="0"/>
                  <a:t> model. A outra parte é executada no cliente.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pt-BR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Por fim, o </a:t>
                </a:r>
                <a:r>
                  <a:rPr lang="pt-BR" dirty="0" err="1"/>
                  <a:t>paper</a:t>
                </a:r>
                <a:r>
                  <a:rPr lang="pt-BR" dirty="0"/>
                  <a:t> assume que o tempo necessário para ajustar a posição das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antennas</a:t>
                </a:r>
                <a:r>
                  <a:rPr lang="pt-BR" dirty="0"/>
                  <a:t> é desprezível. Em outras palavras, eles ignoram esse custo mecânico ou físico e consideram apenas o ganho que o reposicionamento traz para o canal e para a taxa de transmissão.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pt-BR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Pense em um painel retangular na BS, e cada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</a:t>
                </a:r>
                <a:r>
                  <a:rPr lang="pt-BR" dirty="0"/>
                  <a:t> pode “andar” nesse painel em duas direções,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pt-BR" dirty="0"/>
                  <a:t>e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</a:t>
                </a:r>
                <a:r>
                  <a:rPr lang="pt-BR" dirty="0"/>
                  <a:t>.</a:t>
                </a:r>
                <a:br>
                  <a:rPr lang="pt-BR" dirty="0"/>
                </a:br>
                <a:r>
                  <a:rPr lang="pt-BR" dirty="0"/>
                  <a:t>a modelagem não está nesse nível discreto de “</a:t>
                </a:r>
                <a:r>
                  <a:rPr lang="pt-BR" dirty="0" err="1"/>
                  <a:t>port</a:t>
                </a:r>
                <a:r>
                  <a:rPr lang="pt-BR" dirty="0"/>
                  <a:t> 1, </a:t>
                </a:r>
                <a:r>
                  <a:rPr lang="pt-BR" dirty="0" err="1"/>
                  <a:t>port</a:t>
                </a:r>
                <a:r>
                  <a:rPr lang="pt-BR" dirty="0"/>
                  <a:t> 2, </a:t>
                </a:r>
                <a:r>
                  <a:rPr lang="pt-BR" dirty="0" err="1"/>
                  <a:t>port</a:t>
                </a:r>
                <a:r>
                  <a:rPr lang="pt-BR" dirty="0"/>
                  <a:t> 3...”, é como uma antena 2d, porém em termos de x e y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94E6B6-7D64-1ECA-994C-3EFA4279B8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35264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FF255-FCE9-5A49-888E-54BB0745E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BC9DC6-6A42-07E6-5B51-0323F12B52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3448E1A5-FFDB-2005-2335-15BD5F0122A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pt-BR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A posição das antenas é variável importante porque, neste </a:t>
                </a:r>
                <a:r>
                  <a:rPr lang="pt-BR" dirty="0" err="1"/>
                  <a:t>paper</a:t>
                </a:r>
                <a:r>
                  <a:rPr lang="pt-BR" dirty="0"/>
                  <a:t>, a BS não é um arranjo fixo tradicional. As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antennas</a:t>
                </a:r>
                <a:r>
                  <a:rPr lang="pt-BR" dirty="0"/>
                  <a:t> podem se mover dentro de um painel. Isso altera o canal sem fio. Então, diferente de um sistema MIMO convencional em que a geometria é fixa, aqui a geometria da BS é parte do problema de otimização.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Aqui no lado esquerdo do slide estão as definições matemáticas das posições dessas antenas. O vetor </a:t>
                </a:r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𝐭_(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𝑢,𝑎</a:t>
                </a:r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)</a:t>
                </a:r>
                <a:r>
                  <a:rPr lang="pt-BR" dirty="0"/>
                  <a:t>representa a posição da antena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𝑎</a:t>
                </a:r>
                <a:r>
                  <a:rPr lang="pt-BR" dirty="0"/>
                  <a:t>do usuário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𝑢</a:t>
                </a:r>
                <a:r>
                  <a:rPr lang="pt-BR" dirty="0"/>
                  <a:t>, com coordenadas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pt-BR" dirty="0"/>
                  <a:t>e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</a:t>
                </a:r>
                <a:r>
                  <a:rPr lang="pt-BR" dirty="0"/>
                  <a:t>. O </a:t>
                </a:r>
                <a:r>
                  <a:rPr lang="pt-BR" dirty="0" err="1"/>
                  <a:t>paper</a:t>
                </a:r>
                <a:r>
                  <a:rPr lang="pt-BR" dirty="0"/>
                  <a:t> agrupa todas essas posições na matriz </a:t>
                </a:r>
                <a:r>
                  <a:rPr lang="pt-BR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𝐓</a:t>
                </a:r>
                <a:r>
                  <a:rPr lang="pt-BR" dirty="0"/>
                  <a:t>. Já a posição da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</a:t>
                </a:r>
                <a:r>
                  <a:rPr lang="pt-BR" dirty="0"/>
                  <a:t>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𝑚</a:t>
                </a:r>
                <a:r>
                  <a:rPr lang="pt-BR" dirty="0"/>
                  <a:t>da BS é representada por </a:t>
                </a:r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𝐫_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𝑚</a:t>
                </a:r>
                <a:r>
                  <a:rPr lang="ar-AE" dirty="0"/>
                  <a:t>, </a:t>
                </a:r>
                <a:r>
                  <a:rPr lang="pt-BR" dirty="0"/>
                  <a:t>e todas as posições da BS são agrupadas na matriz </a:t>
                </a:r>
                <a:r>
                  <a:rPr lang="pt-BR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𝐑</a:t>
                </a:r>
                <a:r>
                  <a:rPr lang="pt-BR" dirty="0"/>
                  <a:t>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pt-BR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Outro ponto importante é que o sistema usa </a:t>
                </a:r>
                <a:r>
                  <a:rPr lang="pt-BR" dirty="0" err="1"/>
                  <a:t>space-division</a:t>
                </a:r>
                <a:r>
                  <a:rPr lang="pt-BR" dirty="0"/>
                  <a:t> </a:t>
                </a:r>
                <a:r>
                  <a:rPr lang="pt-BR" dirty="0" err="1"/>
                  <a:t>multiple</a:t>
                </a:r>
                <a:r>
                  <a:rPr lang="pt-BR" dirty="0"/>
                  <a:t> </a:t>
                </a:r>
                <a:r>
                  <a:rPr lang="pt-BR" dirty="0" err="1"/>
                  <a:t>access</a:t>
                </a:r>
                <a:r>
                  <a:rPr lang="pt-BR" dirty="0"/>
                  <a:t>. Isso significa que vários usuários podem se comunicar com a base </a:t>
                </a:r>
                <a:r>
                  <a:rPr lang="pt-BR" dirty="0" err="1"/>
                  <a:t>station</a:t>
                </a:r>
                <a:r>
                  <a:rPr lang="pt-BR" dirty="0"/>
                  <a:t> ao mesmo tempo, explorando separação espacial.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Além disso, existe um servidor no sistema, e esse servidor é quem executa a parte pesada da inferência do </a:t>
                </a:r>
                <a:r>
                  <a:rPr lang="pt-BR" dirty="0" err="1"/>
                  <a:t>large</a:t>
                </a:r>
                <a:r>
                  <a:rPr lang="pt-BR" dirty="0"/>
                  <a:t> model. A outra parte é executada no cliente.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pt-BR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Por fim, o </a:t>
                </a:r>
                <a:r>
                  <a:rPr lang="pt-BR" dirty="0" err="1"/>
                  <a:t>paper</a:t>
                </a:r>
                <a:r>
                  <a:rPr lang="pt-BR" dirty="0"/>
                  <a:t> assume que o tempo necessário para ajustar a posição das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antennas</a:t>
                </a:r>
                <a:r>
                  <a:rPr lang="pt-BR" dirty="0"/>
                  <a:t> é desprezível. Em outras palavras, eles ignoram esse custo mecânico ou físico e consideram apenas o ganho que o reposicionamento traz para o canal e para a taxa de transmissão.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pt-BR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Pense em um painel retangular na BS, e cada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</a:t>
                </a:r>
                <a:r>
                  <a:rPr lang="pt-BR" dirty="0"/>
                  <a:t> pode “andar” nesse painel em duas direções,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pt-BR" dirty="0"/>
                  <a:t>e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</a:t>
                </a:r>
                <a:r>
                  <a:rPr lang="pt-BR" dirty="0"/>
                  <a:t>.</a:t>
                </a:r>
                <a:br>
                  <a:rPr lang="pt-BR" dirty="0"/>
                </a:br>
                <a:r>
                  <a:rPr lang="pt-BR" dirty="0"/>
                  <a:t>a modelagem não está nesse nível discreto de “</a:t>
                </a:r>
                <a:r>
                  <a:rPr lang="pt-BR" dirty="0" err="1"/>
                  <a:t>port</a:t>
                </a:r>
                <a:r>
                  <a:rPr lang="pt-BR" dirty="0"/>
                  <a:t> 1, </a:t>
                </a:r>
                <a:r>
                  <a:rPr lang="pt-BR" dirty="0" err="1"/>
                  <a:t>port</a:t>
                </a:r>
                <a:r>
                  <a:rPr lang="pt-BR" dirty="0"/>
                  <a:t> 2, </a:t>
                </a:r>
                <a:r>
                  <a:rPr lang="pt-BR" dirty="0" err="1"/>
                  <a:t>port</a:t>
                </a:r>
                <a:r>
                  <a:rPr lang="pt-BR" dirty="0"/>
                  <a:t> 3...”, é como uma antena 2d, porém em termos de x e y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A6769B-D479-9309-A2FC-F8EEEE1DBC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1556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62FA2-9BE4-A9E6-A355-72347EC80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4A9CD2-D3C0-301D-E2A8-0F8FE2F01A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3C33F7D9-B4A2-72B9-4613-B9FC6EF67F4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pt-BR" dirty="0"/>
              </a:p>
              <a:p>
                <a:endParaRPr lang="pt-BR" dirty="0"/>
              </a:p>
              <a:p>
                <a:endParaRPr lang="pt-BR" dirty="0"/>
              </a:p>
              <a:p>
                <a:endParaRPr lang="pt-BR" dirty="0"/>
              </a:p>
              <a:p>
                <a:r>
                  <a:rPr lang="pt-BR" b="1" dirty="0"/>
                  <a:t>Isomorfismo</a:t>
                </a:r>
                <a:r>
                  <a:rPr lang="pt-BR" dirty="0"/>
                  <a:t> significa que dois objetos têm a </a:t>
                </a:r>
                <a:r>
                  <a:rPr lang="pt-BR" b="1" dirty="0"/>
                  <a:t>mesma estrutura</a:t>
                </a:r>
                <a:r>
                  <a:rPr lang="pt-BR" dirty="0"/>
                  <a:t>, mesmo que estejam escritos com nomes, posições ou representações diferentes.</a:t>
                </a: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A posição das antenas é variável importante porque, neste </a:t>
                </a:r>
                <a:r>
                  <a:rPr lang="pt-BR" dirty="0" err="1"/>
                  <a:t>paper</a:t>
                </a:r>
                <a:r>
                  <a:rPr lang="pt-BR" dirty="0"/>
                  <a:t>, a BS não é um arranjo fixo tradicional. As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antennas</a:t>
                </a:r>
                <a:r>
                  <a:rPr lang="pt-BR" dirty="0"/>
                  <a:t> podem se mover dentro de um painel. Isso altera o canal sem fio. Então, diferente de um sistema MIMO convencional em que a geometria é fixa, aqui a geometria da BS é parte do problema de otimização.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Aqui no lado esquerdo do slide estão as definições matemáticas das posições dessas antenas. O vetor </a:t>
                </a:r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𝐭_(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𝑢,𝑎</a:t>
                </a:r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)</a:t>
                </a:r>
                <a:r>
                  <a:rPr lang="pt-BR" dirty="0"/>
                  <a:t>representa a posição da antena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𝑎</a:t>
                </a:r>
                <a:r>
                  <a:rPr lang="pt-BR" dirty="0"/>
                  <a:t>do usuário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𝑢</a:t>
                </a:r>
                <a:r>
                  <a:rPr lang="pt-BR" dirty="0"/>
                  <a:t>, com coordenadas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pt-BR" dirty="0"/>
                  <a:t>e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</a:t>
                </a:r>
                <a:r>
                  <a:rPr lang="pt-BR" dirty="0"/>
                  <a:t>. O </a:t>
                </a:r>
                <a:r>
                  <a:rPr lang="pt-BR" dirty="0" err="1"/>
                  <a:t>paper</a:t>
                </a:r>
                <a:r>
                  <a:rPr lang="pt-BR" dirty="0"/>
                  <a:t> agrupa todas essas posições na matriz </a:t>
                </a:r>
                <a:r>
                  <a:rPr lang="pt-BR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𝐓</a:t>
                </a:r>
                <a:r>
                  <a:rPr lang="pt-BR" dirty="0"/>
                  <a:t>. Já a posição da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</a:t>
                </a:r>
                <a:r>
                  <a:rPr lang="pt-BR" dirty="0"/>
                  <a:t>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𝑚</a:t>
                </a:r>
                <a:r>
                  <a:rPr lang="pt-BR" dirty="0"/>
                  <a:t>da BS é representada por </a:t>
                </a:r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𝐫_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𝑚</a:t>
                </a:r>
                <a:r>
                  <a:rPr lang="ar-AE" dirty="0"/>
                  <a:t>, </a:t>
                </a:r>
                <a:r>
                  <a:rPr lang="pt-BR" dirty="0"/>
                  <a:t>e todas as posições da BS são agrupadas na matriz </a:t>
                </a:r>
                <a:r>
                  <a:rPr lang="pt-BR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𝐑</a:t>
                </a:r>
                <a:r>
                  <a:rPr lang="pt-BR" dirty="0"/>
                  <a:t>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pt-BR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Outro ponto importante é que o sistema usa </a:t>
                </a:r>
                <a:r>
                  <a:rPr lang="pt-BR" dirty="0" err="1"/>
                  <a:t>space-division</a:t>
                </a:r>
                <a:r>
                  <a:rPr lang="pt-BR" dirty="0"/>
                  <a:t> </a:t>
                </a:r>
                <a:r>
                  <a:rPr lang="pt-BR" dirty="0" err="1"/>
                  <a:t>multiple</a:t>
                </a:r>
                <a:r>
                  <a:rPr lang="pt-BR" dirty="0"/>
                  <a:t> </a:t>
                </a:r>
                <a:r>
                  <a:rPr lang="pt-BR" dirty="0" err="1"/>
                  <a:t>access</a:t>
                </a:r>
                <a:r>
                  <a:rPr lang="pt-BR" dirty="0"/>
                  <a:t>. Isso significa que vários usuários podem se comunicar com a base </a:t>
                </a:r>
                <a:r>
                  <a:rPr lang="pt-BR" dirty="0" err="1"/>
                  <a:t>station</a:t>
                </a:r>
                <a:r>
                  <a:rPr lang="pt-BR" dirty="0"/>
                  <a:t> ao mesmo tempo, explorando separação espacial.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Além disso, existe um servidor no sistema, e esse servidor é quem executa a parte pesada da inferência do </a:t>
                </a:r>
                <a:r>
                  <a:rPr lang="pt-BR" dirty="0" err="1"/>
                  <a:t>large</a:t>
                </a:r>
                <a:r>
                  <a:rPr lang="pt-BR" dirty="0"/>
                  <a:t> model. A outra parte é executada no cliente.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pt-BR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Por fim, o </a:t>
                </a:r>
                <a:r>
                  <a:rPr lang="pt-BR" dirty="0" err="1"/>
                  <a:t>paper</a:t>
                </a:r>
                <a:r>
                  <a:rPr lang="pt-BR" dirty="0"/>
                  <a:t> assume que o tempo necessário para ajustar a posição das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antennas</a:t>
                </a:r>
                <a:r>
                  <a:rPr lang="pt-BR" dirty="0"/>
                  <a:t> é desprezível. Em outras palavras, eles ignoram esse custo mecânico ou físico e consideram apenas o ganho que o reposicionamento traz para o canal e para a taxa de transmissão.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pt-BR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Pense em um painel retangular na BS, e cada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</a:t>
                </a:r>
                <a:r>
                  <a:rPr lang="pt-BR" dirty="0"/>
                  <a:t> pode “andar” nesse painel em duas direções,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pt-BR" dirty="0"/>
                  <a:t>e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</a:t>
                </a:r>
                <a:r>
                  <a:rPr lang="pt-BR" dirty="0"/>
                  <a:t>.</a:t>
                </a:r>
                <a:br>
                  <a:rPr lang="pt-BR" dirty="0"/>
                </a:br>
                <a:r>
                  <a:rPr lang="pt-BR" dirty="0"/>
                  <a:t>a modelagem não está nesse nível discreto de “</a:t>
                </a:r>
                <a:r>
                  <a:rPr lang="pt-BR" dirty="0" err="1"/>
                  <a:t>port</a:t>
                </a:r>
                <a:r>
                  <a:rPr lang="pt-BR" dirty="0"/>
                  <a:t> 1, </a:t>
                </a:r>
                <a:r>
                  <a:rPr lang="pt-BR" dirty="0" err="1"/>
                  <a:t>port</a:t>
                </a:r>
                <a:r>
                  <a:rPr lang="pt-BR" dirty="0"/>
                  <a:t> 2, </a:t>
                </a:r>
                <a:r>
                  <a:rPr lang="pt-BR" dirty="0" err="1"/>
                  <a:t>port</a:t>
                </a:r>
                <a:r>
                  <a:rPr lang="pt-BR" dirty="0"/>
                  <a:t> 3...”, é como uma antena 2d, porém em termos de x e y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E46092-09D2-065C-B2D6-A73BF93ED5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87988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217FB-0D14-9D29-1008-634072E65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57FB16-CD88-3C0D-C653-373D7BDF4F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C8EAE94E-CF54-2EA0-296A-083A767AC38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pt-BR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A posição das antenas é variável importante porque, neste </a:t>
                </a:r>
                <a:r>
                  <a:rPr lang="pt-BR" dirty="0" err="1"/>
                  <a:t>paper</a:t>
                </a:r>
                <a:r>
                  <a:rPr lang="pt-BR" dirty="0"/>
                  <a:t>, a BS não é um arranjo fixo tradicional. As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antennas</a:t>
                </a:r>
                <a:r>
                  <a:rPr lang="pt-BR" dirty="0"/>
                  <a:t> podem se mover dentro de um painel. Isso altera o canal sem fio. Então, diferente de um sistema MIMO convencional em que a geometria é fixa, aqui a geometria da BS é parte do problema de otimização.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Aqui no lado esquerdo do slide estão as definições matemáticas das posições dessas antenas. O vetor </a:t>
                </a:r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𝐭_(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𝑢,𝑎</a:t>
                </a:r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)</a:t>
                </a:r>
                <a:r>
                  <a:rPr lang="pt-BR" dirty="0"/>
                  <a:t>representa a posição da antena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𝑎</a:t>
                </a:r>
                <a:r>
                  <a:rPr lang="pt-BR" dirty="0"/>
                  <a:t>do usuário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𝑢</a:t>
                </a:r>
                <a:r>
                  <a:rPr lang="pt-BR" dirty="0"/>
                  <a:t>, com coordenadas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pt-BR" dirty="0"/>
                  <a:t>e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</a:t>
                </a:r>
                <a:r>
                  <a:rPr lang="pt-BR" dirty="0"/>
                  <a:t>. O </a:t>
                </a:r>
                <a:r>
                  <a:rPr lang="pt-BR" dirty="0" err="1"/>
                  <a:t>paper</a:t>
                </a:r>
                <a:r>
                  <a:rPr lang="pt-BR" dirty="0"/>
                  <a:t> agrupa todas essas posições na matriz </a:t>
                </a:r>
                <a:r>
                  <a:rPr lang="pt-BR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𝐓</a:t>
                </a:r>
                <a:r>
                  <a:rPr lang="pt-BR" dirty="0"/>
                  <a:t>. Já a posição da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</a:t>
                </a:r>
                <a:r>
                  <a:rPr lang="pt-BR" dirty="0"/>
                  <a:t>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𝑚</a:t>
                </a:r>
                <a:r>
                  <a:rPr lang="pt-BR" dirty="0"/>
                  <a:t>da BS é representada por </a:t>
                </a:r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𝐫_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𝑚</a:t>
                </a:r>
                <a:r>
                  <a:rPr lang="ar-AE" dirty="0"/>
                  <a:t>, </a:t>
                </a:r>
                <a:r>
                  <a:rPr lang="pt-BR" dirty="0"/>
                  <a:t>e todas as posições da BS são agrupadas na matriz </a:t>
                </a:r>
                <a:r>
                  <a:rPr lang="pt-BR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𝐑</a:t>
                </a:r>
                <a:r>
                  <a:rPr lang="pt-BR" dirty="0"/>
                  <a:t>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pt-BR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Outro ponto importante é que o sistema usa </a:t>
                </a:r>
                <a:r>
                  <a:rPr lang="pt-BR" dirty="0" err="1"/>
                  <a:t>space-division</a:t>
                </a:r>
                <a:r>
                  <a:rPr lang="pt-BR" dirty="0"/>
                  <a:t> </a:t>
                </a:r>
                <a:r>
                  <a:rPr lang="pt-BR" dirty="0" err="1"/>
                  <a:t>multiple</a:t>
                </a:r>
                <a:r>
                  <a:rPr lang="pt-BR" dirty="0"/>
                  <a:t> </a:t>
                </a:r>
                <a:r>
                  <a:rPr lang="pt-BR" dirty="0" err="1"/>
                  <a:t>access</a:t>
                </a:r>
                <a:r>
                  <a:rPr lang="pt-BR" dirty="0"/>
                  <a:t>. Isso significa que vários usuários podem se comunicar com a base </a:t>
                </a:r>
                <a:r>
                  <a:rPr lang="pt-BR" dirty="0" err="1"/>
                  <a:t>station</a:t>
                </a:r>
                <a:r>
                  <a:rPr lang="pt-BR" dirty="0"/>
                  <a:t> ao mesmo tempo, explorando separação espacial.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Além disso, existe um servidor no sistema, e esse servidor é quem executa a parte pesada da inferência do </a:t>
                </a:r>
                <a:r>
                  <a:rPr lang="pt-BR" dirty="0" err="1"/>
                  <a:t>large</a:t>
                </a:r>
                <a:r>
                  <a:rPr lang="pt-BR" dirty="0"/>
                  <a:t> model. A outra parte é executada no cliente.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pt-BR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Por fim, o </a:t>
                </a:r>
                <a:r>
                  <a:rPr lang="pt-BR" dirty="0" err="1"/>
                  <a:t>paper</a:t>
                </a:r>
                <a:r>
                  <a:rPr lang="pt-BR" dirty="0"/>
                  <a:t> assume que o tempo necessário para ajustar a posição das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antennas</a:t>
                </a:r>
                <a:r>
                  <a:rPr lang="pt-BR" dirty="0"/>
                  <a:t> é desprezível. Em outras palavras, eles ignoram esse custo mecânico ou físico e consideram apenas o ganho que o reposicionamento traz para o canal e para a taxa de transmissão.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pt-BR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Pense em um painel retangular na BS, e cada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</a:t>
                </a:r>
                <a:r>
                  <a:rPr lang="pt-BR" dirty="0"/>
                  <a:t> pode “andar” nesse painel em duas direções,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pt-BR" dirty="0"/>
                  <a:t>e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</a:t>
                </a:r>
                <a:r>
                  <a:rPr lang="pt-BR" dirty="0"/>
                  <a:t>.</a:t>
                </a:r>
                <a:br>
                  <a:rPr lang="pt-BR" dirty="0"/>
                </a:br>
                <a:r>
                  <a:rPr lang="pt-BR" dirty="0"/>
                  <a:t>a modelagem não está nesse nível discreto de “</a:t>
                </a:r>
                <a:r>
                  <a:rPr lang="pt-BR" dirty="0" err="1"/>
                  <a:t>port</a:t>
                </a:r>
                <a:r>
                  <a:rPr lang="pt-BR" dirty="0"/>
                  <a:t> 1, </a:t>
                </a:r>
                <a:r>
                  <a:rPr lang="pt-BR" dirty="0" err="1"/>
                  <a:t>port</a:t>
                </a:r>
                <a:r>
                  <a:rPr lang="pt-BR" dirty="0"/>
                  <a:t> 2, </a:t>
                </a:r>
                <a:r>
                  <a:rPr lang="pt-BR" dirty="0" err="1"/>
                  <a:t>port</a:t>
                </a:r>
                <a:r>
                  <a:rPr lang="pt-BR" dirty="0"/>
                  <a:t> 3...”, é como uma antena 2d, porém em termos de x e y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1AB733-C7B0-EA00-55AA-31CC1E37C4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41201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7E7B4-93F2-4CA0-1B4D-AFC0F89CA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3CD81C-37C6-A698-B789-55A91201BD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33DF26BF-BF5B-9AC7-F2DA-674BA3B565E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pt-BR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A posição das antenas é variável importante porque, neste </a:t>
                </a:r>
                <a:r>
                  <a:rPr lang="pt-BR" dirty="0" err="1"/>
                  <a:t>paper</a:t>
                </a:r>
                <a:r>
                  <a:rPr lang="pt-BR" dirty="0"/>
                  <a:t>, a BS não é um arranjo fixo tradicional. As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antennas</a:t>
                </a:r>
                <a:r>
                  <a:rPr lang="pt-BR" dirty="0"/>
                  <a:t> podem se mover dentro de um painel. Isso altera o canal sem fio. Então, diferente de um sistema MIMO convencional em que a geometria é fixa, aqui a geometria da BS é parte do problema de otimização.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Aqui no lado esquerdo do slide estão as definições matemáticas das posições dessas antenas. O vetor </a:t>
                </a:r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𝐭_(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𝑢,𝑎</a:t>
                </a:r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)</a:t>
                </a:r>
                <a:r>
                  <a:rPr lang="pt-BR" dirty="0"/>
                  <a:t>representa a posição da antena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𝑎</a:t>
                </a:r>
                <a:r>
                  <a:rPr lang="pt-BR" dirty="0"/>
                  <a:t>do usuário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𝑢</a:t>
                </a:r>
                <a:r>
                  <a:rPr lang="pt-BR" dirty="0"/>
                  <a:t>, com coordenadas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pt-BR" dirty="0"/>
                  <a:t>e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</a:t>
                </a:r>
                <a:r>
                  <a:rPr lang="pt-BR" dirty="0"/>
                  <a:t>. O </a:t>
                </a:r>
                <a:r>
                  <a:rPr lang="pt-BR" dirty="0" err="1"/>
                  <a:t>paper</a:t>
                </a:r>
                <a:r>
                  <a:rPr lang="pt-BR" dirty="0"/>
                  <a:t> agrupa todas essas posições na matriz </a:t>
                </a:r>
                <a:r>
                  <a:rPr lang="pt-BR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𝐓</a:t>
                </a:r>
                <a:r>
                  <a:rPr lang="pt-BR" dirty="0"/>
                  <a:t>. Já a posição da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</a:t>
                </a:r>
                <a:r>
                  <a:rPr lang="pt-BR" dirty="0"/>
                  <a:t>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𝑚</a:t>
                </a:r>
                <a:r>
                  <a:rPr lang="pt-BR" dirty="0"/>
                  <a:t>da BS é representada por </a:t>
                </a:r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𝐫_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𝑚</a:t>
                </a:r>
                <a:r>
                  <a:rPr lang="ar-AE" dirty="0"/>
                  <a:t>, </a:t>
                </a:r>
                <a:r>
                  <a:rPr lang="pt-BR" dirty="0"/>
                  <a:t>e todas as posições da BS são agrupadas na matriz </a:t>
                </a:r>
                <a:r>
                  <a:rPr lang="pt-BR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𝐑</a:t>
                </a:r>
                <a:r>
                  <a:rPr lang="pt-BR" dirty="0"/>
                  <a:t>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pt-BR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Outro ponto importante é que o sistema usa </a:t>
                </a:r>
                <a:r>
                  <a:rPr lang="pt-BR" dirty="0" err="1"/>
                  <a:t>space-division</a:t>
                </a:r>
                <a:r>
                  <a:rPr lang="pt-BR" dirty="0"/>
                  <a:t> </a:t>
                </a:r>
                <a:r>
                  <a:rPr lang="pt-BR" dirty="0" err="1"/>
                  <a:t>multiple</a:t>
                </a:r>
                <a:r>
                  <a:rPr lang="pt-BR" dirty="0"/>
                  <a:t> </a:t>
                </a:r>
                <a:r>
                  <a:rPr lang="pt-BR" dirty="0" err="1"/>
                  <a:t>access</a:t>
                </a:r>
                <a:r>
                  <a:rPr lang="pt-BR" dirty="0"/>
                  <a:t>. Isso significa que vários usuários podem se comunicar com a base </a:t>
                </a:r>
                <a:r>
                  <a:rPr lang="pt-BR" dirty="0" err="1"/>
                  <a:t>station</a:t>
                </a:r>
                <a:r>
                  <a:rPr lang="pt-BR" dirty="0"/>
                  <a:t> ao mesmo tempo, explorando separação espacial.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Além disso, existe um servidor no sistema, e esse servidor é quem executa a parte pesada da inferência do </a:t>
                </a:r>
                <a:r>
                  <a:rPr lang="pt-BR" dirty="0" err="1"/>
                  <a:t>large</a:t>
                </a:r>
                <a:r>
                  <a:rPr lang="pt-BR" dirty="0"/>
                  <a:t> model. A outra parte é executada no cliente.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pt-BR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Por fim, o </a:t>
                </a:r>
                <a:r>
                  <a:rPr lang="pt-BR" dirty="0" err="1"/>
                  <a:t>paper</a:t>
                </a:r>
                <a:r>
                  <a:rPr lang="pt-BR" dirty="0"/>
                  <a:t> assume que o tempo necessário para ajustar a posição das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antennas</a:t>
                </a:r>
                <a:r>
                  <a:rPr lang="pt-BR" dirty="0"/>
                  <a:t> é desprezível. Em outras palavras, eles ignoram esse custo mecânico ou físico e consideram apenas o ganho que o reposicionamento traz para o canal e para a taxa de transmissão.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pt-BR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Pense em um painel retangular na BS, e cada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</a:t>
                </a:r>
                <a:r>
                  <a:rPr lang="pt-BR" dirty="0"/>
                  <a:t> pode “andar” nesse painel em duas direções,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pt-BR" dirty="0"/>
                  <a:t>e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</a:t>
                </a:r>
                <a:r>
                  <a:rPr lang="pt-BR" dirty="0"/>
                  <a:t>.</a:t>
                </a:r>
                <a:br>
                  <a:rPr lang="pt-BR" dirty="0"/>
                </a:br>
                <a:r>
                  <a:rPr lang="pt-BR" dirty="0"/>
                  <a:t>a modelagem não está nesse nível discreto de “</a:t>
                </a:r>
                <a:r>
                  <a:rPr lang="pt-BR" dirty="0" err="1"/>
                  <a:t>port</a:t>
                </a:r>
                <a:r>
                  <a:rPr lang="pt-BR" dirty="0"/>
                  <a:t> 1, </a:t>
                </a:r>
                <a:r>
                  <a:rPr lang="pt-BR" dirty="0" err="1"/>
                  <a:t>port</a:t>
                </a:r>
                <a:r>
                  <a:rPr lang="pt-BR" dirty="0"/>
                  <a:t> 2, </a:t>
                </a:r>
                <a:r>
                  <a:rPr lang="pt-BR" dirty="0" err="1"/>
                  <a:t>port</a:t>
                </a:r>
                <a:r>
                  <a:rPr lang="pt-BR" dirty="0"/>
                  <a:t> 3...”, é como uma antena 2d, porém em termos de x e y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B677BF-1F8F-DF4A-AF95-C54408CE8C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03701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52364-D0D8-EE2A-E08B-F141F2803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268913-42EB-2D52-2DDE-69C8FABA69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33564E48-25B3-6B97-542C-4FA481F657D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pt-BR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A posição das antenas é variável importante porque, neste </a:t>
                </a:r>
                <a:r>
                  <a:rPr lang="pt-BR" dirty="0" err="1"/>
                  <a:t>paper</a:t>
                </a:r>
                <a:r>
                  <a:rPr lang="pt-BR" dirty="0"/>
                  <a:t>, a BS não é um arranjo fixo tradicional. As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antennas</a:t>
                </a:r>
                <a:r>
                  <a:rPr lang="pt-BR" dirty="0"/>
                  <a:t> podem se mover dentro de um painel. Isso altera o canal sem fio. Então, diferente de um sistema MIMO convencional em que a geometria é fixa, aqui a geometria da BS é parte do problema de otimização.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Aqui no lado esquerdo do slide estão as definições matemáticas das posições dessas antenas. O vetor </a:t>
                </a:r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𝐭_(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𝑢,𝑎</a:t>
                </a:r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)</a:t>
                </a:r>
                <a:r>
                  <a:rPr lang="pt-BR" dirty="0"/>
                  <a:t>representa a posição da antena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𝑎</a:t>
                </a:r>
                <a:r>
                  <a:rPr lang="pt-BR" dirty="0"/>
                  <a:t>do usuário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𝑢</a:t>
                </a:r>
                <a:r>
                  <a:rPr lang="pt-BR" dirty="0"/>
                  <a:t>, com coordenadas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pt-BR" dirty="0"/>
                  <a:t>e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</a:t>
                </a:r>
                <a:r>
                  <a:rPr lang="pt-BR" dirty="0"/>
                  <a:t>. O </a:t>
                </a:r>
                <a:r>
                  <a:rPr lang="pt-BR" dirty="0" err="1"/>
                  <a:t>paper</a:t>
                </a:r>
                <a:r>
                  <a:rPr lang="pt-BR" dirty="0"/>
                  <a:t> agrupa todas essas posições na matriz </a:t>
                </a:r>
                <a:r>
                  <a:rPr lang="pt-BR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𝐓</a:t>
                </a:r>
                <a:r>
                  <a:rPr lang="pt-BR" dirty="0"/>
                  <a:t>. Já a posição da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</a:t>
                </a:r>
                <a:r>
                  <a:rPr lang="pt-BR" dirty="0"/>
                  <a:t>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𝑚</a:t>
                </a:r>
                <a:r>
                  <a:rPr lang="pt-BR" dirty="0"/>
                  <a:t>da BS é representada por </a:t>
                </a:r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𝐫_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𝑚</a:t>
                </a:r>
                <a:r>
                  <a:rPr lang="ar-AE" dirty="0"/>
                  <a:t>, </a:t>
                </a:r>
                <a:r>
                  <a:rPr lang="pt-BR" dirty="0"/>
                  <a:t>e todas as posições da BS são agrupadas na matriz </a:t>
                </a:r>
                <a:r>
                  <a:rPr lang="pt-BR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𝐑</a:t>
                </a:r>
                <a:r>
                  <a:rPr lang="pt-BR" dirty="0"/>
                  <a:t>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pt-BR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Outro ponto importante é que o sistema usa </a:t>
                </a:r>
                <a:r>
                  <a:rPr lang="pt-BR" dirty="0" err="1"/>
                  <a:t>space-division</a:t>
                </a:r>
                <a:r>
                  <a:rPr lang="pt-BR" dirty="0"/>
                  <a:t> </a:t>
                </a:r>
                <a:r>
                  <a:rPr lang="pt-BR" dirty="0" err="1"/>
                  <a:t>multiple</a:t>
                </a:r>
                <a:r>
                  <a:rPr lang="pt-BR" dirty="0"/>
                  <a:t> </a:t>
                </a:r>
                <a:r>
                  <a:rPr lang="pt-BR" dirty="0" err="1"/>
                  <a:t>access</a:t>
                </a:r>
                <a:r>
                  <a:rPr lang="pt-BR" dirty="0"/>
                  <a:t>. Isso significa que vários usuários podem se comunicar com a base </a:t>
                </a:r>
                <a:r>
                  <a:rPr lang="pt-BR" dirty="0" err="1"/>
                  <a:t>station</a:t>
                </a:r>
                <a:r>
                  <a:rPr lang="pt-BR" dirty="0"/>
                  <a:t> ao mesmo tempo, explorando separação espacial.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Além disso, existe um servidor no sistema, e esse servidor é quem executa a parte pesada da inferência do </a:t>
                </a:r>
                <a:r>
                  <a:rPr lang="pt-BR" dirty="0" err="1"/>
                  <a:t>large</a:t>
                </a:r>
                <a:r>
                  <a:rPr lang="pt-BR" dirty="0"/>
                  <a:t> model. A outra parte é executada no cliente.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pt-BR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Por fim, o </a:t>
                </a:r>
                <a:r>
                  <a:rPr lang="pt-BR" dirty="0" err="1"/>
                  <a:t>paper</a:t>
                </a:r>
                <a:r>
                  <a:rPr lang="pt-BR" dirty="0"/>
                  <a:t> assume que o tempo necessário para ajustar a posição das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antennas</a:t>
                </a:r>
                <a:r>
                  <a:rPr lang="pt-BR" dirty="0"/>
                  <a:t> é desprezível. Em outras palavras, eles ignoram esse custo mecânico ou físico e consideram apenas o ganho que o reposicionamento traz para o canal e para a taxa de transmissão.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pt-BR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Pense em um painel retangular na BS, e cada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</a:t>
                </a:r>
                <a:r>
                  <a:rPr lang="pt-BR" dirty="0"/>
                  <a:t> pode “andar” nesse painel em duas direções,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pt-BR" dirty="0"/>
                  <a:t>e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</a:t>
                </a:r>
                <a:r>
                  <a:rPr lang="pt-BR" dirty="0"/>
                  <a:t>.</a:t>
                </a:r>
                <a:br>
                  <a:rPr lang="pt-BR" dirty="0"/>
                </a:br>
                <a:r>
                  <a:rPr lang="pt-BR" dirty="0"/>
                  <a:t>a modelagem não está nesse nível discreto de “</a:t>
                </a:r>
                <a:r>
                  <a:rPr lang="pt-BR" dirty="0" err="1"/>
                  <a:t>port</a:t>
                </a:r>
                <a:r>
                  <a:rPr lang="pt-BR" dirty="0"/>
                  <a:t> 1, </a:t>
                </a:r>
                <a:r>
                  <a:rPr lang="pt-BR" dirty="0" err="1"/>
                  <a:t>port</a:t>
                </a:r>
                <a:r>
                  <a:rPr lang="pt-BR" dirty="0"/>
                  <a:t> 2, </a:t>
                </a:r>
                <a:r>
                  <a:rPr lang="pt-BR" dirty="0" err="1"/>
                  <a:t>port</a:t>
                </a:r>
                <a:r>
                  <a:rPr lang="pt-BR" dirty="0"/>
                  <a:t> 3...”, é como uma antena 2d, porém em termos de x e y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B9007E-6ECF-06B5-90D3-48C8B3C9D4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15292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44B46-931F-ED3F-84A4-D3FB7EB62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6FC008-0D3D-C89C-87D4-E9ED3C7688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08D1B5B1-BCBC-AA5D-C8C0-05E063A958F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pt-BR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A posição das antenas é variável importante porque, neste </a:t>
                </a:r>
                <a:r>
                  <a:rPr lang="pt-BR" dirty="0" err="1"/>
                  <a:t>paper</a:t>
                </a:r>
                <a:r>
                  <a:rPr lang="pt-BR" dirty="0"/>
                  <a:t>, a BS não é um arranjo fixo tradicional. As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antennas</a:t>
                </a:r>
                <a:r>
                  <a:rPr lang="pt-BR" dirty="0"/>
                  <a:t> podem se mover dentro de um painel. Isso altera o canal sem fio. Então, diferente de um sistema MIMO convencional em que a geometria é fixa, aqui a geometria da BS é parte do problema de otimização.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Aqui no lado esquerdo do slide estão as definições matemáticas das posições dessas antenas. O vetor </a:t>
                </a:r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𝐭_(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𝑢,𝑎</a:t>
                </a:r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)</a:t>
                </a:r>
                <a:r>
                  <a:rPr lang="pt-BR" dirty="0"/>
                  <a:t>representa a posição da antena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𝑎</a:t>
                </a:r>
                <a:r>
                  <a:rPr lang="pt-BR" dirty="0"/>
                  <a:t>do usuário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𝑢</a:t>
                </a:r>
                <a:r>
                  <a:rPr lang="pt-BR" dirty="0"/>
                  <a:t>, com coordenadas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pt-BR" dirty="0"/>
                  <a:t>e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</a:t>
                </a:r>
                <a:r>
                  <a:rPr lang="pt-BR" dirty="0"/>
                  <a:t>. O </a:t>
                </a:r>
                <a:r>
                  <a:rPr lang="pt-BR" dirty="0" err="1"/>
                  <a:t>paper</a:t>
                </a:r>
                <a:r>
                  <a:rPr lang="pt-BR" dirty="0"/>
                  <a:t> agrupa todas essas posições na matriz </a:t>
                </a:r>
                <a:r>
                  <a:rPr lang="pt-BR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𝐓</a:t>
                </a:r>
                <a:r>
                  <a:rPr lang="pt-BR" dirty="0"/>
                  <a:t>. Já a posição da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</a:t>
                </a:r>
                <a:r>
                  <a:rPr lang="pt-BR" dirty="0"/>
                  <a:t>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𝑚</a:t>
                </a:r>
                <a:r>
                  <a:rPr lang="pt-BR" dirty="0"/>
                  <a:t>da BS é representada por </a:t>
                </a:r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𝐫_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𝑚</a:t>
                </a:r>
                <a:r>
                  <a:rPr lang="ar-AE" dirty="0"/>
                  <a:t>, </a:t>
                </a:r>
                <a:r>
                  <a:rPr lang="pt-BR" dirty="0"/>
                  <a:t>e todas as posições da BS são agrupadas na matriz </a:t>
                </a:r>
                <a:r>
                  <a:rPr lang="pt-BR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𝐑</a:t>
                </a:r>
                <a:r>
                  <a:rPr lang="pt-BR" dirty="0"/>
                  <a:t>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pt-BR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Outro ponto importante é que o sistema usa </a:t>
                </a:r>
                <a:r>
                  <a:rPr lang="pt-BR" dirty="0" err="1"/>
                  <a:t>space-division</a:t>
                </a:r>
                <a:r>
                  <a:rPr lang="pt-BR" dirty="0"/>
                  <a:t> </a:t>
                </a:r>
                <a:r>
                  <a:rPr lang="pt-BR" dirty="0" err="1"/>
                  <a:t>multiple</a:t>
                </a:r>
                <a:r>
                  <a:rPr lang="pt-BR" dirty="0"/>
                  <a:t> </a:t>
                </a:r>
                <a:r>
                  <a:rPr lang="pt-BR" dirty="0" err="1"/>
                  <a:t>access</a:t>
                </a:r>
                <a:r>
                  <a:rPr lang="pt-BR" dirty="0"/>
                  <a:t>. Isso significa que vários usuários podem se comunicar com a base </a:t>
                </a:r>
                <a:r>
                  <a:rPr lang="pt-BR" dirty="0" err="1"/>
                  <a:t>station</a:t>
                </a:r>
                <a:r>
                  <a:rPr lang="pt-BR" dirty="0"/>
                  <a:t> ao mesmo tempo, explorando separação espacial.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Além disso, existe um servidor no sistema, e esse servidor é quem executa a parte pesada da inferência do </a:t>
                </a:r>
                <a:r>
                  <a:rPr lang="pt-BR" dirty="0" err="1"/>
                  <a:t>large</a:t>
                </a:r>
                <a:r>
                  <a:rPr lang="pt-BR" dirty="0"/>
                  <a:t> model. A outra parte é executada no cliente.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pt-BR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Por fim, o </a:t>
                </a:r>
                <a:r>
                  <a:rPr lang="pt-BR" dirty="0" err="1"/>
                  <a:t>paper</a:t>
                </a:r>
                <a:r>
                  <a:rPr lang="pt-BR" dirty="0"/>
                  <a:t> assume que o tempo necessário para ajustar a posição das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antennas</a:t>
                </a:r>
                <a:r>
                  <a:rPr lang="pt-BR" dirty="0"/>
                  <a:t> é desprezível. Em outras palavras, eles ignoram esse custo mecânico ou físico e consideram apenas o ganho que o reposicionamento traz para o canal e para a taxa de transmissão.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pt-BR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Pense em um painel retangular na BS, e cada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</a:t>
                </a:r>
                <a:r>
                  <a:rPr lang="pt-BR" dirty="0"/>
                  <a:t> pode “andar” nesse painel em duas direções,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pt-BR" dirty="0"/>
                  <a:t>e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</a:t>
                </a:r>
                <a:r>
                  <a:rPr lang="pt-BR" dirty="0"/>
                  <a:t>.</a:t>
                </a:r>
                <a:br>
                  <a:rPr lang="pt-BR" dirty="0"/>
                </a:br>
                <a:r>
                  <a:rPr lang="pt-BR" dirty="0"/>
                  <a:t>a modelagem não está nesse nível discreto de “</a:t>
                </a:r>
                <a:r>
                  <a:rPr lang="pt-BR" dirty="0" err="1"/>
                  <a:t>port</a:t>
                </a:r>
                <a:r>
                  <a:rPr lang="pt-BR" dirty="0"/>
                  <a:t> 1, </a:t>
                </a:r>
                <a:r>
                  <a:rPr lang="pt-BR" dirty="0" err="1"/>
                  <a:t>port</a:t>
                </a:r>
                <a:r>
                  <a:rPr lang="pt-BR" dirty="0"/>
                  <a:t> 2, </a:t>
                </a:r>
                <a:r>
                  <a:rPr lang="pt-BR" dirty="0" err="1"/>
                  <a:t>port</a:t>
                </a:r>
                <a:r>
                  <a:rPr lang="pt-BR" dirty="0"/>
                  <a:t> 3...”, é como uma antena 2d, porém em termos de x e y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F569A-C75D-FE36-3446-4F0B24C4C8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224632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A5684-20A9-216C-05A1-24B9F1227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772441-D9E4-066B-C304-5BACD16CED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0E049E82-222D-1789-634A-6450A9AF1C7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pt-BR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A posição das antenas é variável importante porque, neste </a:t>
                </a:r>
                <a:r>
                  <a:rPr lang="pt-BR" dirty="0" err="1"/>
                  <a:t>paper</a:t>
                </a:r>
                <a:r>
                  <a:rPr lang="pt-BR" dirty="0"/>
                  <a:t>, a BS não é um arranjo fixo tradicional. As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antennas</a:t>
                </a:r>
                <a:r>
                  <a:rPr lang="pt-BR" dirty="0"/>
                  <a:t> podem se mover dentro de um painel. Isso altera o canal sem fio. Então, diferente de um sistema MIMO convencional em que a geometria é fixa, aqui a geometria da BS é parte do problema de otimização.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Aqui no lado esquerdo do slide estão as definições matemáticas das posições dessas antenas. O vetor </a:t>
                </a:r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𝐭_(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𝑢,𝑎</a:t>
                </a:r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)</a:t>
                </a:r>
                <a:r>
                  <a:rPr lang="pt-BR" dirty="0"/>
                  <a:t>representa a posição da antena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𝑎</a:t>
                </a:r>
                <a:r>
                  <a:rPr lang="pt-BR" dirty="0"/>
                  <a:t>do usuário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𝑢</a:t>
                </a:r>
                <a:r>
                  <a:rPr lang="pt-BR" dirty="0"/>
                  <a:t>, com coordenadas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pt-BR" dirty="0"/>
                  <a:t>e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</a:t>
                </a:r>
                <a:r>
                  <a:rPr lang="pt-BR" dirty="0"/>
                  <a:t>. O </a:t>
                </a:r>
                <a:r>
                  <a:rPr lang="pt-BR" dirty="0" err="1"/>
                  <a:t>paper</a:t>
                </a:r>
                <a:r>
                  <a:rPr lang="pt-BR" dirty="0"/>
                  <a:t> agrupa todas essas posições na matriz </a:t>
                </a:r>
                <a:r>
                  <a:rPr lang="pt-BR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𝐓</a:t>
                </a:r>
                <a:r>
                  <a:rPr lang="pt-BR" dirty="0"/>
                  <a:t>. Já a posição da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</a:t>
                </a:r>
                <a:r>
                  <a:rPr lang="pt-BR" dirty="0"/>
                  <a:t>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𝑚</a:t>
                </a:r>
                <a:r>
                  <a:rPr lang="pt-BR" dirty="0"/>
                  <a:t>da BS é representada por </a:t>
                </a:r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𝐫_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𝑚</a:t>
                </a:r>
                <a:r>
                  <a:rPr lang="ar-AE" dirty="0"/>
                  <a:t>, </a:t>
                </a:r>
                <a:r>
                  <a:rPr lang="pt-BR" dirty="0"/>
                  <a:t>e todas as posições da BS são agrupadas na matriz </a:t>
                </a:r>
                <a:r>
                  <a:rPr lang="pt-BR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𝐑</a:t>
                </a:r>
                <a:r>
                  <a:rPr lang="pt-BR" dirty="0"/>
                  <a:t>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pt-BR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Outro ponto importante é que o sistema usa </a:t>
                </a:r>
                <a:r>
                  <a:rPr lang="pt-BR" dirty="0" err="1"/>
                  <a:t>space-division</a:t>
                </a:r>
                <a:r>
                  <a:rPr lang="pt-BR" dirty="0"/>
                  <a:t> </a:t>
                </a:r>
                <a:r>
                  <a:rPr lang="pt-BR" dirty="0" err="1"/>
                  <a:t>multiple</a:t>
                </a:r>
                <a:r>
                  <a:rPr lang="pt-BR" dirty="0"/>
                  <a:t> </a:t>
                </a:r>
                <a:r>
                  <a:rPr lang="pt-BR" dirty="0" err="1"/>
                  <a:t>access</a:t>
                </a:r>
                <a:r>
                  <a:rPr lang="pt-BR" dirty="0"/>
                  <a:t>. Isso significa que vários usuários podem se comunicar com a base </a:t>
                </a:r>
                <a:r>
                  <a:rPr lang="pt-BR" dirty="0" err="1"/>
                  <a:t>station</a:t>
                </a:r>
                <a:r>
                  <a:rPr lang="pt-BR" dirty="0"/>
                  <a:t> ao mesmo tempo, explorando separação espacial.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Além disso, existe um servidor no sistema, e esse servidor é quem executa a parte pesada da inferência do </a:t>
                </a:r>
                <a:r>
                  <a:rPr lang="pt-BR" dirty="0" err="1"/>
                  <a:t>large</a:t>
                </a:r>
                <a:r>
                  <a:rPr lang="pt-BR" dirty="0"/>
                  <a:t> model. A outra parte é executada no cliente.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pt-BR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Por fim, o </a:t>
                </a:r>
                <a:r>
                  <a:rPr lang="pt-BR" dirty="0" err="1"/>
                  <a:t>paper</a:t>
                </a:r>
                <a:r>
                  <a:rPr lang="pt-BR" dirty="0"/>
                  <a:t> assume que o tempo necessário para ajustar a posição das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antennas</a:t>
                </a:r>
                <a:r>
                  <a:rPr lang="pt-BR" dirty="0"/>
                  <a:t> é desprezível. Em outras palavras, eles ignoram esse custo mecânico ou físico e consideram apenas o ganho que o reposicionamento traz para o canal e para a taxa de transmissão.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pt-BR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Pense em um painel retangular na BS, e cada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</a:t>
                </a:r>
                <a:r>
                  <a:rPr lang="pt-BR" dirty="0"/>
                  <a:t> pode “andar” nesse painel em duas direções,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pt-BR" dirty="0"/>
                  <a:t>e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</a:t>
                </a:r>
                <a:r>
                  <a:rPr lang="pt-BR" dirty="0"/>
                  <a:t>.</a:t>
                </a:r>
                <a:br>
                  <a:rPr lang="pt-BR" dirty="0"/>
                </a:br>
                <a:r>
                  <a:rPr lang="pt-BR" dirty="0"/>
                  <a:t>a modelagem não está nesse nível discreto de “</a:t>
                </a:r>
                <a:r>
                  <a:rPr lang="pt-BR" dirty="0" err="1"/>
                  <a:t>port</a:t>
                </a:r>
                <a:r>
                  <a:rPr lang="pt-BR" dirty="0"/>
                  <a:t> 1, </a:t>
                </a:r>
                <a:r>
                  <a:rPr lang="pt-BR" dirty="0" err="1"/>
                  <a:t>port</a:t>
                </a:r>
                <a:r>
                  <a:rPr lang="pt-BR" dirty="0"/>
                  <a:t> 2, </a:t>
                </a:r>
                <a:r>
                  <a:rPr lang="pt-BR" dirty="0" err="1"/>
                  <a:t>port</a:t>
                </a:r>
                <a:r>
                  <a:rPr lang="pt-BR" dirty="0"/>
                  <a:t> 3...”, é como uma antena 2d, porém em termos de x e y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DF830A-AD21-17CB-E159-8F1C3D7C7D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6289753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70459-81C6-05E2-3ACE-704BC5D38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FDFA7A-758C-E0A7-BBE0-8C81EE14AF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D0AE09DA-F698-662F-FFBF-9DB1BACB8AD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pt-BR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A posição das antenas é variável importante porque, neste </a:t>
                </a:r>
                <a:r>
                  <a:rPr lang="pt-BR" dirty="0" err="1"/>
                  <a:t>paper</a:t>
                </a:r>
                <a:r>
                  <a:rPr lang="pt-BR" dirty="0"/>
                  <a:t>, a BS não é um arranjo fixo tradicional. As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antennas</a:t>
                </a:r>
                <a:r>
                  <a:rPr lang="pt-BR" dirty="0"/>
                  <a:t> podem se mover dentro de um painel. Isso altera o canal sem fio. Então, diferente de um sistema MIMO convencional em que a geometria é fixa, aqui a geometria da BS é parte do problema de otimização.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Aqui no lado esquerdo do slide estão as definições matemáticas das posições dessas antenas. O vetor </a:t>
                </a:r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𝐭_(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𝑢,𝑎</a:t>
                </a:r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)</a:t>
                </a:r>
                <a:r>
                  <a:rPr lang="pt-BR" dirty="0"/>
                  <a:t>representa a posição da antena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𝑎</a:t>
                </a:r>
                <a:r>
                  <a:rPr lang="pt-BR" dirty="0"/>
                  <a:t>do usuário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𝑢</a:t>
                </a:r>
                <a:r>
                  <a:rPr lang="pt-BR" dirty="0"/>
                  <a:t>, com coordenadas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pt-BR" dirty="0"/>
                  <a:t>e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</a:t>
                </a:r>
                <a:r>
                  <a:rPr lang="pt-BR" dirty="0"/>
                  <a:t>. O </a:t>
                </a:r>
                <a:r>
                  <a:rPr lang="pt-BR" dirty="0" err="1"/>
                  <a:t>paper</a:t>
                </a:r>
                <a:r>
                  <a:rPr lang="pt-BR" dirty="0"/>
                  <a:t> agrupa todas essas posições na matriz </a:t>
                </a:r>
                <a:r>
                  <a:rPr lang="pt-BR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𝐓</a:t>
                </a:r>
                <a:r>
                  <a:rPr lang="pt-BR" dirty="0"/>
                  <a:t>. Já a posição da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</a:t>
                </a:r>
                <a:r>
                  <a:rPr lang="pt-BR" dirty="0"/>
                  <a:t>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𝑚</a:t>
                </a:r>
                <a:r>
                  <a:rPr lang="pt-BR" dirty="0"/>
                  <a:t>da BS é representada por </a:t>
                </a:r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𝐫_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𝑚</a:t>
                </a:r>
                <a:r>
                  <a:rPr lang="ar-AE" dirty="0"/>
                  <a:t>, </a:t>
                </a:r>
                <a:r>
                  <a:rPr lang="pt-BR" dirty="0"/>
                  <a:t>e todas as posições da BS são agrupadas na matriz </a:t>
                </a:r>
                <a:r>
                  <a:rPr lang="pt-BR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𝐑</a:t>
                </a:r>
                <a:r>
                  <a:rPr lang="pt-BR" dirty="0"/>
                  <a:t>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pt-BR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Outro ponto importante é que o sistema usa </a:t>
                </a:r>
                <a:r>
                  <a:rPr lang="pt-BR" dirty="0" err="1"/>
                  <a:t>space-division</a:t>
                </a:r>
                <a:r>
                  <a:rPr lang="pt-BR" dirty="0"/>
                  <a:t> </a:t>
                </a:r>
                <a:r>
                  <a:rPr lang="pt-BR" dirty="0" err="1"/>
                  <a:t>multiple</a:t>
                </a:r>
                <a:r>
                  <a:rPr lang="pt-BR" dirty="0"/>
                  <a:t> </a:t>
                </a:r>
                <a:r>
                  <a:rPr lang="pt-BR" dirty="0" err="1"/>
                  <a:t>access</a:t>
                </a:r>
                <a:r>
                  <a:rPr lang="pt-BR" dirty="0"/>
                  <a:t>. Isso significa que vários usuários podem se comunicar com a base </a:t>
                </a:r>
                <a:r>
                  <a:rPr lang="pt-BR" dirty="0" err="1"/>
                  <a:t>station</a:t>
                </a:r>
                <a:r>
                  <a:rPr lang="pt-BR" dirty="0"/>
                  <a:t> ao mesmo tempo, explorando separação espacial.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Além disso, existe um servidor no sistema, e esse servidor é quem executa a parte pesada da inferência do </a:t>
                </a:r>
                <a:r>
                  <a:rPr lang="pt-BR" dirty="0" err="1"/>
                  <a:t>large</a:t>
                </a:r>
                <a:r>
                  <a:rPr lang="pt-BR" dirty="0"/>
                  <a:t> model. A outra parte é executada no cliente.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pt-BR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Por fim, o </a:t>
                </a:r>
                <a:r>
                  <a:rPr lang="pt-BR" dirty="0" err="1"/>
                  <a:t>paper</a:t>
                </a:r>
                <a:r>
                  <a:rPr lang="pt-BR" dirty="0"/>
                  <a:t> assume que o tempo necessário para ajustar a posição das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antennas</a:t>
                </a:r>
                <a:r>
                  <a:rPr lang="pt-BR" dirty="0"/>
                  <a:t> é desprezível. Em outras palavras, eles ignoram esse custo mecânico ou físico e consideram apenas o ganho que o reposicionamento traz para o canal e para a taxa de transmissão.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pt-BR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Pense em um painel retangular na BS, e cada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</a:t>
                </a:r>
                <a:r>
                  <a:rPr lang="pt-BR" dirty="0"/>
                  <a:t> pode “andar” nesse painel em duas direções,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pt-BR" dirty="0"/>
                  <a:t>e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</a:t>
                </a:r>
                <a:r>
                  <a:rPr lang="pt-BR" dirty="0"/>
                  <a:t>.</a:t>
                </a:r>
                <a:br>
                  <a:rPr lang="pt-BR" dirty="0"/>
                </a:br>
                <a:r>
                  <a:rPr lang="pt-BR" dirty="0"/>
                  <a:t>a modelagem não está nesse nível discreto de “</a:t>
                </a:r>
                <a:r>
                  <a:rPr lang="pt-BR" dirty="0" err="1"/>
                  <a:t>port</a:t>
                </a:r>
                <a:r>
                  <a:rPr lang="pt-BR" dirty="0"/>
                  <a:t> 1, </a:t>
                </a:r>
                <a:r>
                  <a:rPr lang="pt-BR" dirty="0" err="1"/>
                  <a:t>port</a:t>
                </a:r>
                <a:r>
                  <a:rPr lang="pt-BR" dirty="0"/>
                  <a:t> 2, </a:t>
                </a:r>
                <a:r>
                  <a:rPr lang="pt-BR" dirty="0" err="1"/>
                  <a:t>port</a:t>
                </a:r>
                <a:r>
                  <a:rPr lang="pt-BR" dirty="0"/>
                  <a:t> 3...”, é como uma antena 2d, porém em termos de x e y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A379D7-706C-D560-DF9A-888AFF58F4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478953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A8065-4671-2FE4-48FB-3A37257A5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37C6DC-0504-75D9-8C35-681174A2E2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4ACAAA63-400F-9163-C0E9-22B873F9707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pt-BR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A posição das antenas é variável importante porque, neste </a:t>
                </a:r>
                <a:r>
                  <a:rPr lang="pt-BR" dirty="0" err="1"/>
                  <a:t>paper</a:t>
                </a:r>
                <a:r>
                  <a:rPr lang="pt-BR" dirty="0"/>
                  <a:t>, a BS não é um arranjo fixo tradicional. As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antennas</a:t>
                </a:r>
                <a:r>
                  <a:rPr lang="pt-BR" dirty="0"/>
                  <a:t> podem se mover dentro de um painel. Isso altera o canal sem fio. Então, diferente de um sistema MIMO convencional em que a geometria é fixa, aqui a geometria da BS é parte do problema de otimização.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Aqui no lado esquerdo do slide estão as definições matemáticas das posições dessas antenas. O vetor </a:t>
                </a:r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𝐭_(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𝑢,𝑎</a:t>
                </a:r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)</a:t>
                </a:r>
                <a:r>
                  <a:rPr lang="pt-BR" dirty="0"/>
                  <a:t>representa a posição da antena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𝑎</a:t>
                </a:r>
                <a:r>
                  <a:rPr lang="pt-BR" dirty="0"/>
                  <a:t>do usuário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𝑢</a:t>
                </a:r>
                <a:r>
                  <a:rPr lang="pt-BR" dirty="0"/>
                  <a:t>, com coordenadas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pt-BR" dirty="0"/>
                  <a:t>e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</a:t>
                </a:r>
                <a:r>
                  <a:rPr lang="pt-BR" dirty="0"/>
                  <a:t>. O </a:t>
                </a:r>
                <a:r>
                  <a:rPr lang="pt-BR" dirty="0" err="1"/>
                  <a:t>paper</a:t>
                </a:r>
                <a:r>
                  <a:rPr lang="pt-BR" dirty="0"/>
                  <a:t> agrupa todas essas posições na matriz </a:t>
                </a:r>
                <a:r>
                  <a:rPr lang="pt-BR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𝐓</a:t>
                </a:r>
                <a:r>
                  <a:rPr lang="pt-BR" dirty="0"/>
                  <a:t>. Já a posição da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</a:t>
                </a:r>
                <a:r>
                  <a:rPr lang="pt-BR" dirty="0"/>
                  <a:t>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𝑚</a:t>
                </a:r>
                <a:r>
                  <a:rPr lang="pt-BR" dirty="0"/>
                  <a:t>da BS é representada por </a:t>
                </a:r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𝐫_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𝑚</a:t>
                </a:r>
                <a:r>
                  <a:rPr lang="ar-AE" dirty="0"/>
                  <a:t>, </a:t>
                </a:r>
                <a:r>
                  <a:rPr lang="pt-BR" dirty="0"/>
                  <a:t>e todas as posições da BS são agrupadas na matriz </a:t>
                </a:r>
                <a:r>
                  <a:rPr lang="pt-BR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𝐑</a:t>
                </a:r>
                <a:r>
                  <a:rPr lang="pt-BR" dirty="0"/>
                  <a:t>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pt-BR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Outro ponto importante é que o sistema usa </a:t>
                </a:r>
                <a:r>
                  <a:rPr lang="pt-BR" dirty="0" err="1"/>
                  <a:t>space-division</a:t>
                </a:r>
                <a:r>
                  <a:rPr lang="pt-BR" dirty="0"/>
                  <a:t> </a:t>
                </a:r>
                <a:r>
                  <a:rPr lang="pt-BR" dirty="0" err="1"/>
                  <a:t>multiple</a:t>
                </a:r>
                <a:r>
                  <a:rPr lang="pt-BR" dirty="0"/>
                  <a:t> </a:t>
                </a:r>
                <a:r>
                  <a:rPr lang="pt-BR" dirty="0" err="1"/>
                  <a:t>access</a:t>
                </a:r>
                <a:r>
                  <a:rPr lang="pt-BR" dirty="0"/>
                  <a:t>. Isso significa que vários usuários podem se comunicar com a base </a:t>
                </a:r>
                <a:r>
                  <a:rPr lang="pt-BR" dirty="0" err="1"/>
                  <a:t>station</a:t>
                </a:r>
                <a:r>
                  <a:rPr lang="pt-BR" dirty="0"/>
                  <a:t> ao mesmo tempo, explorando separação espacial.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Além disso, existe um servidor no sistema, e esse servidor é quem executa a parte pesada da inferência do </a:t>
                </a:r>
                <a:r>
                  <a:rPr lang="pt-BR" dirty="0" err="1"/>
                  <a:t>large</a:t>
                </a:r>
                <a:r>
                  <a:rPr lang="pt-BR" dirty="0"/>
                  <a:t> model. A outra parte é executada no cliente.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pt-BR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Por fim, o </a:t>
                </a:r>
                <a:r>
                  <a:rPr lang="pt-BR" dirty="0" err="1"/>
                  <a:t>paper</a:t>
                </a:r>
                <a:r>
                  <a:rPr lang="pt-BR" dirty="0"/>
                  <a:t> assume que o tempo necessário para ajustar a posição das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antennas</a:t>
                </a:r>
                <a:r>
                  <a:rPr lang="pt-BR" dirty="0"/>
                  <a:t> é desprezível. Em outras palavras, eles ignoram esse custo mecânico ou físico e consideram apenas o ganho que o reposicionamento traz para o canal e para a taxa de transmissão.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pt-BR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Pense em um painel retangular na BS, e cada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</a:t>
                </a:r>
                <a:r>
                  <a:rPr lang="pt-BR" dirty="0"/>
                  <a:t> pode “andar” nesse painel em duas direções,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pt-BR" dirty="0"/>
                  <a:t>e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</a:t>
                </a:r>
                <a:r>
                  <a:rPr lang="pt-BR" dirty="0"/>
                  <a:t>.</a:t>
                </a:r>
                <a:br>
                  <a:rPr lang="pt-BR" dirty="0"/>
                </a:br>
                <a:r>
                  <a:rPr lang="pt-BR" dirty="0"/>
                  <a:t>a modelagem não está nesse nível discreto de “</a:t>
                </a:r>
                <a:r>
                  <a:rPr lang="pt-BR" dirty="0" err="1"/>
                  <a:t>port</a:t>
                </a:r>
                <a:r>
                  <a:rPr lang="pt-BR" dirty="0"/>
                  <a:t> 1, </a:t>
                </a:r>
                <a:r>
                  <a:rPr lang="pt-BR" dirty="0" err="1"/>
                  <a:t>port</a:t>
                </a:r>
                <a:r>
                  <a:rPr lang="pt-BR" dirty="0"/>
                  <a:t> 2, </a:t>
                </a:r>
                <a:r>
                  <a:rPr lang="pt-BR" dirty="0" err="1"/>
                  <a:t>port</a:t>
                </a:r>
                <a:r>
                  <a:rPr lang="pt-BR" dirty="0"/>
                  <a:t> 3...”, é como uma antena 2d, porém em termos de x e y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1E84E1-0A69-2171-9651-F4CD50BEAA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896174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BFE9A-BFFD-1D43-DA0C-BD79D5172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1E0154-13EC-7970-5DB4-03643AF232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7BEF478B-2CE3-9E86-FAE9-8EEAD73AEA2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pt-BR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A posição das antenas é variável importante porque, neste </a:t>
                </a:r>
                <a:r>
                  <a:rPr lang="pt-BR" dirty="0" err="1"/>
                  <a:t>paper</a:t>
                </a:r>
                <a:r>
                  <a:rPr lang="pt-BR" dirty="0"/>
                  <a:t>, a BS não é um arranjo fixo tradicional. As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antennas</a:t>
                </a:r>
                <a:r>
                  <a:rPr lang="pt-BR" dirty="0"/>
                  <a:t> podem se mover dentro de um painel. Isso altera o canal sem fio. Então, diferente de um sistema MIMO convencional em que a geometria é fixa, aqui a geometria da BS é parte do problema de otimização.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Aqui no lado esquerdo do slide estão as definições matemáticas das posições dessas antenas. O vetor </a:t>
                </a:r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𝐭_(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𝑢,𝑎</a:t>
                </a:r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)</a:t>
                </a:r>
                <a:r>
                  <a:rPr lang="pt-BR" dirty="0"/>
                  <a:t>representa a posição da antena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𝑎</a:t>
                </a:r>
                <a:r>
                  <a:rPr lang="pt-BR" dirty="0"/>
                  <a:t>do usuário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𝑢</a:t>
                </a:r>
                <a:r>
                  <a:rPr lang="pt-BR" dirty="0"/>
                  <a:t>, com coordenadas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pt-BR" dirty="0"/>
                  <a:t>e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</a:t>
                </a:r>
                <a:r>
                  <a:rPr lang="pt-BR" dirty="0"/>
                  <a:t>. O </a:t>
                </a:r>
                <a:r>
                  <a:rPr lang="pt-BR" dirty="0" err="1"/>
                  <a:t>paper</a:t>
                </a:r>
                <a:r>
                  <a:rPr lang="pt-BR" dirty="0"/>
                  <a:t> agrupa todas essas posições na matriz </a:t>
                </a:r>
                <a:r>
                  <a:rPr lang="pt-BR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𝐓</a:t>
                </a:r>
                <a:r>
                  <a:rPr lang="pt-BR" dirty="0"/>
                  <a:t>. Já a posição da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</a:t>
                </a:r>
                <a:r>
                  <a:rPr lang="pt-BR" dirty="0"/>
                  <a:t>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𝑚</a:t>
                </a:r>
                <a:r>
                  <a:rPr lang="pt-BR" dirty="0"/>
                  <a:t>da BS é representada por </a:t>
                </a:r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𝐫_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𝑚</a:t>
                </a:r>
                <a:r>
                  <a:rPr lang="ar-AE" dirty="0"/>
                  <a:t>, </a:t>
                </a:r>
                <a:r>
                  <a:rPr lang="pt-BR" dirty="0"/>
                  <a:t>e todas as posições da BS são agrupadas na matriz </a:t>
                </a:r>
                <a:r>
                  <a:rPr lang="pt-BR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𝐑</a:t>
                </a:r>
                <a:r>
                  <a:rPr lang="pt-BR" dirty="0"/>
                  <a:t>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pt-BR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Outro ponto importante é que o sistema usa </a:t>
                </a:r>
                <a:r>
                  <a:rPr lang="pt-BR" dirty="0" err="1"/>
                  <a:t>space-division</a:t>
                </a:r>
                <a:r>
                  <a:rPr lang="pt-BR" dirty="0"/>
                  <a:t> </a:t>
                </a:r>
                <a:r>
                  <a:rPr lang="pt-BR" dirty="0" err="1"/>
                  <a:t>multiple</a:t>
                </a:r>
                <a:r>
                  <a:rPr lang="pt-BR" dirty="0"/>
                  <a:t> </a:t>
                </a:r>
                <a:r>
                  <a:rPr lang="pt-BR" dirty="0" err="1"/>
                  <a:t>access</a:t>
                </a:r>
                <a:r>
                  <a:rPr lang="pt-BR" dirty="0"/>
                  <a:t>. Isso significa que vários usuários podem se comunicar com a base </a:t>
                </a:r>
                <a:r>
                  <a:rPr lang="pt-BR" dirty="0" err="1"/>
                  <a:t>station</a:t>
                </a:r>
                <a:r>
                  <a:rPr lang="pt-BR" dirty="0"/>
                  <a:t> ao mesmo tempo, explorando separação espacial.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Além disso, existe um servidor no sistema, e esse servidor é quem executa a parte pesada da inferência do </a:t>
                </a:r>
                <a:r>
                  <a:rPr lang="pt-BR" dirty="0" err="1"/>
                  <a:t>large</a:t>
                </a:r>
                <a:r>
                  <a:rPr lang="pt-BR" dirty="0"/>
                  <a:t> model. A outra parte é executada no cliente.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pt-BR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Por fim, o </a:t>
                </a:r>
                <a:r>
                  <a:rPr lang="pt-BR" dirty="0" err="1"/>
                  <a:t>paper</a:t>
                </a:r>
                <a:r>
                  <a:rPr lang="pt-BR" dirty="0"/>
                  <a:t> assume que o tempo necessário para ajustar a posição das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antennas</a:t>
                </a:r>
                <a:r>
                  <a:rPr lang="pt-BR" dirty="0"/>
                  <a:t> é desprezível. Em outras palavras, eles ignoram esse custo mecânico ou físico e consideram apenas o ganho que o reposicionamento traz para o canal e para a taxa de transmissão.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pt-BR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Pense em um painel retangular na BS, e cada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</a:t>
                </a:r>
                <a:r>
                  <a:rPr lang="pt-BR" dirty="0"/>
                  <a:t> pode “andar” nesse painel em duas direções,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pt-BR" dirty="0"/>
                  <a:t>e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</a:t>
                </a:r>
                <a:r>
                  <a:rPr lang="pt-BR" dirty="0"/>
                  <a:t>.</a:t>
                </a:r>
                <a:br>
                  <a:rPr lang="pt-BR" dirty="0"/>
                </a:br>
                <a:r>
                  <a:rPr lang="pt-BR" dirty="0"/>
                  <a:t>a modelagem não está nesse nível discreto de “</a:t>
                </a:r>
                <a:r>
                  <a:rPr lang="pt-BR" dirty="0" err="1"/>
                  <a:t>port</a:t>
                </a:r>
                <a:r>
                  <a:rPr lang="pt-BR" dirty="0"/>
                  <a:t> 1, </a:t>
                </a:r>
                <a:r>
                  <a:rPr lang="pt-BR" dirty="0" err="1"/>
                  <a:t>port</a:t>
                </a:r>
                <a:r>
                  <a:rPr lang="pt-BR" dirty="0"/>
                  <a:t> 2, </a:t>
                </a:r>
                <a:r>
                  <a:rPr lang="pt-BR" dirty="0" err="1"/>
                  <a:t>port</a:t>
                </a:r>
                <a:r>
                  <a:rPr lang="pt-BR" dirty="0"/>
                  <a:t> 3...”, é como uma antena 2d, porém em termos de x e y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A173AF-EE6C-9934-ABFA-F1377BDD4A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674688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10D90-0C91-285B-9E24-DAB65FCBB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9ABF0B-167F-DF40-0DB1-A322405C81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F6A7FD11-6575-BF2E-67AF-6C78E7EE2A72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pt-BR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A posição das antenas é variável importante porque, neste </a:t>
                </a:r>
                <a:r>
                  <a:rPr lang="pt-BR" dirty="0" err="1"/>
                  <a:t>paper</a:t>
                </a:r>
                <a:r>
                  <a:rPr lang="pt-BR" dirty="0"/>
                  <a:t>, a BS não é um arranjo fixo tradicional. As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antennas</a:t>
                </a:r>
                <a:r>
                  <a:rPr lang="pt-BR" dirty="0"/>
                  <a:t> podem se mover dentro de um painel. Isso altera o canal sem fio. Então, diferente de um sistema MIMO convencional em que a geometria é fixa, aqui a geometria da BS é parte do problema de otimização.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Aqui no lado esquerdo do slide estão as definições matemáticas das posições dessas antenas. O vetor </a:t>
                </a:r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𝐭_(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𝑢,𝑎</a:t>
                </a:r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)</a:t>
                </a:r>
                <a:r>
                  <a:rPr lang="pt-BR" dirty="0"/>
                  <a:t>representa a posição da antena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𝑎</a:t>
                </a:r>
                <a:r>
                  <a:rPr lang="pt-BR" dirty="0"/>
                  <a:t>do usuário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𝑢</a:t>
                </a:r>
                <a:r>
                  <a:rPr lang="pt-BR" dirty="0"/>
                  <a:t>, com coordenadas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pt-BR" dirty="0"/>
                  <a:t>e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</a:t>
                </a:r>
                <a:r>
                  <a:rPr lang="pt-BR" dirty="0"/>
                  <a:t>. O </a:t>
                </a:r>
                <a:r>
                  <a:rPr lang="pt-BR" dirty="0" err="1"/>
                  <a:t>paper</a:t>
                </a:r>
                <a:r>
                  <a:rPr lang="pt-BR" dirty="0"/>
                  <a:t> agrupa todas essas posições na matriz </a:t>
                </a:r>
                <a:r>
                  <a:rPr lang="pt-BR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𝐓</a:t>
                </a:r>
                <a:r>
                  <a:rPr lang="pt-BR" dirty="0"/>
                  <a:t>. Já a posição da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</a:t>
                </a:r>
                <a:r>
                  <a:rPr lang="pt-BR" dirty="0"/>
                  <a:t>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𝑚</a:t>
                </a:r>
                <a:r>
                  <a:rPr lang="pt-BR" dirty="0"/>
                  <a:t>da BS é representada por </a:t>
                </a:r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𝐫_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𝑚</a:t>
                </a:r>
                <a:r>
                  <a:rPr lang="ar-AE" dirty="0"/>
                  <a:t>, </a:t>
                </a:r>
                <a:r>
                  <a:rPr lang="pt-BR" dirty="0"/>
                  <a:t>e todas as posições da BS são agrupadas na matriz </a:t>
                </a:r>
                <a:r>
                  <a:rPr lang="pt-BR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𝐑</a:t>
                </a:r>
                <a:r>
                  <a:rPr lang="pt-BR" dirty="0"/>
                  <a:t>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pt-BR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Outro ponto importante é que o sistema usa </a:t>
                </a:r>
                <a:r>
                  <a:rPr lang="pt-BR" dirty="0" err="1"/>
                  <a:t>space-division</a:t>
                </a:r>
                <a:r>
                  <a:rPr lang="pt-BR" dirty="0"/>
                  <a:t> </a:t>
                </a:r>
                <a:r>
                  <a:rPr lang="pt-BR" dirty="0" err="1"/>
                  <a:t>multiple</a:t>
                </a:r>
                <a:r>
                  <a:rPr lang="pt-BR" dirty="0"/>
                  <a:t> </a:t>
                </a:r>
                <a:r>
                  <a:rPr lang="pt-BR" dirty="0" err="1"/>
                  <a:t>access</a:t>
                </a:r>
                <a:r>
                  <a:rPr lang="pt-BR" dirty="0"/>
                  <a:t>. Isso significa que vários usuários podem se comunicar com a base </a:t>
                </a:r>
                <a:r>
                  <a:rPr lang="pt-BR" dirty="0" err="1"/>
                  <a:t>station</a:t>
                </a:r>
                <a:r>
                  <a:rPr lang="pt-BR" dirty="0"/>
                  <a:t> ao mesmo tempo, explorando separação espacial.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Além disso, existe um servidor no sistema, e esse servidor é quem executa a parte pesada da inferência do </a:t>
                </a:r>
                <a:r>
                  <a:rPr lang="pt-BR" dirty="0" err="1"/>
                  <a:t>large</a:t>
                </a:r>
                <a:r>
                  <a:rPr lang="pt-BR" dirty="0"/>
                  <a:t> model. A outra parte é executada no cliente.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pt-BR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Por fim, o </a:t>
                </a:r>
                <a:r>
                  <a:rPr lang="pt-BR" dirty="0" err="1"/>
                  <a:t>paper</a:t>
                </a:r>
                <a:r>
                  <a:rPr lang="pt-BR" dirty="0"/>
                  <a:t> assume que o tempo necessário para ajustar a posição das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antennas</a:t>
                </a:r>
                <a:r>
                  <a:rPr lang="pt-BR" dirty="0"/>
                  <a:t> é desprezível. Em outras palavras, eles ignoram esse custo mecânico ou físico e consideram apenas o ganho que o reposicionamento traz para o canal e para a taxa de transmissão.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pt-BR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Pense em um painel retangular na BS, e cada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</a:t>
                </a:r>
                <a:r>
                  <a:rPr lang="pt-BR" dirty="0"/>
                  <a:t> pode “andar” nesse painel em duas direções,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pt-BR" dirty="0"/>
                  <a:t>e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</a:t>
                </a:r>
                <a:r>
                  <a:rPr lang="pt-BR" dirty="0"/>
                  <a:t>.</a:t>
                </a:r>
                <a:br>
                  <a:rPr lang="pt-BR" dirty="0"/>
                </a:br>
                <a:r>
                  <a:rPr lang="pt-BR" dirty="0"/>
                  <a:t>a modelagem não está nesse nível discreto de “</a:t>
                </a:r>
                <a:r>
                  <a:rPr lang="pt-BR" dirty="0" err="1"/>
                  <a:t>port</a:t>
                </a:r>
                <a:r>
                  <a:rPr lang="pt-BR" dirty="0"/>
                  <a:t> 1, </a:t>
                </a:r>
                <a:r>
                  <a:rPr lang="pt-BR" dirty="0" err="1"/>
                  <a:t>port</a:t>
                </a:r>
                <a:r>
                  <a:rPr lang="pt-BR" dirty="0"/>
                  <a:t> 2, </a:t>
                </a:r>
                <a:r>
                  <a:rPr lang="pt-BR" dirty="0" err="1"/>
                  <a:t>port</a:t>
                </a:r>
                <a:r>
                  <a:rPr lang="pt-BR" dirty="0"/>
                  <a:t> 3...”, é como uma antena 2d, porém em termos de x e y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D69EE-D371-6F52-A65E-A692ADA312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518747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7EE01-E9DA-0985-AAAC-59D13C336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9653ED-72B5-B588-171F-1D9AF42CD9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16BB5A1A-5146-76DB-E60E-AF2D3B16B8F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pt-BR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A posição das antenas é variável importante porque, neste </a:t>
                </a:r>
                <a:r>
                  <a:rPr lang="pt-BR" dirty="0" err="1"/>
                  <a:t>paper</a:t>
                </a:r>
                <a:r>
                  <a:rPr lang="pt-BR" dirty="0"/>
                  <a:t>, a BS não é um arranjo fixo tradicional. As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antennas</a:t>
                </a:r>
                <a:r>
                  <a:rPr lang="pt-BR" dirty="0"/>
                  <a:t> podem se mover dentro de um painel. Isso altera o canal sem fio. Então, diferente de um sistema MIMO convencional em que a geometria é fixa, aqui a geometria da BS é parte do problema de otimização.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Aqui no lado esquerdo do slide estão as definições matemáticas das posições dessas antenas. O vetor </a:t>
                </a:r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𝐭_(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𝑢,𝑎</a:t>
                </a:r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)</a:t>
                </a:r>
                <a:r>
                  <a:rPr lang="pt-BR" dirty="0"/>
                  <a:t>representa a posição da antena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𝑎</a:t>
                </a:r>
                <a:r>
                  <a:rPr lang="pt-BR" dirty="0"/>
                  <a:t>do usuário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𝑢</a:t>
                </a:r>
                <a:r>
                  <a:rPr lang="pt-BR" dirty="0"/>
                  <a:t>, com coordenadas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pt-BR" dirty="0"/>
                  <a:t>e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</a:t>
                </a:r>
                <a:r>
                  <a:rPr lang="pt-BR" dirty="0"/>
                  <a:t>. O </a:t>
                </a:r>
                <a:r>
                  <a:rPr lang="pt-BR" dirty="0" err="1"/>
                  <a:t>paper</a:t>
                </a:r>
                <a:r>
                  <a:rPr lang="pt-BR" dirty="0"/>
                  <a:t> agrupa todas essas posições na matriz </a:t>
                </a:r>
                <a:r>
                  <a:rPr lang="pt-BR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𝐓</a:t>
                </a:r>
                <a:r>
                  <a:rPr lang="pt-BR" dirty="0"/>
                  <a:t>. Já a posição da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</a:t>
                </a:r>
                <a:r>
                  <a:rPr lang="pt-BR" dirty="0"/>
                  <a:t>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𝑚</a:t>
                </a:r>
                <a:r>
                  <a:rPr lang="pt-BR" dirty="0"/>
                  <a:t>da BS é representada por </a:t>
                </a:r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𝐫_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𝑚</a:t>
                </a:r>
                <a:r>
                  <a:rPr lang="ar-AE" dirty="0"/>
                  <a:t>, </a:t>
                </a:r>
                <a:r>
                  <a:rPr lang="pt-BR" dirty="0"/>
                  <a:t>e todas as posições da BS são agrupadas na matriz </a:t>
                </a:r>
                <a:r>
                  <a:rPr lang="pt-BR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𝐑</a:t>
                </a:r>
                <a:r>
                  <a:rPr lang="pt-BR" dirty="0"/>
                  <a:t>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pt-BR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Outro ponto importante é que o sistema usa </a:t>
                </a:r>
                <a:r>
                  <a:rPr lang="pt-BR" dirty="0" err="1"/>
                  <a:t>space-division</a:t>
                </a:r>
                <a:r>
                  <a:rPr lang="pt-BR" dirty="0"/>
                  <a:t> </a:t>
                </a:r>
                <a:r>
                  <a:rPr lang="pt-BR" dirty="0" err="1"/>
                  <a:t>multiple</a:t>
                </a:r>
                <a:r>
                  <a:rPr lang="pt-BR" dirty="0"/>
                  <a:t> </a:t>
                </a:r>
                <a:r>
                  <a:rPr lang="pt-BR" dirty="0" err="1"/>
                  <a:t>access</a:t>
                </a:r>
                <a:r>
                  <a:rPr lang="pt-BR" dirty="0"/>
                  <a:t>. Isso significa que vários usuários podem se comunicar com a base </a:t>
                </a:r>
                <a:r>
                  <a:rPr lang="pt-BR" dirty="0" err="1"/>
                  <a:t>station</a:t>
                </a:r>
                <a:r>
                  <a:rPr lang="pt-BR" dirty="0"/>
                  <a:t> ao mesmo tempo, explorando separação espacial.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Além disso, existe um servidor no sistema, e esse servidor é quem executa a parte pesada da inferência do </a:t>
                </a:r>
                <a:r>
                  <a:rPr lang="pt-BR" dirty="0" err="1"/>
                  <a:t>large</a:t>
                </a:r>
                <a:r>
                  <a:rPr lang="pt-BR" dirty="0"/>
                  <a:t> model. A outra parte é executada no cliente.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pt-BR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Por fim, o </a:t>
                </a:r>
                <a:r>
                  <a:rPr lang="pt-BR" dirty="0" err="1"/>
                  <a:t>paper</a:t>
                </a:r>
                <a:r>
                  <a:rPr lang="pt-BR" dirty="0"/>
                  <a:t> assume que o tempo necessário para ajustar a posição das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antennas</a:t>
                </a:r>
                <a:r>
                  <a:rPr lang="pt-BR" dirty="0"/>
                  <a:t> é desprezível. Em outras palavras, eles ignoram esse custo mecânico ou físico e consideram apenas o ganho que o reposicionamento traz para o canal e para a taxa de transmissão.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pt-BR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Pense em um painel retangular na BS, e cada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</a:t>
                </a:r>
                <a:r>
                  <a:rPr lang="pt-BR" dirty="0"/>
                  <a:t> pode “andar” nesse painel em duas direções,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pt-BR" dirty="0"/>
                  <a:t>e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</a:t>
                </a:r>
                <a:r>
                  <a:rPr lang="pt-BR" dirty="0"/>
                  <a:t>.</a:t>
                </a:r>
                <a:br>
                  <a:rPr lang="pt-BR" dirty="0"/>
                </a:br>
                <a:r>
                  <a:rPr lang="pt-BR" dirty="0"/>
                  <a:t>a modelagem não está nesse nível discreto de “</a:t>
                </a:r>
                <a:r>
                  <a:rPr lang="pt-BR" dirty="0" err="1"/>
                  <a:t>port</a:t>
                </a:r>
                <a:r>
                  <a:rPr lang="pt-BR" dirty="0"/>
                  <a:t> 1, </a:t>
                </a:r>
                <a:r>
                  <a:rPr lang="pt-BR" dirty="0" err="1"/>
                  <a:t>port</a:t>
                </a:r>
                <a:r>
                  <a:rPr lang="pt-BR" dirty="0"/>
                  <a:t> 2, </a:t>
                </a:r>
                <a:r>
                  <a:rPr lang="pt-BR" dirty="0" err="1"/>
                  <a:t>port</a:t>
                </a:r>
                <a:r>
                  <a:rPr lang="pt-BR" dirty="0"/>
                  <a:t> 3...”, é como uma antena 2d, porém em termos de x e y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DED776-89C6-0E03-0D43-3E5E36C45D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809928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5E17C-829D-126A-5496-833143323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AB53CC-80D8-FA51-DC17-5F8E1CD731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19FECE98-2EC4-E5B8-5FFE-16AACCCFDAA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pt-BR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A posição das antenas é variável importante porque, neste </a:t>
                </a:r>
                <a:r>
                  <a:rPr lang="pt-BR" dirty="0" err="1"/>
                  <a:t>paper</a:t>
                </a:r>
                <a:r>
                  <a:rPr lang="pt-BR" dirty="0"/>
                  <a:t>, a BS não é um arranjo fixo tradicional. As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antennas</a:t>
                </a:r>
                <a:r>
                  <a:rPr lang="pt-BR" dirty="0"/>
                  <a:t> podem se mover dentro de um painel. Isso altera o canal sem fio. Então, diferente de um sistema MIMO convencional em que a geometria é fixa, aqui a geometria da BS é parte do problema de otimização.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Aqui no lado esquerdo do slide estão as definições matemáticas das posições dessas antenas. O vetor </a:t>
                </a:r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𝐭_(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𝑢,𝑎</a:t>
                </a:r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)</a:t>
                </a:r>
                <a:r>
                  <a:rPr lang="pt-BR" dirty="0"/>
                  <a:t>representa a posição da antena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𝑎</a:t>
                </a:r>
                <a:r>
                  <a:rPr lang="pt-BR" dirty="0"/>
                  <a:t>do usuário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𝑢</a:t>
                </a:r>
                <a:r>
                  <a:rPr lang="pt-BR" dirty="0"/>
                  <a:t>, com coordenadas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pt-BR" dirty="0"/>
                  <a:t>e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</a:t>
                </a:r>
                <a:r>
                  <a:rPr lang="pt-BR" dirty="0"/>
                  <a:t>. O </a:t>
                </a:r>
                <a:r>
                  <a:rPr lang="pt-BR" dirty="0" err="1"/>
                  <a:t>paper</a:t>
                </a:r>
                <a:r>
                  <a:rPr lang="pt-BR" dirty="0"/>
                  <a:t> agrupa todas essas posições na matriz </a:t>
                </a:r>
                <a:r>
                  <a:rPr lang="pt-BR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𝐓</a:t>
                </a:r>
                <a:r>
                  <a:rPr lang="pt-BR" dirty="0"/>
                  <a:t>. Já a posição da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</a:t>
                </a:r>
                <a:r>
                  <a:rPr lang="pt-BR" dirty="0"/>
                  <a:t>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𝑚</a:t>
                </a:r>
                <a:r>
                  <a:rPr lang="pt-BR" dirty="0"/>
                  <a:t>da BS é representada por </a:t>
                </a:r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𝐫_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𝑚</a:t>
                </a:r>
                <a:r>
                  <a:rPr lang="ar-AE" dirty="0"/>
                  <a:t>, </a:t>
                </a:r>
                <a:r>
                  <a:rPr lang="pt-BR" dirty="0"/>
                  <a:t>e todas as posições da BS são agrupadas na matriz </a:t>
                </a:r>
                <a:r>
                  <a:rPr lang="pt-BR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𝐑</a:t>
                </a:r>
                <a:r>
                  <a:rPr lang="pt-BR" dirty="0"/>
                  <a:t>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pt-BR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Outro ponto importante é que o sistema usa </a:t>
                </a:r>
                <a:r>
                  <a:rPr lang="pt-BR" dirty="0" err="1"/>
                  <a:t>space-division</a:t>
                </a:r>
                <a:r>
                  <a:rPr lang="pt-BR" dirty="0"/>
                  <a:t> </a:t>
                </a:r>
                <a:r>
                  <a:rPr lang="pt-BR" dirty="0" err="1"/>
                  <a:t>multiple</a:t>
                </a:r>
                <a:r>
                  <a:rPr lang="pt-BR" dirty="0"/>
                  <a:t> </a:t>
                </a:r>
                <a:r>
                  <a:rPr lang="pt-BR" dirty="0" err="1"/>
                  <a:t>access</a:t>
                </a:r>
                <a:r>
                  <a:rPr lang="pt-BR" dirty="0"/>
                  <a:t>. Isso significa que vários usuários podem se comunicar com a base </a:t>
                </a:r>
                <a:r>
                  <a:rPr lang="pt-BR" dirty="0" err="1"/>
                  <a:t>station</a:t>
                </a:r>
                <a:r>
                  <a:rPr lang="pt-BR" dirty="0"/>
                  <a:t> ao mesmo tempo, explorando separação espacial.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Além disso, existe um servidor no sistema, e esse servidor é quem executa a parte pesada da inferência do </a:t>
                </a:r>
                <a:r>
                  <a:rPr lang="pt-BR" dirty="0" err="1"/>
                  <a:t>large</a:t>
                </a:r>
                <a:r>
                  <a:rPr lang="pt-BR" dirty="0"/>
                  <a:t> model. A outra parte é executada no cliente.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pt-BR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Por fim, o </a:t>
                </a:r>
                <a:r>
                  <a:rPr lang="pt-BR" dirty="0" err="1"/>
                  <a:t>paper</a:t>
                </a:r>
                <a:r>
                  <a:rPr lang="pt-BR" dirty="0"/>
                  <a:t> assume que o tempo necessário para ajustar a posição das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antennas</a:t>
                </a:r>
                <a:r>
                  <a:rPr lang="pt-BR" dirty="0"/>
                  <a:t> é desprezível. Em outras palavras, eles ignoram esse custo mecânico ou físico e consideram apenas o ganho que o reposicionamento traz para o canal e para a taxa de transmissão.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pt-BR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Pense em um painel retangular na BS, e cada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</a:t>
                </a:r>
                <a:r>
                  <a:rPr lang="pt-BR" dirty="0"/>
                  <a:t> pode “andar” nesse painel em duas direções,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pt-BR" dirty="0"/>
                  <a:t>e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</a:t>
                </a:r>
                <a:r>
                  <a:rPr lang="pt-BR" dirty="0"/>
                  <a:t>.</a:t>
                </a:r>
                <a:br>
                  <a:rPr lang="pt-BR" dirty="0"/>
                </a:br>
                <a:r>
                  <a:rPr lang="pt-BR" dirty="0"/>
                  <a:t>a modelagem não está nesse nível discreto de “</a:t>
                </a:r>
                <a:r>
                  <a:rPr lang="pt-BR" dirty="0" err="1"/>
                  <a:t>port</a:t>
                </a:r>
                <a:r>
                  <a:rPr lang="pt-BR" dirty="0"/>
                  <a:t> 1, </a:t>
                </a:r>
                <a:r>
                  <a:rPr lang="pt-BR" dirty="0" err="1"/>
                  <a:t>port</a:t>
                </a:r>
                <a:r>
                  <a:rPr lang="pt-BR" dirty="0"/>
                  <a:t> 2, </a:t>
                </a:r>
                <a:r>
                  <a:rPr lang="pt-BR" dirty="0" err="1"/>
                  <a:t>port</a:t>
                </a:r>
                <a:r>
                  <a:rPr lang="pt-BR" dirty="0"/>
                  <a:t> 3...”, é como uma antena 2d, porém em termos de x e y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2A68CF-94A8-9699-7609-2EC5E5E7F7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65435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0AEF0-3A5E-C8B7-56F3-D0EA96046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617D3B-BDCF-81F8-501F-2CDAB8DA21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09ECC460-A2E9-171A-16E9-77C85F83C60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pt-BR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A posição das antenas é variável importante porque, neste </a:t>
                </a:r>
                <a:r>
                  <a:rPr lang="pt-BR" dirty="0" err="1"/>
                  <a:t>paper</a:t>
                </a:r>
                <a:r>
                  <a:rPr lang="pt-BR" dirty="0"/>
                  <a:t>, a BS não é um arranjo fixo tradicional. As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antennas</a:t>
                </a:r>
                <a:r>
                  <a:rPr lang="pt-BR" dirty="0"/>
                  <a:t> podem se mover dentro de um painel. Isso altera o canal sem fio. Então, diferente de um sistema MIMO convencional em que a geometria é fixa, aqui a geometria da BS é parte do problema de otimização.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Aqui no lado esquerdo do slide estão as definições matemáticas das posições dessas antenas. O vetor </a:t>
                </a:r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𝐭_(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𝑢,𝑎</a:t>
                </a:r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)</a:t>
                </a:r>
                <a:r>
                  <a:rPr lang="pt-BR" dirty="0"/>
                  <a:t>representa a posição da antena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𝑎</a:t>
                </a:r>
                <a:r>
                  <a:rPr lang="pt-BR" dirty="0"/>
                  <a:t>do usuário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𝑢</a:t>
                </a:r>
                <a:r>
                  <a:rPr lang="pt-BR" dirty="0"/>
                  <a:t>, com coordenadas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pt-BR" dirty="0"/>
                  <a:t>e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</a:t>
                </a:r>
                <a:r>
                  <a:rPr lang="pt-BR" dirty="0"/>
                  <a:t>. O </a:t>
                </a:r>
                <a:r>
                  <a:rPr lang="pt-BR" dirty="0" err="1"/>
                  <a:t>paper</a:t>
                </a:r>
                <a:r>
                  <a:rPr lang="pt-BR" dirty="0"/>
                  <a:t> agrupa todas essas posições na matriz </a:t>
                </a:r>
                <a:r>
                  <a:rPr lang="pt-BR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𝐓</a:t>
                </a:r>
                <a:r>
                  <a:rPr lang="pt-BR" dirty="0"/>
                  <a:t>. Já a posição da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</a:t>
                </a:r>
                <a:r>
                  <a:rPr lang="pt-BR" dirty="0"/>
                  <a:t>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𝑚</a:t>
                </a:r>
                <a:r>
                  <a:rPr lang="pt-BR" dirty="0"/>
                  <a:t>da BS é representada por </a:t>
                </a:r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𝐫_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𝑚</a:t>
                </a:r>
                <a:r>
                  <a:rPr lang="ar-AE" dirty="0"/>
                  <a:t>, </a:t>
                </a:r>
                <a:r>
                  <a:rPr lang="pt-BR" dirty="0"/>
                  <a:t>e todas as posições da BS são agrupadas na matriz </a:t>
                </a:r>
                <a:r>
                  <a:rPr lang="pt-BR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𝐑</a:t>
                </a:r>
                <a:r>
                  <a:rPr lang="pt-BR" dirty="0"/>
                  <a:t>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pt-BR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Outro ponto importante é que o sistema usa </a:t>
                </a:r>
                <a:r>
                  <a:rPr lang="pt-BR" dirty="0" err="1"/>
                  <a:t>space-division</a:t>
                </a:r>
                <a:r>
                  <a:rPr lang="pt-BR" dirty="0"/>
                  <a:t> </a:t>
                </a:r>
                <a:r>
                  <a:rPr lang="pt-BR" dirty="0" err="1"/>
                  <a:t>multiple</a:t>
                </a:r>
                <a:r>
                  <a:rPr lang="pt-BR" dirty="0"/>
                  <a:t> </a:t>
                </a:r>
                <a:r>
                  <a:rPr lang="pt-BR" dirty="0" err="1"/>
                  <a:t>access</a:t>
                </a:r>
                <a:r>
                  <a:rPr lang="pt-BR" dirty="0"/>
                  <a:t>. Isso significa que vários usuários podem se comunicar com a base </a:t>
                </a:r>
                <a:r>
                  <a:rPr lang="pt-BR" dirty="0" err="1"/>
                  <a:t>station</a:t>
                </a:r>
                <a:r>
                  <a:rPr lang="pt-BR" dirty="0"/>
                  <a:t> ao mesmo tempo, explorando separação espacial.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Além disso, existe um servidor no sistema, e esse servidor é quem executa a parte pesada da inferência do </a:t>
                </a:r>
                <a:r>
                  <a:rPr lang="pt-BR" dirty="0" err="1"/>
                  <a:t>large</a:t>
                </a:r>
                <a:r>
                  <a:rPr lang="pt-BR" dirty="0"/>
                  <a:t> model. A outra parte é executada no cliente.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pt-BR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Por fim, o </a:t>
                </a:r>
                <a:r>
                  <a:rPr lang="pt-BR" dirty="0" err="1"/>
                  <a:t>paper</a:t>
                </a:r>
                <a:r>
                  <a:rPr lang="pt-BR" dirty="0"/>
                  <a:t> assume que o tempo necessário para ajustar a posição das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antennas</a:t>
                </a:r>
                <a:r>
                  <a:rPr lang="pt-BR" dirty="0"/>
                  <a:t> é desprezível. Em outras palavras, eles ignoram esse custo mecânico ou físico e consideram apenas o ganho que o reposicionamento traz para o canal e para a taxa de transmissão.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pt-BR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Pense em um painel retangular na BS, e cada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</a:t>
                </a:r>
                <a:r>
                  <a:rPr lang="pt-BR" dirty="0"/>
                  <a:t> pode “andar” nesse painel em duas direções,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pt-BR" dirty="0"/>
                  <a:t>e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</a:t>
                </a:r>
                <a:r>
                  <a:rPr lang="pt-BR" dirty="0"/>
                  <a:t>.</a:t>
                </a:r>
                <a:br>
                  <a:rPr lang="pt-BR" dirty="0"/>
                </a:br>
                <a:r>
                  <a:rPr lang="pt-BR" dirty="0"/>
                  <a:t>a modelagem não está nesse nível discreto de “</a:t>
                </a:r>
                <a:r>
                  <a:rPr lang="pt-BR" dirty="0" err="1"/>
                  <a:t>port</a:t>
                </a:r>
                <a:r>
                  <a:rPr lang="pt-BR" dirty="0"/>
                  <a:t> 1, </a:t>
                </a:r>
                <a:r>
                  <a:rPr lang="pt-BR" dirty="0" err="1"/>
                  <a:t>port</a:t>
                </a:r>
                <a:r>
                  <a:rPr lang="pt-BR" dirty="0"/>
                  <a:t> 2, </a:t>
                </a:r>
                <a:r>
                  <a:rPr lang="pt-BR" dirty="0" err="1"/>
                  <a:t>port</a:t>
                </a:r>
                <a:r>
                  <a:rPr lang="pt-BR" dirty="0"/>
                  <a:t> 3...”, é como uma antena 2d, porém em termos de x e y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41F97F-08B9-382A-E65A-2FDBC4AAC6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182575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6D7DC-3FCC-A067-C497-A6D4F778D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AE15E8-78C6-CAE6-7613-02852A3A51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2C93C4A9-1D79-B182-92ED-B0D7254AA6E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pt-BR" b="1" dirty="0"/>
                  <a:t>RWA pergunta:</a:t>
                </a:r>
                <a:endParaRPr lang="pt-BR" dirty="0"/>
              </a:p>
              <a:p>
                <a:r>
                  <a:rPr lang="pt-BR" dirty="0"/>
                  <a:t>Arquiteturas próximas, em qualquer lugar do </a:t>
                </a:r>
                <a:r>
                  <a:rPr lang="pt-BR" dirty="0" err="1"/>
                  <a:t>search</a:t>
                </a:r>
                <a:r>
                  <a:rPr lang="pt-BR" dirty="0"/>
                  <a:t> </a:t>
                </a:r>
                <a:r>
                  <a:rPr lang="pt-BR" dirty="0" err="1"/>
                  <a:t>space</a:t>
                </a:r>
                <a:r>
                  <a:rPr lang="pt-BR" dirty="0"/>
                  <a:t>, tendem a ter desempenhos parecidos?</a:t>
                </a:r>
              </a:p>
              <a:p>
                <a:r>
                  <a:rPr lang="pt-BR" b="1" dirty="0"/>
                  <a:t>FDC pergunta:</a:t>
                </a:r>
                <a:endParaRPr lang="pt-BR" dirty="0"/>
              </a:p>
              <a:p>
                <a:r>
                  <a:rPr lang="pt-BR" dirty="0"/>
                  <a:t>Existe uma região ao redor da melhor arquitetura em que arquiteturas próximas também são boas?</a:t>
                </a:r>
              </a:p>
              <a:p>
                <a:endParaRPr lang="pt-BR" dirty="0"/>
              </a:p>
              <a:p>
                <a:r>
                  <a:rPr lang="pt-BR" dirty="0"/>
                  <a:t>A Figura 6 mostra que </a:t>
                </a:r>
                <a:r>
                  <a:rPr lang="pt-BR" b="1" dirty="0"/>
                  <a:t>35,4% do espaço está a uma distância de até 6 edições de algum pico top</a:t>
                </a:r>
                <a:r>
                  <a:rPr lang="pt-BR" dirty="0"/>
                  <a:t>. Isso significa que mais de um terço do espaço não é top diretamente, mas está relativamente perto de uma arquitetura top. Como os autores também mostram que a localidade do espaço tem largura aproximada de 6, essa vizinhança importa. Dentro dessa distância, arquiteturas próximas ainda tendem a ter desempenhos relacionados.</a:t>
                </a:r>
              </a:p>
              <a:p>
                <a:endParaRPr lang="pt-BR" dirty="0"/>
              </a:p>
              <a:p>
                <a:r>
                  <a:rPr lang="pt-BR" dirty="0"/>
                  <a:t>A mensagem correta é: </a:t>
                </a:r>
                <a:r>
                  <a:rPr lang="pt-BR" b="1" dirty="0"/>
                  <a:t>embora os ótimos sejam raros, existem grandes regiões ao redor deles que podem ser exploradas por pequenas mudanças estruturais</a:t>
                </a:r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A posição das antenas é variável importante porque, neste </a:t>
                </a:r>
                <a:r>
                  <a:rPr lang="pt-BR" dirty="0" err="1"/>
                  <a:t>paper</a:t>
                </a:r>
                <a:r>
                  <a:rPr lang="pt-BR" dirty="0"/>
                  <a:t>, a BS não é um arranjo fixo tradicional. As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antennas</a:t>
                </a:r>
                <a:r>
                  <a:rPr lang="pt-BR" dirty="0"/>
                  <a:t> podem se mover dentro de um painel. Isso altera o canal sem fio. Então, diferente de um sistema MIMO convencional em que a geometria é fixa, aqui a geometria da BS é parte do problema de otimização.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Aqui no lado esquerdo do slide estão as definições matemáticas das posições dessas antenas. O vetor </a:t>
                </a:r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𝐭_(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𝑢,𝑎</a:t>
                </a:r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)</a:t>
                </a:r>
                <a:r>
                  <a:rPr lang="pt-BR" dirty="0"/>
                  <a:t>representa a posição da antena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𝑎</a:t>
                </a:r>
                <a:r>
                  <a:rPr lang="pt-BR" dirty="0"/>
                  <a:t>do usuário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𝑢</a:t>
                </a:r>
                <a:r>
                  <a:rPr lang="pt-BR" dirty="0"/>
                  <a:t>, com coordenadas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pt-BR" dirty="0"/>
                  <a:t>e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</a:t>
                </a:r>
                <a:r>
                  <a:rPr lang="pt-BR" dirty="0"/>
                  <a:t>. O </a:t>
                </a:r>
                <a:r>
                  <a:rPr lang="pt-BR" dirty="0" err="1"/>
                  <a:t>paper</a:t>
                </a:r>
                <a:r>
                  <a:rPr lang="pt-BR" dirty="0"/>
                  <a:t> agrupa todas essas posições na matriz </a:t>
                </a:r>
                <a:r>
                  <a:rPr lang="pt-BR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𝐓</a:t>
                </a:r>
                <a:r>
                  <a:rPr lang="pt-BR" dirty="0"/>
                  <a:t>. Já a posição da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</a:t>
                </a:r>
                <a:r>
                  <a:rPr lang="pt-BR" dirty="0"/>
                  <a:t>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𝑚</a:t>
                </a:r>
                <a:r>
                  <a:rPr lang="pt-BR" dirty="0"/>
                  <a:t>da BS é representada por </a:t>
                </a:r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𝐫_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𝑚</a:t>
                </a:r>
                <a:r>
                  <a:rPr lang="ar-AE" dirty="0"/>
                  <a:t>, </a:t>
                </a:r>
                <a:r>
                  <a:rPr lang="pt-BR" dirty="0"/>
                  <a:t>e todas as posições da BS são agrupadas na matriz </a:t>
                </a:r>
                <a:r>
                  <a:rPr lang="pt-BR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𝐑</a:t>
                </a:r>
                <a:r>
                  <a:rPr lang="pt-BR" dirty="0"/>
                  <a:t>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pt-BR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Outro ponto importante é que o sistema usa </a:t>
                </a:r>
                <a:r>
                  <a:rPr lang="pt-BR" dirty="0" err="1"/>
                  <a:t>space-division</a:t>
                </a:r>
                <a:r>
                  <a:rPr lang="pt-BR" dirty="0"/>
                  <a:t> </a:t>
                </a:r>
                <a:r>
                  <a:rPr lang="pt-BR" dirty="0" err="1"/>
                  <a:t>multiple</a:t>
                </a:r>
                <a:r>
                  <a:rPr lang="pt-BR" dirty="0"/>
                  <a:t> </a:t>
                </a:r>
                <a:r>
                  <a:rPr lang="pt-BR" dirty="0" err="1"/>
                  <a:t>access</a:t>
                </a:r>
                <a:r>
                  <a:rPr lang="pt-BR" dirty="0"/>
                  <a:t>. Isso significa que vários usuários podem se comunicar com a base </a:t>
                </a:r>
                <a:r>
                  <a:rPr lang="pt-BR" dirty="0" err="1"/>
                  <a:t>station</a:t>
                </a:r>
                <a:r>
                  <a:rPr lang="pt-BR" dirty="0"/>
                  <a:t> ao mesmo tempo, explorando separação espacial.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Além disso, existe um servidor no sistema, e esse servidor é quem executa a parte pesada da inferência do </a:t>
                </a:r>
                <a:r>
                  <a:rPr lang="pt-BR" dirty="0" err="1"/>
                  <a:t>large</a:t>
                </a:r>
                <a:r>
                  <a:rPr lang="pt-BR" dirty="0"/>
                  <a:t> model. A outra parte é executada no cliente.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pt-BR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Por fim, o </a:t>
                </a:r>
                <a:r>
                  <a:rPr lang="pt-BR" dirty="0" err="1"/>
                  <a:t>paper</a:t>
                </a:r>
                <a:r>
                  <a:rPr lang="pt-BR" dirty="0"/>
                  <a:t> assume que o tempo necessário para ajustar a posição das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antennas</a:t>
                </a:r>
                <a:r>
                  <a:rPr lang="pt-BR" dirty="0"/>
                  <a:t> é desprezível. Em outras palavras, eles ignoram esse custo mecânico ou físico e consideram apenas o ganho que o reposicionamento traz para o canal e para a taxa de transmissão.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pt-BR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Pense em um painel retangular na BS, e cada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</a:t>
                </a:r>
                <a:r>
                  <a:rPr lang="pt-BR" dirty="0"/>
                  <a:t> pode “andar” nesse painel em duas direções,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pt-BR" dirty="0"/>
                  <a:t>e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</a:t>
                </a:r>
                <a:r>
                  <a:rPr lang="pt-BR" dirty="0"/>
                  <a:t>.</a:t>
                </a:r>
                <a:br>
                  <a:rPr lang="pt-BR" dirty="0"/>
                </a:br>
                <a:r>
                  <a:rPr lang="pt-BR" dirty="0"/>
                  <a:t>a modelagem não está nesse nível discreto de “</a:t>
                </a:r>
                <a:r>
                  <a:rPr lang="pt-BR" dirty="0" err="1"/>
                  <a:t>port</a:t>
                </a:r>
                <a:r>
                  <a:rPr lang="pt-BR" dirty="0"/>
                  <a:t> 1, </a:t>
                </a:r>
                <a:r>
                  <a:rPr lang="pt-BR" dirty="0" err="1"/>
                  <a:t>port</a:t>
                </a:r>
                <a:r>
                  <a:rPr lang="pt-BR" dirty="0"/>
                  <a:t> 2, </a:t>
                </a:r>
                <a:r>
                  <a:rPr lang="pt-BR" dirty="0" err="1"/>
                  <a:t>port</a:t>
                </a:r>
                <a:r>
                  <a:rPr lang="pt-BR" dirty="0"/>
                  <a:t> 3...”, é como uma antena 2d, porém em termos de x e y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239674-1C3F-7CEC-C0DF-383CA06DFD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763963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60C72-AA29-2408-22EA-44F90B3E3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97A718-C0BA-2007-8863-5D30DC08F3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B18253A6-CDB9-2D80-DB06-BB589EF3A05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pt-BR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A posição das antenas é variável importante porque, neste </a:t>
                </a:r>
                <a:r>
                  <a:rPr lang="pt-BR" dirty="0" err="1"/>
                  <a:t>paper</a:t>
                </a:r>
                <a:r>
                  <a:rPr lang="pt-BR" dirty="0"/>
                  <a:t>, a BS não é um arranjo fixo tradicional. As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antennas</a:t>
                </a:r>
                <a:r>
                  <a:rPr lang="pt-BR" dirty="0"/>
                  <a:t> podem se mover dentro de um painel. Isso altera o canal sem fio. Então, diferente de um sistema MIMO convencional em que a geometria é fixa, aqui a geometria da BS é parte do problema de otimização.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Aqui no lado esquerdo do slide estão as definições matemáticas das posições dessas antenas. O vetor </a:t>
                </a:r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𝐭_(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𝑢,𝑎</a:t>
                </a:r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)</a:t>
                </a:r>
                <a:r>
                  <a:rPr lang="pt-BR" dirty="0"/>
                  <a:t>representa a posição da antena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𝑎</a:t>
                </a:r>
                <a:r>
                  <a:rPr lang="pt-BR" dirty="0"/>
                  <a:t>do usuário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𝑢</a:t>
                </a:r>
                <a:r>
                  <a:rPr lang="pt-BR" dirty="0"/>
                  <a:t>, com coordenadas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pt-BR" dirty="0"/>
                  <a:t>e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</a:t>
                </a:r>
                <a:r>
                  <a:rPr lang="pt-BR" dirty="0"/>
                  <a:t>. O </a:t>
                </a:r>
                <a:r>
                  <a:rPr lang="pt-BR" dirty="0" err="1"/>
                  <a:t>paper</a:t>
                </a:r>
                <a:r>
                  <a:rPr lang="pt-BR" dirty="0"/>
                  <a:t> agrupa todas essas posições na matriz </a:t>
                </a:r>
                <a:r>
                  <a:rPr lang="pt-BR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𝐓</a:t>
                </a:r>
                <a:r>
                  <a:rPr lang="pt-BR" dirty="0"/>
                  <a:t>. Já a posição da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</a:t>
                </a:r>
                <a:r>
                  <a:rPr lang="pt-BR" dirty="0"/>
                  <a:t>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𝑚</a:t>
                </a:r>
                <a:r>
                  <a:rPr lang="pt-BR" dirty="0"/>
                  <a:t>da BS é representada por </a:t>
                </a:r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𝐫_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𝑚</a:t>
                </a:r>
                <a:r>
                  <a:rPr lang="ar-AE" dirty="0"/>
                  <a:t>, </a:t>
                </a:r>
                <a:r>
                  <a:rPr lang="pt-BR" dirty="0"/>
                  <a:t>e todas as posições da BS são agrupadas na matriz </a:t>
                </a:r>
                <a:r>
                  <a:rPr lang="pt-BR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𝐑</a:t>
                </a:r>
                <a:r>
                  <a:rPr lang="pt-BR" dirty="0"/>
                  <a:t>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pt-BR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Outro ponto importante é que o sistema usa </a:t>
                </a:r>
                <a:r>
                  <a:rPr lang="pt-BR" dirty="0" err="1"/>
                  <a:t>space-division</a:t>
                </a:r>
                <a:r>
                  <a:rPr lang="pt-BR" dirty="0"/>
                  <a:t> </a:t>
                </a:r>
                <a:r>
                  <a:rPr lang="pt-BR" dirty="0" err="1"/>
                  <a:t>multiple</a:t>
                </a:r>
                <a:r>
                  <a:rPr lang="pt-BR" dirty="0"/>
                  <a:t> </a:t>
                </a:r>
                <a:r>
                  <a:rPr lang="pt-BR" dirty="0" err="1"/>
                  <a:t>access</a:t>
                </a:r>
                <a:r>
                  <a:rPr lang="pt-BR" dirty="0"/>
                  <a:t>. Isso significa que vários usuários podem se comunicar com a base </a:t>
                </a:r>
                <a:r>
                  <a:rPr lang="pt-BR" dirty="0" err="1"/>
                  <a:t>station</a:t>
                </a:r>
                <a:r>
                  <a:rPr lang="pt-BR" dirty="0"/>
                  <a:t> ao mesmo tempo, explorando separação espacial.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Além disso, existe um servidor no sistema, e esse servidor é quem executa a parte pesada da inferência do </a:t>
                </a:r>
                <a:r>
                  <a:rPr lang="pt-BR" dirty="0" err="1"/>
                  <a:t>large</a:t>
                </a:r>
                <a:r>
                  <a:rPr lang="pt-BR" dirty="0"/>
                  <a:t> model. A outra parte é executada no cliente.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pt-BR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Por fim, o </a:t>
                </a:r>
                <a:r>
                  <a:rPr lang="pt-BR" dirty="0" err="1"/>
                  <a:t>paper</a:t>
                </a:r>
                <a:r>
                  <a:rPr lang="pt-BR" dirty="0"/>
                  <a:t> assume que o tempo necessário para ajustar a posição das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antennas</a:t>
                </a:r>
                <a:r>
                  <a:rPr lang="pt-BR" dirty="0"/>
                  <a:t> é desprezível. Em outras palavras, eles ignoram esse custo mecânico ou físico e consideram apenas o ganho que o reposicionamento traz para o canal e para a taxa de transmissão.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pt-BR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Pense em um painel retangular na BS, e cada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</a:t>
                </a:r>
                <a:r>
                  <a:rPr lang="pt-BR" dirty="0"/>
                  <a:t> pode “andar” nesse painel em duas direções,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pt-BR" dirty="0"/>
                  <a:t>e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</a:t>
                </a:r>
                <a:r>
                  <a:rPr lang="pt-BR" dirty="0"/>
                  <a:t>.</a:t>
                </a:r>
                <a:br>
                  <a:rPr lang="pt-BR" dirty="0"/>
                </a:br>
                <a:r>
                  <a:rPr lang="pt-BR" dirty="0"/>
                  <a:t>a modelagem não está nesse nível discreto de “</a:t>
                </a:r>
                <a:r>
                  <a:rPr lang="pt-BR" dirty="0" err="1"/>
                  <a:t>port</a:t>
                </a:r>
                <a:r>
                  <a:rPr lang="pt-BR" dirty="0"/>
                  <a:t> 1, </a:t>
                </a:r>
                <a:r>
                  <a:rPr lang="pt-BR" dirty="0" err="1"/>
                  <a:t>port</a:t>
                </a:r>
                <a:r>
                  <a:rPr lang="pt-BR" dirty="0"/>
                  <a:t> 2, </a:t>
                </a:r>
                <a:r>
                  <a:rPr lang="pt-BR" dirty="0" err="1"/>
                  <a:t>port</a:t>
                </a:r>
                <a:r>
                  <a:rPr lang="pt-BR" dirty="0"/>
                  <a:t> 3...”, é como uma antena 2d, porém em termos de x e y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81F38-BA13-23C2-DD98-0280787774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994368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E334D-8B23-AD35-5D18-5FF1B6638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00638A-DEF7-2936-389A-D8CE87F72B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C45734C9-5D7A-E09D-24BA-207B4C5AAC4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pt-BR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A posição das antenas é variável importante porque, neste </a:t>
                </a:r>
                <a:r>
                  <a:rPr lang="pt-BR" dirty="0" err="1"/>
                  <a:t>paper</a:t>
                </a:r>
                <a:r>
                  <a:rPr lang="pt-BR" dirty="0"/>
                  <a:t>, a BS não é um arranjo fixo tradicional. As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antennas</a:t>
                </a:r>
                <a:r>
                  <a:rPr lang="pt-BR" dirty="0"/>
                  <a:t> podem se mover dentro de um painel. Isso altera o canal sem fio. Então, diferente de um sistema MIMO convencional em que a geometria é fixa, aqui a geometria da BS é parte do problema de otimização.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Aqui no lado esquerdo do slide estão as definições matemáticas das posições dessas antenas. O vetor </a:t>
                </a:r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𝐭_(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𝑢,𝑎</a:t>
                </a:r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)</a:t>
                </a:r>
                <a:r>
                  <a:rPr lang="pt-BR" dirty="0"/>
                  <a:t>representa a posição da antena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𝑎</a:t>
                </a:r>
                <a:r>
                  <a:rPr lang="pt-BR" dirty="0"/>
                  <a:t>do usuário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𝑢</a:t>
                </a:r>
                <a:r>
                  <a:rPr lang="pt-BR" dirty="0"/>
                  <a:t>, com coordenadas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pt-BR" dirty="0"/>
                  <a:t>e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</a:t>
                </a:r>
                <a:r>
                  <a:rPr lang="pt-BR" dirty="0"/>
                  <a:t>. O </a:t>
                </a:r>
                <a:r>
                  <a:rPr lang="pt-BR" dirty="0" err="1"/>
                  <a:t>paper</a:t>
                </a:r>
                <a:r>
                  <a:rPr lang="pt-BR" dirty="0"/>
                  <a:t> agrupa todas essas posições na matriz </a:t>
                </a:r>
                <a:r>
                  <a:rPr lang="pt-BR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𝐓</a:t>
                </a:r>
                <a:r>
                  <a:rPr lang="pt-BR" dirty="0"/>
                  <a:t>. Já a posição da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</a:t>
                </a:r>
                <a:r>
                  <a:rPr lang="pt-BR" dirty="0"/>
                  <a:t>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𝑚</a:t>
                </a:r>
                <a:r>
                  <a:rPr lang="pt-BR" dirty="0"/>
                  <a:t>da BS é representada por </a:t>
                </a:r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𝐫_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𝑚</a:t>
                </a:r>
                <a:r>
                  <a:rPr lang="ar-AE" dirty="0"/>
                  <a:t>, </a:t>
                </a:r>
                <a:r>
                  <a:rPr lang="pt-BR" dirty="0"/>
                  <a:t>e todas as posições da BS são agrupadas na matriz </a:t>
                </a:r>
                <a:r>
                  <a:rPr lang="pt-BR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𝐑</a:t>
                </a:r>
                <a:r>
                  <a:rPr lang="pt-BR" dirty="0"/>
                  <a:t>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pt-BR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Outro ponto importante é que o sistema usa </a:t>
                </a:r>
                <a:r>
                  <a:rPr lang="pt-BR" dirty="0" err="1"/>
                  <a:t>space-division</a:t>
                </a:r>
                <a:r>
                  <a:rPr lang="pt-BR" dirty="0"/>
                  <a:t> </a:t>
                </a:r>
                <a:r>
                  <a:rPr lang="pt-BR" dirty="0" err="1"/>
                  <a:t>multiple</a:t>
                </a:r>
                <a:r>
                  <a:rPr lang="pt-BR" dirty="0"/>
                  <a:t> </a:t>
                </a:r>
                <a:r>
                  <a:rPr lang="pt-BR" dirty="0" err="1"/>
                  <a:t>access</a:t>
                </a:r>
                <a:r>
                  <a:rPr lang="pt-BR" dirty="0"/>
                  <a:t>. Isso significa que vários usuários podem se comunicar com a base </a:t>
                </a:r>
                <a:r>
                  <a:rPr lang="pt-BR" dirty="0" err="1"/>
                  <a:t>station</a:t>
                </a:r>
                <a:r>
                  <a:rPr lang="pt-BR" dirty="0"/>
                  <a:t> ao mesmo tempo, explorando separação espacial.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Além disso, existe um servidor no sistema, e esse servidor é quem executa a parte pesada da inferência do </a:t>
                </a:r>
                <a:r>
                  <a:rPr lang="pt-BR" dirty="0" err="1"/>
                  <a:t>large</a:t>
                </a:r>
                <a:r>
                  <a:rPr lang="pt-BR" dirty="0"/>
                  <a:t> model. A outra parte é executada no cliente.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pt-BR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Por fim, o </a:t>
                </a:r>
                <a:r>
                  <a:rPr lang="pt-BR" dirty="0" err="1"/>
                  <a:t>paper</a:t>
                </a:r>
                <a:r>
                  <a:rPr lang="pt-BR" dirty="0"/>
                  <a:t> assume que o tempo necessário para ajustar a posição das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antennas</a:t>
                </a:r>
                <a:r>
                  <a:rPr lang="pt-BR" dirty="0"/>
                  <a:t> é desprezível. Em outras palavras, eles ignoram esse custo mecânico ou físico e consideram apenas o ganho que o reposicionamento traz para o canal e para a taxa de transmissão.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pt-BR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Pense em um painel retangular na BS, e cada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</a:t>
                </a:r>
                <a:r>
                  <a:rPr lang="pt-BR" dirty="0"/>
                  <a:t> pode “andar” nesse painel em duas direções,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pt-BR" dirty="0"/>
                  <a:t>e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</a:t>
                </a:r>
                <a:r>
                  <a:rPr lang="pt-BR" dirty="0"/>
                  <a:t>.</a:t>
                </a:r>
                <a:br>
                  <a:rPr lang="pt-BR" dirty="0"/>
                </a:br>
                <a:r>
                  <a:rPr lang="pt-BR" dirty="0"/>
                  <a:t>a modelagem não está nesse nível discreto de “</a:t>
                </a:r>
                <a:r>
                  <a:rPr lang="pt-BR" dirty="0" err="1"/>
                  <a:t>port</a:t>
                </a:r>
                <a:r>
                  <a:rPr lang="pt-BR" dirty="0"/>
                  <a:t> 1, </a:t>
                </a:r>
                <a:r>
                  <a:rPr lang="pt-BR" dirty="0" err="1"/>
                  <a:t>port</a:t>
                </a:r>
                <a:r>
                  <a:rPr lang="pt-BR" dirty="0"/>
                  <a:t> 2, </a:t>
                </a:r>
                <a:r>
                  <a:rPr lang="pt-BR" dirty="0" err="1"/>
                  <a:t>port</a:t>
                </a:r>
                <a:r>
                  <a:rPr lang="pt-BR" dirty="0"/>
                  <a:t> 3...”, é como uma antena 2d, porém em termos de x e y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D7A139-62B7-F819-03CC-9610895D70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828220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3479E-61F7-C1FA-03A4-C5CFBDA83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6E9EB9-AE43-999C-AB36-BF2284239B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B11C5C9D-0976-2406-5F91-172F88B697F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pt-BR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A posição das antenas é variável importante porque, neste </a:t>
                </a:r>
                <a:r>
                  <a:rPr lang="pt-BR" dirty="0" err="1"/>
                  <a:t>paper</a:t>
                </a:r>
                <a:r>
                  <a:rPr lang="pt-BR" dirty="0"/>
                  <a:t>, a BS não é um arranjo fixo tradicional. As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antennas</a:t>
                </a:r>
                <a:r>
                  <a:rPr lang="pt-BR" dirty="0"/>
                  <a:t> podem se mover dentro de um painel. Isso altera o canal sem fio. Então, diferente de um sistema MIMO convencional em que a geometria é fixa, aqui a geometria da BS é parte do problema de otimização.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Aqui no lado esquerdo do slide estão as definições matemáticas das posições dessas antenas. O vetor </a:t>
                </a:r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𝐭_(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𝑢,𝑎</a:t>
                </a:r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)</a:t>
                </a:r>
                <a:r>
                  <a:rPr lang="pt-BR" dirty="0"/>
                  <a:t>representa a posição da antena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𝑎</a:t>
                </a:r>
                <a:r>
                  <a:rPr lang="pt-BR" dirty="0"/>
                  <a:t>do usuário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𝑢</a:t>
                </a:r>
                <a:r>
                  <a:rPr lang="pt-BR" dirty="0"/>
                  <a:t>, com coordenadas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pt-BR" dirty="0"/>
                  <a:t>e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</a:t>
                </a:r>
                <a:r>
                  <a:rPr lang="pt-BR" dirty="0"/>
                  <a:t>. O </a:t>
                </a:r>
                <a:r>
                  <a:rPr lang="pt-BR" dirty="0" err="1"/>
                  <a:t>paper</a:t>
                </a:r>
                <a:r>
                  <a:rPr lang="pt-BR" dirty="0"/>
                  <a:t> agrupa todas essas posições na matriz </a:t>
                </a:r>
                <a:r>
                  <a:rPr lang="pt-BR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𝐓</a:t>
                </a:r>
                <a:r>
                  <a:rPr lang="pt-BR" dirty="0"/>
                  <a:t>. Já a posição da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</a:t>
                </a:r>
                <a:r>
                  <a:rPr lang="pt-BR" dirty="0"/>
                  <a:t>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𝑚</a:t>
                </a:r>
                <a:r>
                  <a:rPr lang="pt-BR" dirty="0"/>
                  <a:t>da BS é representada por </a:t>
                </a:r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𝐫_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𝑚</a:t>
                </a:r>
                <a:r>
                  <a:rPr lang="ar-AE" dirty="0"/>
                  <a:t>, </a:t>
                </a:r>
                <a:r>
                  <a:rPr lang="pt-BR" dirty="0"/>
                  <a:t>e todas as posições da BS são agrupadas na matriz </a:t>
                </a:r>
                <a:r>
                  <a:rPr lang="pt-BR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𝐑</a:t>
                </a:r>
                <a:r>
                  <a:rPr lang="pt-BR" dirty="0"/>
                  <a:t>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pt-BR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Outro ponto importante é que o sistema usa </a:t>
                </a:r>
                <a:r>
                  <a:rPr lang="pt-BR" dirty="0" err="1"/>
                  <a:t>space-division</a:t>
                </a:r>
                <a:r>
                  <a:rPr lang="pt-BR" dirty="0"/>
                  <a:t> </a:t>
                </a:r>
                <a:r>
                  <a:rPr lang="pt-BR" dirty="0" err="1"/>
                  <a:t>multiple</a:t>
                </a:r>
                <a:r>
                  <a:rPr lang="pt-BR" dirty="0"/>
                  <a:t> </a:t>
                </a:r>
                <a:r>
                  <a:rPr lang="pt-BR" dirty="0" err="1"/>
                  <a:t>access</a:t>
                </a:r>
                <a:r>
                  <a:rPr lang="pt-BR" dirty="0"/>
                  <a:t>. Isso significa que vários usuários podem se comunicar com a base </a:t>
                </a:r>
                <a:r>
                  <a:rPr lang="pt-BR" dirty="0" err="1"/>
                  <a:t>station</a:t>
                </a:r>
                <a:r>
                  <a:rPr lang="pt-BR" dirty="0"/>
                  <a:t> ao mesmo tempo, explorando separação espacial.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Além disso, existe um servidor no sistema, e esse servidor é quem executa a parte pesada da inferência do </a:t>
                </a:r>
                <a:r>
                  <a:rPr lang="pt-BR" dirty="0" err="1"/>
                  <a:t>large</a:t>
                </a:r>
                <a:r>
                  <a:rPr lang="pt-BR" dirty="0"/>
                  <a:t> model. A outra parte é executada no cliente.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pt-BR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Por fim, o </a:t>
                </a:r>
                <a:r>
                  <a:rPr lang="pt-BR" dirty="0" err="1"/>
                  <a:t>paper</a:t>
                </a:r>
                <a:r>
                  <a:rPr lang="pt-BR" dirty="0"/>
                  <a:t> assume que o tempo necessário para ajustar a posição das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antennas</a:t>
                </a:r>
                <a:r>
                  <a:rPr lang="pt-BR" dirty="0"/>
                  <a:t> é desprezível. Em outras palavras, eles ignoram esse custo mecânico ou físico e consideram apenas o ganho que o reposicionamento traz para o canal e para a taxa de transmissão.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pt-BR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Pense em um painel retangular na BS, e cada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</a:t>
                </a:r>
                <a:r>
                  <a:rPr lang="pt-BR" dirty="0"/>
                  <a:t> pode “andar” nesse painel em duas direções,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pt-BR" dirty="0"/>
                  <a:t>e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</a:t>
                </a:r>
                <a:r>
                  <a:rPr lang="pt-BR" dirty="0"/>
                  <a:t>.</a:t>
                </a:r>
                <a:br>
                  <a:rPr lang="pt-BR" dirty="0"/>
                </a:br>
                <a:r>
                  <a:rPr lang="pt-BR" dirty="0"/>
                  <a:t>a modelagem não está nesse nível discreto de “</a:t>
                </a:r>
                <a:r>
                  <a:rPr lang="pt-BR" dirty="0" err="1"/>
                  <a:t>port</a:t>
                </a:r>
                <a:r>
                  <a:rPr lang="pt-BR" dirty="0"/>
                  <a:t> 1, </a:t>
                </a:r>
                <a:r>
                  <a:rPr lang="pt-BR" dirty="0" err="1"/>
                  <a:t>port</a:t>
                </a:r>
                <a:r>
                  <a:rPr lang="pt-BR" dirty="0"/>
                  <a:t> 2, </a:t>
                </a:r>
                <a:r>
                  <a:rPr lang="pt-BR" dirty="0" err="1"/>
                  <a:t>port</a:t>
                </a:r>
                <a:r>
                  <a:rPr lang="pt-BR" dirty="0"/>
                  <a:t> 3...”, é como uma antena 2d, porém em termos de x e y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C3791C-8A93-38DF-388C-A463D4BA07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283808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3F458-8A82-5C05-3045-BD7ECB92B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92D0B7-DD4C-1B87-4DDE-C25772BD63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AE5D5178-8D6A-A791-F4D8-5095A87FFAD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pt-BR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A posição das antenas é variável importante porque, neste </a:t>
                </a:r>
                <a:r>
                  <a:rPr lang="pt-BR" dirty="0" err="1"/>
                  <a:t>paper</a:t>
                </a:r>
                <a:r>
                  <a:rPr lang="pt-BR" dirty="0"/>
                  <a:t>, a BS não é um arranjo fixo tradicional. As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antennas</a:t>
                </a:r>
                <a:r>
                  <a:rPr lang="pt-BR" dirty="0"/>
                  <a:t> podem se mover dentro de um painel. Isso altera o canal sem fio. Então, diferente de um sistema MIMO convencional em que a geometria é fixa, aqui a geometria da BS é parte do problema de otimização.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Aqui no lado esquerdo do slide estão as definições matemáticas das posições dessas antenas. O vetor </a:t>
                </a:r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𝐭_(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𝑢,𝑎</a:t>
                </a:r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)</a:t>
                </a:r>
                <a:r>
                  <a:rPr lang="pt-BR" dirty="0"/>
                  <a:t>representa a posição da antena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𝑎</a:t>
                </a:r>
                <a:r>
                  <a:rPr lang="pt-BR" dirty="0"/>
                  <a:t>do usuário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𝑢</a:t>
                </a:r>
                <a:r>
                  <a:rPr lang="pt-BR" dirty="0"/>
                  <a:t>, com coordenadas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pt-BR" dirty="0"/>
                  <a:t>e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</a:t>
                </a:r>
                <a:r>
                  <a:rPr lang="pt-BR" dirty="0"/>
                  <a:t>. O </a:t>
                </a:r>
                <a:r>
                  <a:rPr lang="pt-BR" dirty="0" err="1"/>
                  <a:t>paper</a:t>
                </a:r>
                <a:r>
                  <a:rPr lang="pt-BR" dirty="0"/>
                  <a:t> agrupa todas essas posições na matriz </a:t>
                </a:r>
                <a:r>
                  <a:rPr lang="pt-BR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𝐓</a:t>
                </a:r>
                <a:r>
                  <a:rPr lang="pt-BR" dirty="0"/>
                  <a:t>. Já a posição da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</a:t>
                </a:r>
                <a:r>
                  <a:rPr lang="pt-BR" dirty="0"/>
                  <a:t>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𝑚</a:t>
                </a:r>
                <a:r>
                  <a:rPr lang="pt-BR" dirty="0"/>
                  <a:t>da BS é representada por </a:t>
                </a:r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𝐫_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𝑚</a:t>
                </a:r>
                <a:r>
                  <a:rPr lang="ar-AE" dirty="0"/>
                  <a:t>, </a:t>
                </a:r>
                <a:r>
                  <a:rPr lang="pt-BR" dirty="0"/>
                  <a:t>e todas as posições da BS são agrupadas na matriz </a:t>
                </a:r>
                <a:r>
                  <a:rPr lang="pt-BR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𝐑</a:t>
                </a:r>
                <a:r>
                  <a:rPr lang="pt-BR" dirty="0"/>
                  <a:t>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pt-BR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Outro ponto importante é que o sistema usa </a:t>
                </a:r>
                <a:r>
                  <a:rPr lang="pt-BR" dirty="0" err="1"/>
                  <a:t>space-division</a:t>
                </a:r>
                <a:r>
                  <a:rPr lang="pt-BR" dirty="0"/>
                  <a:t> </a:t>
                </a:r>
                <a:r>
                  <a:rPr lang="pt-BR" dirty="0" err="1"/>
                  <a:t>multiple</a:t>
                </a:r>
                <a:r>
                  <a:rPr lang="pt-BR" dirty="0"/>
                  <a:t> </a:t>
                </a:r>
                <a:r>
                  <a:rPr lang="pt-BR" dirty="0" err="1"/>
                  <a:t>access</a:t>
                </a:r>
                <a:r>
                  <a:rPr lang="pt-BR" dirty="0"/>
                  <a:t>. Isso significa que vários usuários podem se comunicar com a base </a:t>
                </a:r>
                <a:r>
                  <a:rPr lang="pt-BR" dirty="0" err="1"/>
                  <a:t>station</a:t>
                </a:r>
                <a:r>
                  <a:rPr lang="pt-BR" dirty="0"/>
                  <a:t> ao mesmo tempo, explorando separação espacial.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Além disso, existe um servidor no sistema, e esse servidor é quem executa a parte pesada da inferência do </a:t>
                </a:r>
                <a:r>
                  <a:rPr lang="pt-BR" dirty="0" err="1"/>
                  <a:t>large</a:t>
                </a:r>
                <a:r>
                  <a:rPr lang="pt-BR" dirty="0"/>
                  <a:t> model. A outra parte é executada no cliente.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pt-BR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Por fim, o </a:t>
                </a:r>
                <a:r>
                  <a:rPr lang="pt-BR" dirty="0" err="1"/>
                  <a:t>paper</a:t>
                </a:r>
                <a:r>
                  <a:rPr lang="pt-BR" dirty="0"/>
                  <a:t> assume que o tempo necessário para ajustar a posição das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antennas</a:t>
                </a:r>
                <a:r>
                  <a:rPr lang="pt-BR" dirty="0"/>
                  <a:t> é desprezível. Em outras palavras, eles ignoram esse custo mecânico ou físico e consideram apenas o ganho que o reposicionamento traz para o canal e para a taxa de transmissão.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pt-BR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Pense em um painel retangular na BS, e cada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</a:t>
                </a:r>
                <a:r>
                  <a:rPr lang="pt-BR" dirty="0"/>
                  <a:t> pode “andar” nesse painel em duas direções,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pt-BR" dirty="0"/>
                  <a:t>e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</a:t>
                </a:r>
                <a:r>
                  <a:rPr lang="pt-BR" dirty="0"/>
                  <a:t>.</a:t>
                </a:r>
                <a:br>
                  <a:rPr lang="pt-BR" dirty="0"/>
                </a:br>
                <a:r>
                  <a:rPr lang="pt-BR" dirty="0"/>
                  <a:t>a modelagem não está nesse nível discreto de “</a:t>
                </a:r>
                <a:r>
                  <a:rPr lang="pt-BR" dirty="0" err="1"/>
                  <a:t>port</a:t>
                </a:r>
                <a:r>
                  <a:rPr lang="pt-BR" dirty="0"/>
                  <a:t> 1, </a:t>
                </a:r>
                <a:r>
                  <a:rPr lang="pt-BR" dirty="0" err="1"/>
                  <a:t>port</a:t>
                </a:r>
                <a:r>
                  <a:rPr lang="pt-BR" dirty="0"/>
                  <a:t> 2, </a:t>
                </a:r>
                <a:r>
                  <a:rPr lang="pt-BR" dirty="0" err="1"/>
                  <a:t>port</a:t>
                </a:r>
                <a:r>
                  <a:rPr lang="pt-BR" dirty="0"/>
                  <a:t> 3...”, é como uma antena 2d, porém em termos de x e y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274E79-2B79-5372-580A-1F70B3E546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49066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245CF-1F2A-F82B-B710-BC95A18A0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76C797-BDB6-46A5-89AE-57C5F0FF03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23EA9425-5404-09DE-F170-E0C743FA287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pt-BR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A posição das antenas é variável importante porque, neste </a:t>
                </a:r>
                <a:r>
                  <a:rPr lang="pt-BR" dirty="0" err="1"/>
                  <a:t>paper</a:t>
                </a:r>
                <a:r>
                  <a:rPr lang="pt-BR" dirty="0"/>
                  <a:t>, a BS não é um arranjo fixo tradicional. As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antennas</a:t>
                </a:r>
                <a:r>
                  <a:rPr lang="pt-BR" dirty="0"/>
                  <a:t> podem se mover dentro de um painel. Isso altera o canal sem fio. Então, diferente de um sistema MIMO convencional em que a geometria é fixa, aqui a geometria da BS é parte do problema de otimização.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Aqui no lado esquerdo do slide estão as definições matemáticas das posições dessas antenas. O vetor </a:t>
                </a:r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𝐭_(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𝑢,𝑎</a:t>
                </a:r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)</a:t>
                </a:r>
                <a:r>
                  <a:rPr lang="pt-BR" dirty="0"/>
                  <a:t>representa a posição da antena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𝑎</a:t>
                </a:r>
                <a:r>
                  <a:rPr lang="pt-BR" dirty="0"/>
                  <a:t>do usuário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𝑢</a:t>
                </a:r>
                <a:r>
                  <a:rPr lang="pt-BR" dirty="0"/>
                  <a:t>, com coordenadas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pt-BR" dirty="0"/>
                  <a:t>e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</a:t>
                </a:r>
                <a:r>
                  <a:rPr lang="pt-BR" dirty="0"/>
                  <a:t>. O </a:t>
                </a:r>
                <a:r>
                  <a:rPr lang="pt-BR" dirty="0" err="1"/>
                  <a:t>paper</a:t>
                </a:r>
                <a:r>
                  <a:rPr lang="pt-BR" dirty="0"/>
                  <a:t> agrupa todas essas posições na matriz </a:t>
                </a:r>
                <a:r>
                  <a:rPr lang="pt-BR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𝐓</a:t>
                </a:r>
                <a:r>
                  <a:rPr lang="pt-BR" dirty="0"/>
                  <a:t>. Já a posição da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</a:t>
                </a:r>
                <a:r>
                  <a:rPr lang="pt-BR" dirty="0"/>
                  <a:t>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𝑚</a:t>
                </a:r>
                <a:r>
                  <a:rPr lang="pt-BR" dirty="0"/>
                  <a:t>da BS é representada por </a:t>
                </a:r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𝐫_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𝑚</a:t>
                </a:r>
                <a:r>
                  <a:rPr lang="ar-AE" dirty="0"/>
                  <a:t>, </a:t>
                </a:r>
                <a:r>
                  <a:rPr lang="pt-BR" dirty="0"/>
                  <a:t>e todas as posições da BS são agrupadas na matriz </a:t>
                </a:r>
                <a:r>
                  <a:rPr lang="pt-BR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𝐑</a:t>
                </a:r>
                <a:r>
                  <a:rPr lang="pt-BR" dirty="0"/>
                  <a:t>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pt-BR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Outro ponto importante é que o sistema usa </a:t>
                </a:r>
                <a:r>
                  <a:rPr lang="pt-BR" dirty="0" err="1"/>
                  <a:t>space-division</a:t>
                </a:r>
                <a:r>
                  <a:rPr lang="pt-BR" dirty="0"/>
                  <a:t> </a:t>
                </a:r>
                <a:r>
                  <a:rPr lang="pt-BR" dirty="0" err="1"/>
                  <a:t>multiple</a:t>
                </a:r>
                <a:r>
                  <a:rPr lang="pt-BR" dirty="0"/>
                  <a:t> </a:t>
                </a:r>
                <a:r>
                  <a:rPr lang="pt-BR" dirty="0" err="1"/>
                  <a:t>access</a:t>
                </a:r>
                <a:r>
                  <a:rPr lang="pt-BR" dirty="0"/>
                  <a:t>. Isso significa que vários usuários podem se comunicar com a base </a:t>
                </a:r>
                <a:r>
                  <a:rPr lang="pt-BR" dirty="0" err="1"/>
                  <a:t>station</a:t>
                </a:r>
                <a:r>
                  <a:rPr lang="pt-BR" dirty="0"/>
                  <a:t> ao mesmo tempo, explorando separação espacial.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Além disso, existe um servidor no sistema, e esse servidor é quem executa a parte pesada da inferência do </a:t>
                </a:r>
                <a:r>
                  <a:rPr lang="pt-BR" dirty="0" err="1"/>
                  <a:t>large</a:t>
                </a:r>
                <a:r>
                  <a:rPr lang="pt-BR" dirty="0"/>
                  <a:t> model. A outra parte é executada no cliente.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pt-BR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Por fim, o </a:t>
                </a:r>
                <a:r>
                  <a:rPr lang="pt-BR" dirty="0" err="1"/>
                  <a:t>paper</a:t>
                </a:r>
                <a:r>
                  <a:rPr lang="pt-BR" dirty="0"/>
                  <a:t> assume que o tempo necessário para ajustar a posição das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antennas</a:t>
                </a:r>
                <a:r>
                  <a:rPr lang="pt-BR" dirty="0"/>
                  <a:t> é desprezível. Em outras palavras, eles ignoram esse custo mecânico ou físico e consideram apenas o ganho que o reposicionamento traz para o canal e para a taxa de transmissão.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pt-BR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Pense em um painel retangular na BS, e cada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</a:t>
                </a:r>
                <a:r>
                  <a:rPr lang="pt-BR" dirty="0"/>
                  <a:t> pode “andar” nesse painel em duas direções,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pt-BR" dirty="0"/>
                  <a:t>e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</a:t>
                </a:r>
                <a:r>
                  <a:rPr lang="pt-BR" dirty="0"/>
                  <a:t>.</a:t>
                </a:r>
                <a:br>
                  <a:rPr lang="pt-BR" dirty="0"/>
                </a:br>
                <a:r>
                  <a:rPr lang="pt-BR" dirty="0"/>
                  <a:t>a modelagem não está nesse nível discreto de “</a:t>
                </a:r>
                <a:r>
                  <a:rPr lang="pt-BR" dirty="0" err="1"/>
                  <a:t>port</a:t>
                </a:r>
                <a:r>
                  <a:rPr lang="pt-BR" dirty="0"/>
                  <a:t> 1, </a:t>
                </a:r>
                <a:r>
                  <a:rPr lang="pt-BR" dirty="0" err="1"/>
                  <a:t>port</a:t>
                </a:r>
                <a:r>
                  <a:rPr lang="pt-BR" dirty="0"/>
                  <a:t> 2, </a:t>
                </a:r>
                <a:r>
                  <a:rPr lang="pt-BR" dirty="0" err="1"/>
                  <a:t>port</a:t>
                </a:r>
                <a:r>
                  <a:rPr lang="pt-BR" dirty="0"/>
                  <a:t> 3...”, é como uma antena 2d, porém em termos de x e y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AD079E-5307-56AF-FACE-FA1251C0B9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90256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E8CD7-1F10-9C70-E786-AF3433C41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7F34A8-FFB8-F734-D736-392FC58D7A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71D0557A-33E6-708D-D99F-451F245A989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pt-BR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A posição das antenas é variável importante porque, neste </a:t>
                </a:r>
                <a:r>
                  <a:rPr lang="pt-BR" dirty="0" err="1"/>
                  <a:t>paper</a:t>
                </a:r>
                <a:r>
                  <a:rPr lang="pt-BR" dirty="0"/>
                  <a:t>, a BS não é um arranjo fixo tradicional. As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antennas</a:t>
                </a:r>
                <a:r>
                  <a:rPr lang="pt-BR" dirty="0"/>
                  <a:t> podem se mover dentro de um painel. Isso altera o canal sem fio. Então, diferente de um sistema MIMO convencional em que a geometria é fixa, aqui a geometria da BS é parte do problema de otimização.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Aqui no lado esquerdo do slide estão as definições matemáticas das posições dessas antenas. O vetor </a:t>
                </a:r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𝐭_(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𝑢,𝑎</a:t>
                </a:r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)</a:t>
                </a:r>
                <a:r>
                  <a:rPr lang="pt-BR" dirty="0"/>
                  <a:t>representa a posição da antena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𝑎</a:t>
                </a:r>
                <a:r>
                  <a:rPr lang="pt-BR" dirty="0"/>
                  <a:t>do usuário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𝑢</a:t>
                </a:r>
                <a:r>
                  <a:rPr lang="pt-BR" dirty="0"/>
                  <a:t>, com coordenadas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pt-BR" dirty="0"/>
                  <a:t>e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</a:t>
                </a:r>
                <a:r>
                  <a:rPr lang="pt-BR" dirty="0"/>
                  <a:t>. O </a:t>
                </a:r>
                <a:r>
                  <a:rPr lang="pt-BR" dirty="0" err="1"/>
                  <a:t>paper</a:t>
                </a:r>
                <a:r>
                  <a:rPr lang="pt-BR" dirty="0"/>
                  <a:t> agrupa todas essas posições na matriz </a:t>
                </a:r>
                <a:r>
                  <a:rPr lang="pt-BR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𝐓</a:t>
                </a:r>
                <a:r>
                  <a:rPr lang="pt-BR" dirty="0"/>
                  <a:t>. Já a posição da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</a:t>
                </a:r>
                <a:r>
                  <a:rPr lang="pt-BR" dirty="0"/>
                  <a:t>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𝑚</a:t>
                </a:r>
                <a:r>
                  <a:rPr lang="pt-BR" dirty="0"/>
                  <a:t>da BS é representada por </a:t>
                </a:r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𝐫_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𝑚</a:t>
                </a:r>
                <a:r>
                  <a:rPr lang="ar-AE" dirty="0"/>
                  <a:t>, </a:t>
                </a:r>
                <a:r>
                  <a:rPr lang="pt-BR" dirty="0"/>
                  <a:t>e todas as posições da BS são agrupadas na matriz </a:t>
                </a:r>
                <a:r>
                  <a:rPr lang="pt-BR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𝐑</a:t>
                </a:r>
                <a:r>
                  <a:rPr lang="pt-BR" dirty="0"/>
                  <a:t>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pt-BR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Outro ponto importante é que o sistema usa </a:t>
                </a:r>
                <a:r>
                  <a:rPr lang="pt-BR" dirty="0" err="1"/>
                  <a:t>space-division</a:t>
                </a:r>
                <a:r>
                  <a:rPr lang="pt-BR" dirty="0"/>
                  <a:t> </a:t>
                </a:r>
                <a:r>
                  <a:rPr lang="pt-BR" dirty="0" err="1"/>
                  <a:t>multiple</a:t>
                </a:r>
                <a:r>
                  <a:rPr lang="pt-BR" dirty="0"/>
                  <a:t> </a:t>
                </a:r>
                <a:r>
                  <a:rPr lang="pt-BR" dirty="0" err="1"/>
                  <a:t>access</a:t>
                </a:r>
                <a:r>
                  <a:rPr lang="pt-BR" dirty="0"/>
                  <a:t>. Isso significa que vários usuários podem se comunicar com a base </a:t>
                </a:r>
                <a:r>
                  <a:rPr lang="pt-BR" dirty="0" err="1"/>
                  <a:t>station</a:t>
                </a:r>
                <a:r>
                  <a:rPr lang="pt-BR" dirty="0"/>
                  <a:t> ao mesmo tempo, explorando separação espacial.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Além disso, existe um servidor no sistema, e esse servidor é quem executa a parte pesada da inferência do </a:t>
                </a:r>
                <a:r>
                  <a:rPr lang="pt-BR" dirty="0" err="1"/>
                  <a:t>large</a:t>
                </a:r>
                <a:r>
                  <a:rPr lang="pt-BR" dirty="0"/>
                  <a:t> model. A outra parte é executada no cliente.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pt-BR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Por fim, o </a:t>
                </a:r>
                <a:r>
                  <a:rPr lang="pt-BR" dirty="0" err="1"/>
                  <a:t>paper</a:t>
                </a:r>
                <a:r>
                  <a:rPr lang="pt-BR" dirty="0"/>
                  <a:t> assume que o tempo necessário para ajustar a posição das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antennas</a:t>
                </a:r>
                <a:r>
                  <a:rPr lang="pt-BR" dirty="0"/>
                  <a:t> é desprezível. Em outras palavras, eles ignoram esse custo mecânico ou físico e consideram apenas o ganho que o reposicionamento traz para o canal e para a taxa de transmissão.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pt-BR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Pense em um painel retangular na BS, e cada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</a:t>
                </a:r>
                <a:r>
                  <a:rPr lang="pt-BR" dirty="0"/>
                  <a:t> pode “andar” nesse painel em duas direções,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pt-BR" dirty="0"/>
                  <a:t>e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</a:t>
                </a:r>
                <a:r>
                  <a:rPr lang="pt-BR" dirty="0"/>
                  <a:t>.</a:t>
                </a:r>
                <a:br>
                  <a:rPr lang="pt-BR" dirty="0"/>
                </a:br>
                <a:r>
                  <a:rPr lang="pt-BR" dirty="0"/>
                  <a:t>a modelagem não está nesse nível discreto de “</a:t>
                </a:r>
                <a:r>
                  <a:rPr lang="pt-BR" dirty="0" err="1"/>
                  <a:t>port</a:t>
                </a:r>
                <a:r>
                  <a:rPr lang="pt-BR" dirty="0"/>
                  <a:t> 1, </a:t>
                </a:r>
                <a:r>
                  <a:rPr lang="pt-BR" dirty="0" err="1"/>
                  <a:t>port</a:t>
                </a:r>
                <a:r>
                  <a:rPr lang="pt-BR" dirty="0"/>
                  <a:t> 2, </a:t>
                </a:r>
                <a:r>
                  <a:rPr lang="pt-BR" dirty="0" err="1"/>
                  <a:t>port</a:t>
                </a:r>
                <a:r>
                  <a:rPr lang="pt-BR" dirty="0"/>
                  <a:t> 3...”, é como uma antena 2d, porém em termos de x e y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B3BB70-D74F-C75B-8E02-29CBBD9EC4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728690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EF198-BBA0-1729-FC2B-3F2297C34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F030D9-A8C0-34EC-4B86-55F5487976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9E30E5D5-AC1A-34A2-BD68-8F25192A92FD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pt-BR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A posição das antenas é variável importante porque, neste </a:t>
                </a:r>
                <a:r>
                  <a:rPr lang="pt-BR" dirty="0" err="1"/>
                  <a:t>paper</a:t>
                </a:r>
                <a:r>
                  <a:rPr lang="pt-BR" dirty="0"/>
                  <a:t>, a BS não é um arranjo fixo tradicional. As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antennas</a:t>
                </a:r>
                <a:r>
                  <a:rPr lang="pt-BR" dirty="0"/>
                  <a:t> podem se mover dentro de um painel. Isso altera o canal sem fio. Então, diferente de um sistema MIMO convencional em que a geometria é fixa, aqui a geometria da BS é parte do problema de otimização.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Aqui no lado esquerdo do slide estão as definições matemáticas das posições dessas antenas. O vetor </a:t>
                </a:r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𝐭_(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𝑢,𝑎</a:t>
                </a:r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)</a:t>
                </a:r>
                <a:r>
                  <a:rPr lang="pt-BR" dirty="0"/>
                  <a:t>representa a posição da antena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𝑎</a:t>
                </a:r>
                <a:r>
                  <a:rPr lang="pt-BR" dirty="0"/>
                  <a:t>do usuário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𝑢</a:t>
                </a:r>
                <a:r>
                  <a:rPr lang="pt-BR" dirty="0"/>
                  <a:t>, com coordenadas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pt-BR" dirty="0"/>
                  <a:t>e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</a:t>
                </a:r>
                <a:r>
                  <a:rPr lang="pt-BR" dirty="0"/>
                  <a:t>. O </a:t>
                </a:r>
                <a:r>
                  <a:rPr lang="pt-BR" dirty="0" err="1"/>
                  <a:t>paper</a:t>
                </a:r>
                <a:r>
                  <a:rPr lang="pt-BR" dirty="0"/>
                  <a:t> agrupa todas essas posições na matriz </a:t>
                </a:r>
                <a:r>
                  <a:rPr lang="pt-BR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𝐓</a:t>
                </a:r>
                <a:r>
                  <a:rPr lang="pt-BR" dirty="0"/>
                  <a:t>. Já a posição da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</a:t>
                </a:r>
                <a:r>
                  <a:rPr lang="pt-BR" dirty="0"/>
                  <a:t>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𝑚</a:t>
                </a:r>
                <a:r>
                  <a:rPr lang="pt-BR" dirty="0"/>
                  <a:t>da BS é representada por </a:t>
                </a:r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𝐫_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𝑚</a:t>
                </a:r>
                <a:r>
                  <a:rPr lang="ar-AE" dirty="0"/>
                  <a:t>, </a:t>
                </a:r>
                <a:r>
                  <a:rPr lang="pt-BR" dirty="0"/>
                  <a:t>e todas as posições da BS são agrupadas na matriz </a:t>
                </a:r>
                <a:r>
                  <a:rPr lang="pt-BR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𝐑</a:t>
                </a:r>
                <a:r>
                  <a:rPr lang="pt-BR" dirty="0"/>
                  <a:t>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pt-BR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Outro ponto importante é que o sistema usa </a:t>
                </a:r>
                <a:r>
                  <a:rPr lang="pt-BR" dirty="0" err="1"/>
                  <a:t>space-division</a:t>
                </a:r>
                <a:r>
                  <a:rPr lang="pt-BR" dirty="0"/>
                  <a:t> </a:t>
                </a:r>
                <a:r>
                  <a:rPr lang="pt-BR" dirty="0" err="1"/>
                  <a:t>multiple</a:t>
                </a:r>
                <a:r>
                  <a:rPr lang="pt-BR" dirty="0"/>
                  <a:t> </a:t>
                </a:r>
                <a:r>
                  <a:rPr lang="pt-BR" dirty="0" err="1"/>
                  <a:t>access</a:t>
                </a:r>
                <a:r>
                  <a:rPr lang="pt-BR" dirty="0"/>
                  <a:t>. Isso significa que vários usuários podem se comunicar com a base </a:t>
                </a:r>
                <a:r>
                  <a:rPr lang="pt-BR" dirty="0" err="1"/>
                  <a:t>station</a:t>
                </a:r>
                <a:r>
                  <a:rPr lang="pt-BR" dirty="0"/>
                  <a:t> ao mesmo tempo, explorando separação espacial.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Além disso, existe um servidor no sistema, e esse servidor é quem executa a parte pesada da inferência do </a:t>
                </a:r>
                <a:r>
                  <a:rPr lang="pt-BR" dirty="0" err="1"/>
                  <a:t>large</a:t>
                </a:r>
                <a:r>
                  <a:rPr lang="pt-BR" dirty="0"/>
                  <a:t> model. A outra parte é executada no cliente.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pt-BR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Por fim, o </a:t>
                </a:r>
                <a:r>
                  <a:rPr lang="pt-BR" dirty="0" err="1"/>
                  <a:t>paper</a:t>
                </a:r>
                <a:r>
                  <a:rPr lang="pt-BR" dirty="0"/>
                  <a:t> assume que o tempo necessário para ajustar a posição das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antennas</a:t>
                </a:r>
                <a:r>
                  <a:rPr lang="pt-BR" dirty="0"/>
                  <a:t> é desprezível. Em outras palavras, eles ignoram esse custo mecânico ou físico e consideram apenas o ganho que o reposicionamento traz para o canal e para a taxa de transmissão.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pt-BR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Pense em um painel retangular na BS, e cada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</a:t>
                </a:r>
                <a:r>
                  <a:rPr lang="pt-BR" dirty="0"/>
                  <a:t> pode “andar” nesse painel em duas direções,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pt-BR" dirty="0"/>
                  <a:t>e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</a:t>
                </a:r>
                <a:r>
                  <a:rPr lang="pt-BR" dirty="0"/>
                  <a:t>.</a:t>
                </a:r>
                <a:br>
                  <a:rPr lang="pt-BR" dirty="0"/>
                </a:br>
                <a:r>
                  <a:rPr lang="pt-BR" dirty="0"/>
                  <a:t>a modelagem não está nesse nível discreto de “</a:t>
                </a:r>
                <a:r>
                  <a:rPr lang="pt-BR" dirty="0" err="1"/>
                  <a:t>port</a:t>
                </a:r>
                <a:r>
                  <a:rPr lang="pt-BR" dirty="0"/>
                  <a:t> 1, </a:t>
                </a:r>
                <a:r>
                  <a:rPr lang="pt-BR" dirty="0" err="1"/>
                  <a:t>port</a:t>
                </a:r>
                <a:r>
                  <a:rPr lang="pt-BR" dirty="0"/>
                  <a:t> 2, </a:t>
                </a:r>
                <a:r>
                  <a:rPr lang="pt-BR" dirty="0" err="1"/>
                  <a:t>port</a:t>
                </a:r>
                <a:r>
                  <a:rPr lang="pt-BR" dirty="0"/>
                  <a:t> 3...”, é como uma antena 2d, porém em termos de x e y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47EAB0-5AF3-DCB7-5D23-853ED57034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029627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89EED-6F3B-BA7B-9B4E-8D7D8BF1F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76D645-9825-ABEA-5776-76F403BCED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3079959E-7093-1EC2-23B4-A04CBF19B12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pt-BR" dirty="0" err="1"/>
                  <a:t>Hyperband</a:t>
                </a:r>
                <a:r>
                  <a:rPr lang="pt-BR" dirty="0"/>
                  <a:t> não teve o ganho esperado porque o ranking das arquiteturas em 4, 12 ou 36 épocas nem sempre corresponde ao ranking final em 108 épocas. Assim, o método pode descartar cedo arquiteturas que só teriam bom desempenho após treinamento mais longo.</a:t>
                </a: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A posição das antenas é variável importante porque, neste </a:t>
                </a:r>
                <a:r>
                  <a:rPr lang="pt-BR" dirty="0" err="1"/>
                  <a:t>paper</a:t>
                </a:r>
                <a:r>
                  <a:rPr lang="pt-BR" dirty="0"/>
                  <a:t>, a BS não é um arranjo fixo tradicional. As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antennas</a:t>
                </a:r>
                <a:r>
                  <a:rPr lang="pt-BR" dirty="0"/>
                  <a:t> podem se mover dentro de um painel. Isso altera o canal sem fio. Então, diferente de um sistema MIMO convencional em que a geometria é fixa, aqui a geometria da BS é parte do problema de otimização.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Aqui no lado esquerdo do slide estão as definições matemáticas das posições dessas antenas. O vetor </a:t>
                </a:r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𝐭_(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𝑢,𝑎</a:t>
                </a:r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)</a:t>
                </a:r>
                <a:r>
                  <a:rPr lang="pt-BR" dirty="0"/>
                  <a:t>representa a posição da antena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𝑎</a:t>
                </a:r>
                <a:r>
                  <a:rPr lang="pt-BR" dirty="0"/>
                  <a:t>do usuário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𝑢</a:t>
                </a:r>
                <a:r>
                  <a:rPr lang="pt-BR" dirty="0"/>
                  <a:t>, com coordenadas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pt-BR" dirty="0"/>
                  <a:t>e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</a:t>
                </a:r>
                <a:r>
                  <a:rPr lang="pt-BR" dirty="0"/>
                  <a:t>. O </a:t>
                </a:r>
                <a:r>
                  <a:rPr lang="pt-BR" dirty="0" err="1"/>
                  <a:t>paper</a:t>
                </a:r>
                <a:r>
                  <a:rPr lang="pt-BR" dirty="0"/>
                  <a:t> agrupa todas essas posições na matriz </a:t>
                </a:r>
                <a:r>
                  <a:rPr lang="pt-BR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𝐓</a:t>
                </a:r>
                <a:r>
                  <a:rPr lang="pt-BR" dirty="0"/>
                  <a:t>. Já a posição da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</a:t>
                </a:r>
                <a:r>
                  <a:rPr lang="pt-BR" dirty="0"/>
                  <a:t>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𝑚</a:t>
                </a:r>
                <a:r>
                  <a:rPr lang="pt-BR" dirty="0"/>
                  <a:t>da BS é representada por </a:t>
                </a:r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𝐫_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𝑚</a:t>
                </a:r>
                <a:r>
                  <a:rPr lang="ar-AE" dirty="0"/>
                  <a:t>, </a:t>
                </a:r>
                <a:r>
                  <a:rPr lang="pt-BR" dirty="0"/>
                  <a:t>e todas as posições da BS são agrupadas na matriz </a:t>
                </a:r>
                <a:r>
                  <a:rPr lang="pt-BR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𝐑</a:t>
                </a:r>
                <a:r>
                  <a:rPr lang="pt-BR" dirty="0"/>
                  <a:t>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pt-BR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Outro ponto importante é que o sistema usa </a:t>
                </a:r>
                <a:r>
                  <a:rPr lang="pt-BR" dirty="0" err="1"/>
                  <a:t>space-division</a:t>
                </a:r>
                <a:r>
                  <a:rPr lang="pt-BR" dirty="0"/>
                  <a:t> </a:t>
                </a:r>
                <a:r>
                  <a:rPr lang="pt-BR" dirty="0" err="1"/>
                  <a:t>multiple</a:t>
                </a:r>
                <a:r>
                  <a:rPr lang="pt-BR" dirty="0"/>
                  <a:t> </a:t>
                </a:r>
                <a:r>
                  <a:rPr lang="pt-BR" dirty="0" err="1"/>
                  <a:t>access</a:t>
                </a:r>
                <a:r>
                  <a:rPr lang="pt-BR" dirty="0"/>
                  <a:t>. Isso significa que vários usuários podem se comunicar com a base </a:t>
                </a:r>
                <a:r>
                  <a:rPr lang="pt-BR" dirty="0" err="1"/>
                  <a:t>station</a:t>
                </a:r>
                <a:r>
                  <a:rPr lang="pt-BR" dirty="0"/>
                  <a:t> ao mesmo tempo, explorando separação espacial.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Além disso, existe um servidor no sistema, e esse servidor é quem executa a parte pesada da inferência do </a:t>
                </a:r>
                <a:r>
                  <a:rPr lang="pt-BR" dirty="0" err="1"/>
                  <a:t>large</a:t>
                </a:r>
                <a:r>
                  <a:rPr lang="pt-BR" dirty="0"/>
                  <a:t> model. A outra parte é executada no cliente.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pt-BR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Por fim, o </a:t>
                </a:r>
                <a:r>
                  <a:rPr lang="pt-BR" dirty="0" err="1"/>
                  <a:t>paper</a:t>
                </a:r>
                <a:r>
                  <a:rPr lang="pt-BR" dirty="0"/>
                  <a:t> assume que o tempo necessário para ajustar a posição das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antennas</a:t>
                </a:r>
                <a:r>
                  <a:rPr lang="pt-BR" dirty="0"/>
                  <a:t> é desprezível. Em outras palavras, eles ignoram esse custo mecânico ou físico e consideram apenas o ganho que o reposicionamento traz para o canal e para a taxa de transmissão.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pt-BR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Pense em um painel retangular na BS, e cada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</a:t>
                </a:r>
                <a:r>
                  <a:rPr lang="pt-BR" dirty="0"/>
                  <a:t> pode “andar” nesse painel em duas direções,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pt-BR" dirty="0"/>
                  <a:t>e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</a:t>
                </a:r>
                <a:r>
                  <a:rPr lang="pt-BR" dirty="0"/>
                  <a:t>.</a:t>
                </a:r>
                <a:br>
                  <a:rPr lang="pt-BR" dirty="0"/>
                </a:br>
                <a:r>
                  <a:rPr lang="pt-BR" dirty="0"/>
                  <a:t>a modelagem não está nesse nível discreto de “</a:t>
                </a:r>
                <a:r>
                  <a:rPr lang="pt-BR" dirty="0" err="1"/>
                  <a:t>port</a:t>
                </a:r>
                <a:r>
                  <a:rPr lang="pt-BR" dirty="0"/>
                  <a:t> 1, </a:t>
                </a:r>
                <a:r>
                  <a:rPr lang="pt-BR" dirty="0" err="1"/>
                  <a:t>port</a:t>
                </a:r>
                <a:r>
                  <a:rPr lang="pt-BR" dirty="0"/>
                  <a:t> 2, </a:t>
                </a:r>
                <a:r>
                  <a:rPr lang="pt-BR" dirty="0" err="1"/>
                  <a:t>port</a:t>
                </a:r>
                <a:r>
                  <a:rPr lang="pt-BR" dirty="0"/>
                  <a:t> 3...”, é como uma antena 2d, porém em termos de x e y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FD0490-7582-1D65-2379-CE52AB36FB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853104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15BB2-B533-AA3F-1E39-17B4201F6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AEB9DA-6F20-97C8-DED5-0677369A3D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16681A5D-78AE-5A33-1EB2-D40834567C3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pt-BR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A posição das antenas é variável importante porque, neste </a:t>
                </a:r>
                <a:r>
                  <a:rPr lang="pt-BR" dirty="0" err="1"/>
                  <a:t>paper</a:t>
                </a:r>
                <a:r>
                  <a:rPr lang="pt-BR" dirty="0"/>
                  <a:t>, a BS não é um arranjo fixo tradicional. As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antennas</a:t>
                </a:r>
                <a:r>
                  <a:rPr lang="pt-BR" dirty="0"/>
                  <a:t> podem se mover dentro de um painel. Isso altera o canal sem fio. Então, diferente de um sistema MIMO convencional em que a geometria é fixa, aqui a geometria da BS é parte do problema de otimização.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Aqui no lado esquerdo do slide estão as definições matemáticas das posições dessas antenas. O vetor </a:t>
                </a:r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𝐭_(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𝑢,𝑎</a:t>
                </a:r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)</a:t>
                </a:r>
                <a:r>
                  <a:rPr lang="pt-BR" dirty="0"/>
                  <a:t>representa a posição da antena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𝑎</a:t>
                </a:r>
                <a:r>
                  <a:rPr lang="pt-BR" dirty="0"/>
                  <a:t>do usuário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𝑢</a:t>
                </a:r>
                <a:r>
                  <a:rPr lang="pt-BR" dirty="0"/>
                  <a:t>, com coordenadas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pt-BR" dirty="0"/>
                  <a:t>e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</a:t>
                </a:r>
                <a:r>
                  <a:rPr lang="pt-BR" dirty="0"/>
                  <a:t>. O </a:t>
                </a:r>
                <a:r>
                  <a:rPr lang="pt-BR" dirty="0" err="1"/>
                  <a:t>paper</a:t>
                </a:r>
                <a:r>
                  <a:rPr lang="pt-BR" dirty="0"/>
                  <a:t> agrupa todas essas posições na matriz </a:t>
                </a:r>
                <a:r>
                  <a:rPr lang="pt-BR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𝐓</a:t>
                </a:r>
                <a:r>
                  <a:rPr lang="pt-BR" dirty="0"/>
                  <a:t>. Já a posição da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</a:t>
                </a:r>
                <a:r>
                  <a:rPr lang="pt-BR" dirty="0"/>
                  <a:t>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𝑚</a:t>
                </a:r>
                <a:r>
                  <a:rPr lang="pt-BR" dirty="0"/>
                  <a:t>da BS é representada por </a:t>
                </a:r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𝐫_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𝑚</a:t>
                </a:r>
                <a:r>
                  <a:rPr lang="ar-AE" dirty="0"/>
                  <a:t>, </a:t>
                </a:r>
                <a:r>
                  <a:rPr lang="pt-BR" dirty="0"/>
                  <a:t>e todas as posições da BS são agrupadas na matriz </a:t>
                </a:r>
                <a:r>
                  <a:rPr lang="pt-BR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𝐑</a:t>
                </a:r>
                <a:r>
                  <a:rPr lang="pt-BR" dirty="0"/>
                  <a:t>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pt-BR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Outro ponto importante é que o sistema usa </a:t>
                </a:r>
                <a:r>
                  <a:rPr lang="pt-BR" dirty="0" err="1"/>
                  <a:t>space-division</a:t>
                </a:r>
                <a:r>
                  <a:rPr lang="pt-BR" dirty="0"/>
                  <a:t> </a:t>
                </a:r>
                <a:r>
                  <a:rPr lang="pt-BR" dirty="0" err="1"/>
                  <a:t>multiple</a:t>
                </a:r>
                <a:r>
                  <a:rPr lang="pt-BR" dirty="0"/>
                  <a:t> </a:t>
                </a:r>
                <a:r>
                  <a:rPr lang="pt-BR" dirty="0" err="1"/>
                  <a:t>access</a:t>
                </a:r>
                <a:r>
                  <a:rPr lang="pt-BR" dirty="0"/>
                  <a:t>. Isso significa que vários usuários podem se comunicar com a base </a:t>
                </a:r>
                <a:r>
                  <a:rPr lang="pt-BR" dirty="0" err="1"/>
                  <a:t>station</a:t>
                </a:r>
                <a:r>
                  <a:rPr lang="pt-BR" dirty="0"/>
                  <a:t> ao mesmo tempo, explorando separação espacial.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Além disso, existe um servidor no sistema, e esse servidor é quem executa a parte pesada da inferência do </a:t>
                </a:r>
                <a:r>
                  <a:rPr lang="pt-BR" dirty="0" err="1"/>
                  <a:t>large</a:t>
                </a:r>
                <a:r>
                  <a:rPr lang="pt-BR" dirty="0"/>
                  <a:t> model. A outra parte é executada no cliente.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pt-BR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Por fim, o </a:t>
                </a:r>
                <a:r>
                  <a:rPr lang="pt-BR" dirty="0" err="1"/>
                  <a:t>paper</a:t>
                </a:r>
                <a:r>
                  <a:rPr lang="pt-BR" dirty="0"/>
                  <a:t> assume que o tempo necessário para ajustar a posição das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antennas</a:t>
                </a:r>
                <a:r>
                  <a:rPr lang="pt-BR" dirty="0"/>
                  <a:t> é desprezível. Em outras palavras, eles ignoram esse custo mecânico ou físico e consideram apenas o ganho que o reposicionamento traz para o canal e para a taxa de transmissão.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pt-BR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Pense em um painel retangular na BS, e cada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</a:t>
                </a:r>
                <a:r>
                  <a:rPr lang="pt-BR" dirty="0"/>
                  <a:t> pode “andar” nesse painel em duas direções,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pt-BR" dirty="0"/>
                  <a:t>e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</a:t>
                </a:r>
                <a:r>
                  <a:rPr lang="pt-BR" dirty="0"/>
                  <a:t>.</a:t>
                </a:r>
                <a:br>
                  <a:rPr lang="pt-BR" dirty="0"/>
                </a:br>
                <a:r>
                  <a:rPr lang="pt-BR" dirty="0"/>
                  <a:t>a modelagem não está nesse nível discreto de “</a:t>
                </a:r>
                <a:r>
                  <a:rPr lang="pt-BR" dirty="0" err="1"/>
                  <a:t>port</a:t>
                </a:r>
                <a:r>
                  <a:rPr lang="pt-BR" dirty="0"/>
                  <a:t> 1, </a:t>
                </a:r>
                <a:r>
                  <a:rPr lang="pt-BR" dirty="0" err="1"/>
                  <a:t>port</a:t>
                </a:r>
                <a:r>
                  <a:rPr lang="pt-BR" dirty="0"/>
                  <a:t> 2, </a:t>
                </a:r>
                <a:r>
                  <a:rPr lang="pt-BR" dirty="0" err="1"/>
                  <a:t>port</a:t>
                </a:r>
                <a:r>
                  <a:rPr lang="pt-BR" dirty="0"/>
                  <a:t> 3...”, é como uma antena 2d, porém em termos de x e y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EBB5BA-41AB-4F1B-643A-1F491519E7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9735688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222F2-127D-2354-E238-E7C7076C1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526BD4-662F-B2FB-EEA6-1540F66622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961FB76B-F124-F9F9-14A4-87AA20701AB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pt-BR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A posição das antenas é variável importante porque, neste </a:t>
                </a:r>
                <a:r>
                  <a:rPr lang="pt-BR" dirty="0" err="1"/>
                  <a:t>paper</a:t>
                </a:r>
                <a:r>
                  <a:rPr lang="pt-BR" dirty="0"/>
                  <a:t>, a BS não é um arranjo fixo tradicional. As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antennas</a:t>
                </a:r>
                <a:r>
                  <a:rPr lang="pt-BR" dirty="0"/>
                  <a:t> podem se mover dentro de um painel. Isso altera o canal sem fio. Então, diferente de um sistema MIMO convencional em que a geometria é fixa, aqui a geometria da BS é parte do problema de otimização.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Aqui no lado esquerdo do slide estão as definições matemáticas das posições dessas antenas. O vetor </a:t>
                </a:r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𝐭_(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𝑢,𝑎</a:t>
                </a:r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)</a:t>
                </a:r>
                <a:r>
                  <a:rPr lang="pt-BR" dirty="0"/>
                  <a:t>representa a posição da antena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𝑎</a:t>
                </a:r>
                <a:r>
                  <a:rPr lang="pt-BR" dirty="0"/>
                  <a:t>do usuário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𝑢</a:t>
                </a:r>
                <a:r>
                  <a:rPr lang="pt-BR" dirty="0"/>
                  <a:t>, com coordenadas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pt-BR" dirty="0"/>
                  <a:t>e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</a:t>
                </a:r>
                <a:r>
                  <a:rPr lang="pt-BR" dirty="0"/>
                  <a:t>. O </a:t>
                </a:r>
                <a:r>
                  <a:rPr lang="pt-BR" dirty="0" err="1"/>
                  <a:t>paper</a:t>
                </a:r>
                <a:r>
                  <a:rPr lang="pt-BR" dirty="0"/>
                  <a:t> agrupa todas essas posições na matriz </a:t>
                </a:r>
                <a:r>
                  <a:rPr lang="pt-BR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𝐓</a:t>
                </a:r>
                <a:r>
                  <a:rPr lang="pt-BR" dirty="0"/>
                  <a:t>. Já a posição da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</a:t>
                </a:r>
                <a:r>
                  <a:rPr lang="pt-BR" dirty="0"/>
                  <a:t>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𝑚</a:t>
                </a:r>
                <a:r>
                  <a:rPr lang="pt-BR" dirty="0"/>
                  <a:t>da BS é representada por </a:t>
                </a:r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𝐫_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𝑚</a:t>
                </a:r>
                <a:r>
                  <a:rPr lang="ar-AE" dirty="0"/>
                  <a:t>, </a:t>
                </a:r>
                <a:r>
                  <a:rPr lang="pt-BR" dirty="0"/>
                  <a:t>e todas as posições da BS são agrupadas na matriz </a:t>
                </a:r>
                <a:r>
                  <a:rPr lang="pt-BR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𝐑</a:t>
                </a:r>
                <a:r>
                  <a:rPr lang="pt-BR" dirty="0"/>
                  <a:t>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pt-BR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Outro ponto importante é que o sistema usa </a:t>
                </a:r>
                <a:r>
                  <a:rPr lang="pt-BR" dirty="0" err="1"/>
                  <a:t>space-division</a:t>
                </a:r>
                <a:r>
                  <a:rPr lang="pt-BR" dirty="0"/>
                  <a:t> </a:t>
                </a:r>
                <a:r>
                  <a:rPr lang="pt-BR" dirty="0" err="1"/>
                  <a:t>multiple</a:t>
                </a:r>
                <a:r>
                  <a:rPr lang="pt-BR" dirty="0"/>
                  <a:t> </a:t>
                </a:r>
                <a:r>
                  <a:rPr lang="pt-BR" dirty="0" err="1"/>
                  <a:t>access</a:t>
                </a:r>
                <a:r>
                  <a:rPr lang="pt-BR" dirty="0"/>
                  <a:t>. Isso significa que vários usuários podem se comunicar com a base </a:t>
                </a:r>
                <a:r>
                  <a:rPr lang="pt-BR" dirty="0" err="1"/>
                  <a:t>station</a:t>
                </a:r>
                <a:r>
                  <a:rPr lang="pt-BR" dirty="0"/>
                  <a:t> ao mesmo tempo, explorando separação espacial.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Além disso, existe um servidor no sistema, e esse servidor é quem executa a parte pesada da inferência do </a:t>
                </a:r>
                <a:r>
                  <a:rPr lang="pt-BR" dirty="0" err="1"/>
                  <a:t>large</a:t>
                </a:r>
                <a:r>
                  <a:rPr lang="pt-BR" dirty="0"/>
                  <a:t> model. A outra parte é executada no cliente.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pt-BR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Por fim, o </a:t>
                </a:r>
                <a:r>
                  <a:rPr lang="pt-BR" dirty="0" err="1"/>
                  <a:t>paper</a:t>
                </a:r>
                <a:r>
                  <a:rPr lang="pt-BR" dirty="0"/>
                  <a:t> assume que o tempo necessário para ajustar a posição das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antennas</a:t>
                </a:r>
                <a:r>
                  <a:rPr lang="pt-BR" dirty="0"/>
                  <a:t> é desprezível. Em outras palavras, eles ignoram esse custo mecânico ou físico e consideram apenas o ganho que o reposicionamento traz para o canal e para a taxa de transmissão.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pt-BR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Pense em um painel retangular na BS, e cada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</a:t>
                </a:r>
                <a:r>
                  <a:rPr lang="pt-BR" dirty="0"/>
                  <a:t> pode “andar” nesse painel em duas direções,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pt-BR" dirty="0"/>
                  <a:t>e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</a:t>
                </a:r>
                <a:r>
                  <a:rPr lang="pt-BR" dirty="0"/>
                  <a:t>.</a:t>
                </a:r>
                <a:br>
                  <a:rPr lang="pt-BR" dirty="0"/>
                </a:br>
                <a:r>
                  <a:rPr lang="pt-BR" dirty="0"/>
                  <a:t>a modelagem não está nesse nível discreto de “</a:t>
                </a:r>
                <a:r>
                  <a:rPr lang="pt-BR" dirty="0" err="1"/>
                  <a:t>port</a:t>
                </a:r>
                <a:r>
                  <a:rPr lang="pt-BR" dirty="0"/>
                  <a:t> 1, </a:t>
                </a:r>
                <a:r>
                  <a:rPr lang="pt-BR" dirty="0" err="1"/>
                  <a:t>port</a:t>
                </a:r>
                <a:r>
                  <a:rPr lang="pt-BR" dirty="0"/>
                  <a:t> 2, </a:t>
                </a:r>
                <a:r>
                  <a:rPr lang="pt-BR" dirty="0" err="1"/>
                  <a:t>port</a:t>
                </a:r>
                <a:r>
                  <a:rPr lang="pt-BR" dirty="0"/>
                  <a:t> 3...”, é como uma antena 2d, porém em termos de x e y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62162F-1401-FA0F-EDF0-3D06D06053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74333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D1FEA-5B12-4C29-E254-3676EA1A6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BFC6B5-81FA-470A-2F11-CC8AF119A4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F2674575-B1D2-9F63-CAAB-D424985B87A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pt-BR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A posição das antenas é variável importante porque, neste </a:t>
                </a:r>
                <a:r>
                  <a:rPr lang="pt-BR" dirty="0" err="1"/>
                  <a:t>paper</a:t>
                </a:r>
                <a:r>
                  <a:rPr lang="pt-BR" dirty="0"/>
                  <a:t>, a BS não é um arranjo fixo tradicional. As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antennas</a:t>
                </a:r>
                <a:r>
                  <a:rPr lang="pt-BR" dirty="0"/>
                  <a:t> podem se mover dentro de um painel. Isso altera o canal sem fio. Então, diferente de um sistema MIMO convencional em que a geometria é fixa, aqui a geometria da BS é parte do problema de otimização.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Aqui no lado esquerdo do slide estão as definições matemáticas das posições dessas antenas. O vetor </a:t>
                </a:r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𝐭_(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𝑢,𝑎</a:t>
                </a:r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)</a:t>
                </a:r>
                <a:r>
                  <a:rPr lang="pt-BR" dirty="0"/>
                  <a:t>representa a posição da antena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𝑎</a:t>
                </a:r>
                <a:r>
                  <a:rPr lang="pt-BR" dirty="0"/>
                  <a:t>do usuário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𝑢</a:t>
                </a:r>
                <a:r>
                  <a:rPr lang="pt-BR" dirty="0"/>
                  <a:t>, com coordenadas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pt-BR" dirty="0"/>
                  <a:t>e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</a:t>
                </a:r>
                <a:r>
                  <a:rPr lang="pt-BR" dirty="0"/>
                  <a:t>. O </a:t>
                </a:r>
                <a:r>
                  <a:rPr lang="pt-BR" dirty="0" err="1"/>
                  <a:t>paper</a:t>
                </a:r>
                <a:r>
                  <a:rPr lang="pt-BR" dirty="0"/>
                  <a:t> agrupa todas essas posições na matriz </a:t>
                </a:r>
                <a:r>
                  <a:rPr lang="pt-BR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𝐓</a:t>
                </a:r>
                <a:r>
                  <a:rPr lang="pt-BR" dirty="0"/>
                  <a:t>. Já a posição da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</a:t>
                </a:r>
                <a:r>
                  <a:rPr lang="pt-BR" dirty="0"/>
                  <a:t>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𝑚</a:t>
                </a:r>
                <a:r>
                  <a:rPr lang="pt-BR" dirty="0"/>
                  <a:t>da BS é representada por </a:t>
                </a:r>
                <a:r>
                  <a:rPr lang="ar-AE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𝐫_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𝑚</a:t>
                </a:r>
                <a:r>
                  <a:rPr lang="ar-AE" dirty="0"/>
                  <a:t>, </a:t>
                </a:r>
                <a:r>
                  <a:rPr lang="pt-BR" dirty="0"/>
                  <a:t>e todas as posições da BS são agrupadas na matriz </a:t>
                </a:r>
                <a:r>
                  <a:rPr lang="pt-BR" sz="1200" b="1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𝐑</a:t>
                </a:r>
                <a:r>
                  <a:rPr lang="pt-BR" dirty="0"/>
                  <a:t>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pt-BR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Outro ponto importante é que o sistema usa </a:t>
                </a:r>
                <a:r>
                  <a:rPr lang="pt-BR" dirty="0" err="1"/>
                  <a:t>space-division</a:t>
                </a:r>
                <a:r>
                  <a:rPr lang="pt-BR" dirty="0"/>
                  <a:t> </a:t>
                </a:r>
                <a:r>
                  <a:rPr lang="pt-BR" dirty="0" err="1"/>
                  <a:t>multiple</a:t>
                </a:r>
                <a:r>
                  <a:rPr lang="pt-BR" dirty="0"/>
                  <a:t> </a:t>
                </a:r>
                <a:r>
                  <a:rPr lang="pt-BR" dirty="0" err="1"/>
                  <a:t>access</a:t>
                </a:r>
                <a:r>
                  <a:rPr lang="pt-BR" dirty="0"/>
                  <a:t>. Isso significa que vários usuários podem se comunicar com a base </a:t>
                </a:r>
                <a:r>
                  <a:rPr lang="pt-BR" dirty="0" err="1"/>
                  <a:t>station</a:t>
                </a:r>
                <a:r>
                  <a:rPr lang="pt-BR" dirty="0"/>
                  <a:t> ao mesmo tempo, explorando separação espacial.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Além disso, existe um servidor no sistema, e esse servidor é quem executa a parte pesada da inferência do </a:t>
                </a:r>
                <a:r>
                  <a:rPr lang="pt-BR" dirty="0" err="1"/>
                  <a:t>large</a:t>
                </a:r>
                <a:r>
                  <a:rPr lang="pt-BR" dirty="0"/>
                  <a:t> model. A outra parte é executada no cliente.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pt-BR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Por fim, o </a:t>
                </a:r>
                <a:r>
                  <a:rPr lang="pt-BR" dirty="0" err="1"/>
                  <a:t>paper</a:t>
                </a:r>
                <a:r>
                  <a:rPr lang="pt-BR" dirty="0"/>
                  <a:t> assume que o tempo necessário para ajustar a posição das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antennas</a:t>
                </a:r>
                <a:r>
                  <a:rPr lang="pt-BR" dirty="0"/>
                  <a:t> é desprezível. Em outras palavras, eles ignoram esse custo mecânico ou físico e consideram apenas o ganho que o reposicionamento traz para o canal e para a taxa de transmissão.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pt-BR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dirty="0"/>
                  <a:t>Pense em um painel retangular na BS, e cada </a:t>
                </a:r>
                <a:r>
                  <a:rPr lang="pt-BR" dirty="0" err="1"/>
                  <a:t>fluid</a:t>
                </a:r>
                <a:r>
                  <a:rPr lang="pt-BR" dirty="0"/>
                  <a:t> </a:t>
                </a:r>
                <a:r>
                  <a:rPr lang="pt-BR" dirty="0" err="1"/>
                  <a:t>antenna</a:t>
                </a:r>
                <a:r>
                  <a:rPr lang="pt-BR" dirty="0"/>
                  <a:t> pode “andar” nesse painel em duas direções,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pt-BR" dirty="0"/>
                  <a:t>e </a:t>
                </a:r>
                <a:r>
                  <a:rPr lang="pt-B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</a:t>
                </a:r>
                <a:r>
                  <a:rPr lang="pt-BR" dirty="0"/>
                  <a:t>.</a:t>
                </a:r>
                <a:br>
                  <a:rPr lang="pt-BR" dirty="0"/>
                </a:br>
                <a:r>
                  <a:rPr lang="pt-BR" dirty="0"/>
                  <a:t>a modelagem não está nesse nível discreto de “</a:t>
                </a:r>
                <a:r>
                  <a:rPr lang="pt-BR" dirty="0" err="1"/>
                  <a:t>port</a:t>
                </a:r>
                <a:r>
                  <a:rPr lang="pt-BR" dirty="0"/>
                  <a:t> 1, </a:t>
                </a:r>
                <a:r>
                  <a:rPr lang="pt-BR" dirty="0" err="1"/>
                  <a:t>port</a:t>
                </a:r>
                <a:r>
                  <a:rPr lang="pt-BR" dirty="0"/>
                  <a:t> 2, </a:t>
                </a:r>
                <a:r>
                  <a:rPr lang="pt-BR" dirty="0" err="1"/>
                  <a:t>port</a:t>
                </a:r>
                <a:r>
                  <a:rPr lang="pt-BR" dirty="0"/>
                  <a:t> 3...”, é como uma antena 2d, porém em termos de x e y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D6133B-BC7B-FD0F-E5AF-3C43768256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882654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19382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B9B4FF-B06E-403C-A326-BDC64D8FF9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47BDFCE-746E-45BF-A319-4733D58D16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EDE2778-5372-4104-B96D-968184DA8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DD511-5376-4C60-A4B1-F569E747FD97}" type="datetime1">
              <a:rPr lang="pt-BR" smtClean="0"/>
              <a:t>12/05/2026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DD0F41-C861-4051-988D-3024A37A4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7E5967E-D980-431A-A5DB-3F0C5030A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9754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BD44A5-8F21-4626-A01D-48A1C874B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9E8085-65A9-48AA-951D-71D978BFF4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05BE1AF-51EA-425D-B188-DE7BD6750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D664D-11F8-4898-96DA-EB20BD65F243}" type="datetime1">
              <a:rPr lang="pt-BR" smtClean="0"/>
              <a:t>12/05/2026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21BE632-29CF-4CB9-B365-C9EF38F89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0CF3DD1-9AEC-4A57-B461-4E4DD86FA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7907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AB2FF0-A4D7-4E28-991D-FF26140D5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2AC45B0-4145-40DB-8E61-1054611706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0F1D3FB-740A-4EBA-A309-2CE71D12E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9C168-D1FE-4349-9608-4E60F81C1DBC}" type="datetime1">
              <a:rPr lang="pt-BR" smtClean="0"/>
              <a:t>12/05/2026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DCAB18F-8715-4465-A940-F9C193A2A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53466C6-8248-429F-8056-FF040BF50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5227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BB9F0-F14B-4A91-B2B7-35BC47FE4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C1FC1C4-73DA-47A6-8496-B0B457F7D3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92F06A8-A449-4D92-9912-76873E529B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38070A4-BC2F-4D55-BD8D-DEAF11BB9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DD712D-DF33-4608-A1B2-F7B150BFFB9C}" type="datetime1">
              <a:rPr lang="pt-BR" smtClean="0"/>
              <a:t>12/05/2026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CC2DB8-844A-465F-BA9A-7734C80C7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CC606A8-097B-4040-94E0-CD8C88280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8544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D66686-0143-4CB6-8C09-BA326F1E7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227AB85-F59E-4BCE-B846-4FA0992C2F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373456C-7319-4D0A-827D-D29F6B083F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CD109D0-2E83-4262-8029-A871CEC474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D706E3A-CFBB-4A6C-A65F-D0360A9E74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172C0E5-5AF0-4805-BB51-443733CD2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D21D9-36F9-4F50-8DEF-B52348D6B44D}" type="datetime1">
              <a:rPr lang="pt-BR" smtClean="0"/>
              <a:t>12/05/2026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E801648-156F-497E-99CF-797DF4805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EE23D32-80E7-4796-A137-66BF842E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245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CE2379-C78F-47E1-8CFC-B846E7AF1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42600A9-7F92-4E22-9D94-E4717252A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B2EBB-C4EA-4652-BDE1-A6C50C0B8D25}" type="datetime1">
              <a:rPr lang="pt-BR" smtClean="0"/>
              <a:t>12/05/2026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92E6BED-F546-40CC-A2DF-99CBA8536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091CC40-A8C4-4063-80EB-CC5099621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41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D19515C-212C-4EAE-84A3-8FF4BC844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E892E-BA3D-456C-B0A6-9CC49D6F9DBA}" type="datetime1">
              <a:rPr lang="pt-BR" smtClean="0"/>
              <a:t>12/05/2026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4D3D120-B3E8-4C96-861D-7A4F12F49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2E49B68-FA1B-468B-9F17-D5C09243D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1232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17BCBE-A897-4319-85EC-D87909C24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226F885-0204-4913-868B-4B8B82576F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0F9F784-A858-441B-8AB5-6970981417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4DC363A-5000-472E-8B17-02E7DCB88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0994A-F2E2-4207-9BF3-B388014DC8A9}" type="datetime1">
              <a:rPr lang="pt-BR" smtClean="0"/>
              <a:t>12/05/2026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548425D-2C21-4C56-BAD4-662978775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63E9726-E64C-42B2-AE8A-8C235A956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8610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086A78-3E74-450C-96A6-CA8AC37AF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F5B7312-975A-4DBC-9B2F-3652ADA006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AF805F5-1DFF-41C6-944C-7D79FE0D09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2113D81-8665-4516-BD81-C6A1F254E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5E1C0-EB12-4A55-94DB-C3DACCDE6605}" type="datetime1">
              <a:rPr lang="pt-BR" smtClean="0"/>
              <a:t>12/05/2026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B00C88B-FF32-40AA-A187-727D96FD7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04D1A2D-69F7-4B8F-A730-BC26DC340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4646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36C49F-3E68-4175-81BA-3C3FEE443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26FA736-3DD3-4D4E-B57B-BBE1D8F7D4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E8855C-D8FD-48F6-B14E-861E0DE4D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78684-DE8A-46BB-A7AC-270F275806FB}" type="datetime1">
              <a:rPr lang="pt-BR" smtClean="0"/>
              <a:t>12/05/2026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7C0BB88-2F21-42A5-ACFF-83DA47F2D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CB462B3-1F22-4C05-B4B8-7A279FB7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3481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AEAB728-701C-4207-A9D5-23FF45C605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A8C8CCF-7823-480A-9A19-0F664DD17E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21D5734-7B1F-425D-942F-6EB733440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E5343-9554-44F5-B62D-898A9211AAD4}" type="datetime1">
              <a:rPr lang="pt-BR" smtClean="0"/>
              <a:t>12/05/2026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E1AAEAC-F08D-45FE-89EC-B1B349A86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AA44493-9911-47B2-87A6-C2141A972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245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69A0273-1966-4A1B-9370-4C1CE5036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B9CF87A-0448-49A7-AB25-EBC1D56A40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F7B1F2-BB5A-44D0-816D-16AD2C7143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E0E027-05FF-4DD2-96BD-C645F6FDFE4A}" type="datetime1">
              <a:rPr lang="pt-BR" smtClean="0"/>
              <a:t>12/05/2026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703F94C-2CC8-4DAA-BC35-14FC3E841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4051336-7048-457A-8B61-D94291D716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7E88B7-70CE-4035-AE73-13FA6FB985D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6292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customXml" Target="../ink/ink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forms.gle/7uN4r39chu6JFJrM7" TargetMode="Externa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666AC8-2E17-4DB4-B0F5-60C640CCF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3306" y="1425288"/>
            <a:ext cx="11526840" cy="2690156"/>
          </a:xfrm>
        </p:spPr>
        <p:txBody>
          <a:bodyPr>
            <a:normAutofit fontScale="90000"/>
          </a:bodyPr>
          <a:lstStyle/>
          <a:p>
            <a:r>
              <a:rPr lang="en-US" sz="5400" noProof="1"/>
              <a:t>TP558 - Tópicos avançados em Machine Learning:</a:t>
            </a:r>
            <a:br>
              <a:rPr lang="en-US" noProof="1"/>
            </a:br>
            <a:r>
              <a:rPr lang="en-US" sz="4400" b="1" i="1" noProof="1"/>
              <a:t>NAS-Bench-101: Towards Reproducible Neural Architecture Search</a:t>
            </a:r>
            <a:br>
              <a:rPr lang="en-US" sz="4400" b="1" i="1" noProof="1"/>
            </a:br>
            <a:r>
              <a:rPr lang="en-US" sz="2700" b="1" i="1" noProof="1"/>
              <a:t>Proceedings of the 36th International Conference on Machine Learning, ICML 2019</a:t>
            </a:r>
            <a:endParaRPr lang="en-US" b="1" i="1" noProof="1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30EB894-B7D4-434C-9D1A-A14094D9BEEC}"/>
              </a:ext>
            </a:extLst>
          </p:cNvPr>
          <p:cNvSpPr txBox="1"/>
          <p:nvPr/>
        </p:nvSpPr>
        <p:spPr>
          <a:xfrm>
            <a:off x="7915801" y="5780602"/>
            <a:ext cx="400434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noProof="1"/>
              <a:t>Matheus Ferreira Silva</a:t>
            </a:r>
          </a:p>
          <a:p>
            <a:r>
              <a:rPr lang="en-US" noProof="1"/>
              <a:t>matheus.f@inatel.br</a:t>
            </a:r>
          </a:p>
        </p:txBody>
      </p:sp>
      <p:pic>
        <p:nvPicPr>
          <p:cNvPr id="1026" name="Picture 2" descr="Logo">
            <a:extLst>
              <a:ext uri="{FF2B5EF4-FFF2-40B4-BE49-F238E27FC236}">
                <a16:creationId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5780602"/>
            <a:ext cx="2261388" cy="677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Image result for machine learning">
            <a:extLst>
              <a:ext uri="{FF2B5EF4-FFF2-40B4-BE49-F238E27FC236}">
                <a16:creationId xmlns:a16="http://schemas.microsoft.com/office/drawing/2014/main" id="{810CE0A2-4102-44A6-A370-175E7896CD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93" t="8107" r="14530" b="5794"/>
          <a:stretch/>
        </p:blipFill>
        <p:spPr bwMode="auto">
          <a:xfrm>
            <a:off x="4965305" y="4220649"/>
            <a:ext cx="2261389" cy="2237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C1A7F08-FA7B-B342-833B-AAF9C399C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en-US" noProof="1" smtClean="0"/>
              <a:t>1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6866526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5FF925-67DE-CC62-E869-C6E3C1D77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86519"/>
            <a:ext cx="10515600" cy="1325563"/>
          </a:xfrm>
        </p:spPr>
        <p:txBody>
          <a:bodyPr/>
          <a:lstStyle/>
          <a:p>
            <a:r>
              <a:rPr lang="en-US" noProof="1"/>
              <a:t>Contexto do Tema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A84068-671A-9D40-4F76-2C57E4F720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6673" y="1111310"/>
            <a:ext cx="5655202" cy="869950"/>
          </a:xfrm>
        </p:spPr>
        <p:txBody>
          <a:bodyPr>
            <a:noAutofit/>
          </a:bodyPr>
          <a:lstStyle/>
          <a:p>
            <a:pPr fontAlgn="base"/>
            <a:r>
              <a:rPr lang="en-US" b="1" noProof="1"/>
              <a:t>NAS, Neural Architecture Search:</a:t>
            </a:r>
          </a:p>
          <a:p>
            <a:pPr fontAlgn="base"/>
            <a:r>
              <a:rPr lang="pt-BR" dirty="0"/>
              <a:t>A área que busca </a:t>
            </a:r>
            <a:r>
              <a:rPr lang="pt-BR" b="1" dirty="0"/>
              <a:t>descobrir automaticamente arquiteturas neurais</a:t>
            </a:r>
            <a:r>
              <a:rPr lang="pt-BR" dirty="0"/>
              <a:t>, reduzindo a dependência de tentativa e erro.</a:t>
            </a:r>
            <a:endParaRPr lang="en-US" b="1" noProof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3DEAE9-D979-24A9-C027-9F067FAFD8E0}"/>
              </a:ext>
            </a:extLst>
          </p:cNvPr>
          <p:cNvSpPr txBox="1"/>
          <p:nvPr/>
        </p:nvSpPr>
        <p:spPr>
          <a:xfrm>
            <a:off x="-1" y="6356350"/>
            <a:ext cx="106093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/>
              <a:t>DIY </a:t>
            </a:r>
            <a:r>
              <a:rPr lang="pt-BR" sz="1200" dirty="0" err="1"/>
              <a:t>Your</a:t>
            </a:r>
            <a:r>
              <a:rPr lang="pt-BR" sz="1200" dirty="0"/>
              <a:t> </a:t>
            </a:r>
            <a:r>
              <a:rPr lang="pt-BR" sz="1200" dirty="0" err="1"/>
              <a:t>EasyNAS</a:t>
            </a:r>
            <a:r>
              <a:rPr lang="pt-BR" sz="1200" dirty="0"/>
              <a:t> for Vision: </a:t>
            </a:r>
            <a:r>
              <a:rPr lang="pt-BR" sz="1200" dirty="0" err="1"/>
              <a:t>Convolution</a:t>
            </a:r>
            <a:r>
              <a:rPr lang="pt-BR" sz="1200" dirty="0"/>
              <a:t> </a:t>
            </a:r>
            <a:r>
              <a:rPr lang="pt-BR" sz="1200" dirty="0" err="1"/>
              <a:t>Operation</a:t>
            </a:r>
            <a:r>
              <a:rPr lang="pt-BR" sz="1200" dirty="0"/>
              <a:t> </a:t>
            </a:r>
            <a:r>
              <a:rPr lang="pt-BR" sz="1200" dirty="0" err="1"/>
              <a:t>Merging</a:t>
            </a:r>
            <a:r>
              <a:rPr lang="pt-BR" sz="1200" dirty="0"/>
              <a:t>, Map </a:t>
            </a:r>
            <a:r>
              <a:rPr lang="pt-BR" sz="1200" dirty="0" err="1"/>
              <a:t>Channel</a:t>
            </a:r>
            <a:r>
              <a:rPr lang="pt-BR" sz="1200" dirty="0"/>
              <a:t> </a:t>
            </a:r>
            <a:r>
              <a:rPr lang="pt-BR" sz="1200" dirty="0" err="1"/>
              <a:t>Reducing</a:t>
            </a:r>
            <a:r>
              <a:rPr lang="pt-BR" sz="1200" dirty="0"/>
              <a:t>, </a:t>
            </a:r>
            <a:r>
              <a:rPr lang="pt-BR" sz="1200" dirty="0" err="1"/>
              <a:t>and</a:t>
            </a:r>
            <a:r>
              <a:rPr lang="pt-BR" sz="1200" dirty="0"/>
              <a:t> Search Space </a:t>
            </a:r>
            <a:r>
              <a:rPr lang="pt-BR" sz="1200" dirty="0" err="1"/>
              <a:t>to</a:t>
            </a:r>
            <a:r>
              <a:rPr lang="pt-BR" sz="1200" dirty="0"/>
              <a:t> </a:t>
            </a:r>
            <a:r>
              <a:rPr lang="pt-BR" sz="1200" dirty="0" err="1"/>
              <a:t>Supernet</a:t>
            </a:r>
            <a:r>
              <a:rPr lang="pt-BR" sz="1200" dirty="0"/>
              <a:t> </a:t>
            </a:r>
            <a:r>
              <a:rPr lang="pt-BR" sz="1200" dirty="0" err="1"/>
              <a:t>Conversion</a:t>
            </a:r>
            <a:r>
              <a:rPr lang="pt-BR" sz="1200" dirty="0"/>
              <a:t> </a:t>
            </a:r>
            <a:r>
              <a:rPr lang="pt-BR" sz="1200" dirty="0" err="1"/>
              <a:t>Tooling</a:t>
            </a:r>
            <a:r>
              <a:rPr lang="pt-BR" sz="1200" dirty="0"/>
              <a:t>, </a:t>
            </a:r>
            <a:r>
              <a:rPr lang="pt-BR" sz="1200" i="1" dirty="0"/>
              <a:t>IEEE </a:t>
            </a:r>
            <a:r>
              <a:rPr lang="pt-BR" sz="1200" i="1" dirty="0" err="1"/>
              <a:t>Transactions</a:t>
            </a:r>
            <a:r>
              <a:rPr lang="pt-BR" sz="1200" i="1" dirty="0"/>
              <a:t> </a:t>
            </a:r>
            <a:r>
              <a:rPr lang="pt-BR" sz="1200" i="1" dirty="0" err="1"/>
              <a:t>on</a:t>
            </a:r>
            <a:r>
              <a:rPr lang="pt-BR" sz="1200" i="1" dirty="0"/>
              <a:t> </a:t>
            </a:r>
            <a:r>
              <a:rPr lang="pt-BR" sz="1200" i="1" dirty="0" err="1"/>
              <a:t>Pattern</a:t>
            </a:r>
            <a:r>
              <a:rPr lang="pt-BR" sz="1200" i="1" dirty="0"/>
              <a:t> </a:t>
            </a:r>
            <a:r>
              <a:rPr lang="pt-BR" sz="1200" i="1" dirty="0" err="1"/>
              <a:t>Analysis</a:t>
            </a:r>
            <a:r>
              <a:rPr lang="pt-BR" sz="1200" i="1" dirty="0"/>
              <a:t> </a:t>
            </a:r>
            <a:r>
              <a:rPr lang="pt-BR" sz="1200" i="1" dirty="0" err="1"/>
              <a:t>and</a:t>
            </a:r>
            <a:r>
              <a:rPr lang="pt-BR" sz="1200" i="1" dirty="0"/>
              <a:t> Machine </a:t>
            </a:r>
            <a:r>
              <a:rPr lang="pt-BR" sz="1200" i="1" dirty="0" err="1"/>
              <a:t>Intelligence</a:t>
            </a:r>
            <a:r>
              <a:rPr lang="pt-BR" sz="1200" dirty="0"/>
              <a:t>, Nov. 2023.</a:t>
            </a:r>
            <a:endParaRPr lang="en-US" sz="1200" noProof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BEA3CC-8562-5A07-39F9-4CEF564AF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en-US" noProof="1" smtClean="0"/>
              <a:t>2</a:t>
            </a:fld>
            <a:endParaRPr lang="en-US" noProof="1"/>
          </a:p>
        </p:txBody>
      </p:sp>
      <p:pic>
        <p:nvPicPr>
          <p:cNvPr id="1026" name="Picture 2" descr="What is neural architecture search? - TechTalks">
            <a:extLst>
              <a:ext uri="{FF2B5EF4-FFF2-40B4-BE49-F238E27FC236}">
                <a16:creationId xmlns:a16="http://schemas.microsoft.com/office/drawing/2014/main" id="{02760D24-58B0-BB73-9573-F2E052313B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558" y="3336368"/>
            <a:ext cx="4677507" cy="2923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6F43A71-8B78-F514-57BD-A0398E37B8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5317" y="335504"/>
            <a:ext cx="6234622" cy="5947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182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0BE41-EA52-F7D5-C71C-9FCE2ADC3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8984DA-DD33-44DC-A039-346231952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771"/>
            <a:ext cx="10515600" cy="1325563"/>
          </a:xfrm>
        </p:spPr>
        <p:txBody>
          <a:bodyPr/>
          <a:lstStyle/>
          <a:p>
            <a:r>
              <a:rPr lang="en-US" noProof="1"/>
              <a:t>Contexto do Tema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6C76EC2-2D1F-3420-2E84-58C2084A5F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9520"/>
            <a:ext cx="10515600" cy="5252719"/>
          </a:xfrm>
        </p:spPr>
        <p:txBody>
          <a:bodyPr>
            <a:normAutofit/>
          </a:bodyPr>
          <a:lstStyle/>
          <a:p>
            <a:pPr algn="just"/>
            <a:r>
              <a:rPr lang="pt-BR" dirty="0"/>
              <a:t>A motivação vem do fato de que arquiteturas projetadas por especialistas podem ter alto desempenho, mas exigem </a:t>
            </a:r>
            <a:r>
              <a:rPr lang="pt-BR" b="1" dirty="0"/>
              <a:t>muito ajuste empírico e conhecimento especializado</a:t>
            </a:r>
            <a:r>
              <a:rPr lang="pt-BR" dirty="0"/>
              <a:t>.</a:t>
            </a:r>
          </a:p>
          <a:p>
            <a:pPr algn="just"/>
            <a:endParaRPr lang="en-US" noProof="1"/>
          </a:p>
          <a:p>
            <a:pPr algn="just"/>
            <a:r>
              <a:rPr lang="pt-BR" b="1" dirty="0"/>
              <a:t>Neural </a:t>
            </a:r>
            <a:r>
              <a:rPr lang="pt-BR" b="1" dirty="0" err="1"/>
              <a:t>Architecture</a:t>
            </a:r>
            <a:r>
              <a:rPr lang="pt-BR" b="1" dirty="0"/>
              <a:t> Search, NAS</a:t>
            </a:r>
            <a:r>
              <a:rPr lang="pt-BR" dirty="0"/>
              <a:t>, busca automatizar o projeto de arquiteturas neurais, substituindo parte do ajuste manual de operações, conexões e larguras por um processo de busca orientado por desempenho e custo.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63DE7E-C862-6A21-6D46-A182474C1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en-US" noProof="1" smtClean="0"/>
              <a:t>3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512909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C20A1-95CD-DC90-C3F6-4D9657B44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6B558B-9559-4736-B6D7-14B7344B7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771"/>
            <a:ext cx="10515600" cy="1325563"/>
          </a:xfrm>
        </p:spPr>
        <p:txBody>
          <a:bodyPr/>
          <a:lstStyle/>
          <a:p>
            <a:r>
              <a:rPr lang="en-US" noProof="1"/>
              <a:t>Contexto do Tema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77764F2-A14D-3D22-F2C2-23FAEAFAB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9520"/>
            <a:ext cx="10515600" cy="525271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sz="3200" dirty="0"/>
              <a:t>Antes do NAS-Bench-101, avaliar NAS normalmente exigia:</a:t>
            </a:r>
          </a:p>
          <a:p>
            <a:pPr lvl="1" algn="just"/>
            <a:r>
              <a:rPr lang="pt-BR" sz="2800" dirty="0"/>
              <a:t>escolher uma arquitetura candidata</a:t>
            </a:r>
          </a:p>
          <a:p>
            <a:pPr lvl="1" algn="just"/>
            <a:r>
              <a:rPr lang="pt-BR" sz="2800" dirty="0"/>
              <a:t>treinar essa arquitetura do zero</a:t>
            </a:r>
          </a:p>
          <a:p>
            <a:pPr lvl="1" algn="just"/>
            <a:r>
              <a:rPr lang="pt-BR" sz="2800" dirty="0"/>
              <a:t>avaliar validação e teste</a:t>
            </a:r>
          </a:p>
          <a:p>
            <a:pPr lvl="1" algn="just"/>
            <a:r>
              <a:rPr lang="pt-BR" sz="2800" dirty="0"/>
              <a:t>repetir o processo para muitas arquiteturas</a:t>
            </a:r>
          </a:p>
          <a:p>
            <a:pPr lvl="1" algn="just"/>
            <a:r>
              <a:rPr lang="pt-BR" sz="2800" dirty="0"/>
              <a:t>repetir execuções para lidar com variação aleatória</a:t>
            </a:r>
          </a:p>
          <a:p>
            <a:pPr marL="0" indent="0" algn="just">
              <a:buNone/>
            </a:pPr>
            <a:endParaRPr lang="pt-BR" sz="3200" dirty="0"/>
          </a:p>
          <a:p>
            <a:pPr marL="0" indent="0" algn="just">
              <a:buNone/>
            </a:pPr>
            <a:r>
              <a:rPr lang="pt-BR" sz="3200" dirty="0"/>
              <a:t>O gargalo não era apenas encontrar boas arquiteturas, mas avaliar cada arquitetura de forma confiável.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E51C94-D0C2-1EFA-0712-C8D2031F4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en-US" noProof="1" smtClean="0"/>
              <a:t>4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681623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C8928-B08A-9B3A-387C-FB2583E8A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A2161A-8D0A-6FD9-09F6-39BCACDDA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771"/>
            <a:ext cx="10515600" cy="1325563"/>
          </a:xfrm>
        </p:spPr>
        <p:txBody>
          <a:bodyPr/>
          <a:lstStyle/>
          <a:p>
            <a:r>
              <a:rPr lang="en-US" noProof="1"/>
              <a:t>Contexto do Tema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2EA1FB8-04CC-7DB4-6953-6DFBCA4BAB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9520"/>
            <a:ext cx="10515600" cy="525271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sz="3200" dirty="0"/>
              <a:t>O NAS-Bench-101 transforma a avaliação de arquiteturas em uma consulta a uma base tabular. Em vez de treinar uma rede candidata durante cada experimento de NAS, o método permite consultar:</a:t>
            </a:r>
          </a:p>
          <a:p>
            <a:pPr lvl="1" algn="just"/>
            <a:r>
              <a:rPr lang="pt-BR" sz="2800" dirty="0"/>
              <a:t>acurácia de treino</a:t>
            </a:r>
          </a:p>
          <a:p>
            <a:pPr lvl="1" algn="just"/>
            <a:r>
              <a:rPr lang="pt-BR" sz="2800" dirty="0"/>
              <a:t>acurácia de validação</a:t>
            </a:r>
          </a:p>
          <a:p>
            <a:pPr lvl="1" algn="just"/>
            <a:r>
              <a:rPr lang="pt-BR" sz="2800" dirty="0"/>
              <a:t>acurácia de teste</a:t>
            </a:r>
          </a:p>
          <a:p>
            <a:pPr lvl="1" algn="just"/>
            <a:r>
              <a:rPr lang="pt-BR" sz="2800" dirty="0"/>
              <a:t>tempo de treinamento</a:t>
            </a:r>
          </a:p>
          <a:p>
            <a:pPr lvl="1" algn="just"/>
            <a:r>
              <a:rPr lang="pt-BR" sz="2800" dirty="0"/>
              <a:t>número de parâmetros</a:t>
            </a:r>
          </a:p>
          <a:p>
            <a:pPr marL="0" indent="0" algn="just">
              <a:buNone/>
            </a:pPr>
            <a:r>
              <a:rPr lang="pt-BR" sz="3200" dirty="0"/>
              <a:t>Assim, o custo principal de avaliação é substituído por uma busca em uma tabela </a:t>
            </a:r>
            <a:r>
              <a:rPr lang="pt-BR" sz="3200" dirty="0" err="1"/>
              <a:t>pré</a:t>
            </a:r>
            <a:r>
              <a:rPr lang="pt-BR" sz="3200" dirty="0"/>
              <a:t>-computada.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B6FEE6-75B0-1CE5-A981-F56469D23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en-US" noProof="1" smtClean="0"/>
              <a:t>5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13096786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7944B-3372-1D90-B28C-FB3952096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52B460-304F-8D6A-49E2-170E86973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47509"/>
            <a:ext cx="10515600" cy="1325563"/>
          </a:xfrm>
        </p:spPr>
        <p:txBody>
          <a:bodyPr/>
          <a:lstStyle/>
          <a:p>
            <a:r>
              <a:rPr lang="en-US" noProof="1"/>
              <a:t>Introdução do artigo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9FDF00C-07E3-57DD-2C43-753297609C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9824"/>
            <a:ext cx="10515600" cy="486473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3200" noProof="1">
                <a:solidFill>
                  <a:srgbClr val="1C2430"/>
                </a:solidFill>
              </a:rPr>
              <a:t>Os autores construíram um benchmark com:</a:t>
            </a:r>
          </a:p>
          <a:p>
            <a:pPr lvl="1"/>
            <a:r>
              <a:rPr lang="pt-BR" sz="2800" noProof="1">
                <a:solidFill>
                  <a:srgbClr val="1C2430"/>
                </a:solidFill>
              </a:rPr>
              <a:t>search space compacto, mas expressivo</a:t>
            </a:r>
          </a:p>
          <a:p>
            <a:pPr lvl="1"/>
            <a:r>
              <a:rPr lang="pt-BR" sz="2800" noProof="1">
                <a:solidFill>
                  <a:srgbClr val="1C2430"/>
                </a:solidFill>
              </a:rPr>
              <a:t>arquiteturas CNN baseadas em células</a:t>
            </a:r>
          </a:p>
          <a:p>
            <a:pPr lvl="1"/>
            <a:r>
              <a:rPr lang="pt-BR" sz="2800" noProof="1">
                <a:solidFill>
                  <a:srgbClr val="1C2430"/>
                </a:solidFill>
              </a:rPr>
              <a:t>423 mil arquiteturas únicas após remoção de duplicatas</a:t>
            </a:r>
          </a:p>
          <a:p>
            <a:pPr lvl="1"/>
            <a:r>
              <a:rPr lang="pt-BR" sz="2800" noProof="1">
                <a:solidFill>
                  <a:srgbClr val="1C2430"/>
                </a:solidFill>
              </a:rPr>
              <a:t>treinamento e avaliação em CIFAR-10</a:t>
            </a:r>
          </a:p>
          <a:p>
            <a:pPr lvl="1"/>
            <a:r>
              <a:rPr lang="pt-BR" sz="2800" noProof="1">
                <a:solidFill>
                  <a:srgbClr val="1C2430"/>
                </a:solidFill>
              </a:rPr>
              <a:t>mais de 5 milhões de modelos treinados</a:t>
            </a:r>
          </a:p>
          <a:p>
            <a:pPr lvl="1"/>
            <a:r>
              <a:rPr lang="pt-BR" sz="2800" noProof="1">
                <a:solidFill>
                  <a:srgbClr val="1C2430"/>
                </a:solidFill>
              </a:rPr>
              <a:t>uso de mais de 100 TPU years de computação</a:t>
            </a:r>
          </a:p>
          <a:p>
            <a:endParaRPr lang="pt-BR" sz="3200" noProof="1">
              <a:solidFill>
                <a:srgbClr val="1C2430"/>
              </a:solidFill>
            </a:endParaRPr>
          </a:p>
          <a:p>
            <a:pPr marL="0" indent="0" algn="ctr">
              <a:buNone/>
            </a:pPr>
            <a:r>
              <a:rPr lang="pt-BR" sz="3200" b="1" noProof="1">
                <a:solidFill>
                  <a:srgbClr val="00B050"/>
                </a:solidFill>
              </a:rPr>
              <a:t>O resultado é um dataset público que mapeia arquiteturas para métricas de treinamento e desempenho.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674CDA-BEE6-E5C1-855E-5935D1F6B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en-US" noProof="1" smtClean="0"/>
              <a:t>6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9828307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02E94-B694-03D3-5581-4328BF12E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918F76-CC40-0AA6-3730-30D93B6CD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47509"/>
            <a:ext cx="10515600" cy="1325563"/>
          </a:xfrm>
        </p:spPr>
        <p:txBody>
          <a:bodyPr/>
          <a:lstStyle/>
          <a:p>
            <a:r>
              <a:rPr lang="en-US" noProof="1"/>
              <a:t>Introdução do artigo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AC9B18A-6145-071C-AFE1-D1EA710E66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9824"/>
            <a:ext cx="10515600" cy="486473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3200" noProof="1">
                <a:solidFill>
                  <a:srgbClr val="1C2430"/>
                </a:solidFill>
              </a:rPr>
              <a:t>O artigo contribui com três elementos centrais:</a:t>
            </a:r>
          </a:p>
          <a:p>
            <a:pPr lvl="1"/>
            <a:r>
              <a:rPr lang="pt-BR" sz="2800" noProof="1">
                <a:solidFill>
                  <a:srgbClr val="1C2430"/>
                </a:solidFill>
              </a:rPr>
              <a:t>Um dataset público e padronizado para pesquisa em NAS.</a:t>
            </a:r>
          </a:p>
          <a:p>
            <a:pPr lvl="1"/>
            <a:r>
              <a:rPr lang="pt-BR" sz="2800" noProof="1">
                <a:solidFill>
                  <a:srgbClr val="1C2430"/>
                </a:solidFill>
              </a:rPr>
              <a:t>Uma análise global do search space, permitindo estudar propriedades das arquiteturas.</a:t>
            </a:r>
          </a:p>
          <a:p>
            <a:pPr lvl="1"/>
            <a:r>
              <a:rPr lang="pt-BR" sz="2800" noProof="1">
                <a:solidFill>
                  <a:srgbClr val="1C2430"/>
                </a:solidFill>
              </a:rPr>
              <a:t>Um protocolo rápido para comparar algoritmos de busca, como random search, evolução e Bayesian optimization.</a:t>
            </a:r>
          </a:p>
          <a:p>
            <a:pPr lvl="1"/>
            <a:endParaRPr lang="pt-BR" sz="2800" noProof="1">
              <a:solidFill>
                <a:srgbClr val="1C2430"/>
              </a:solidFill>
            </a:endParaRPr>
          </a:p>
          <a:p>
            <a:pPr marL="0" indent="0" algn="ctr">
              <a:buNone/>
            </a:pPr>
            <a:r>
              <a:rPr lang="pt-BR" sz="3200" b="1" noProof="1">
                <a:solidFill>
                  <a:srgbClr val="DF1F56"/>
                </a:solidFill>
              </a:rPr>
              <a:t>O artigo não está dizendo: “criamos a melhor CNN para CIFAR-10”.</a:t>
            </a:r>
          </a:p>
          <a:p>
            <a:pPr marL="0" indent="0" algn="ctr">
              <a:buNone/>
            </a:pPr>
            <a:r>
              <a:rPr lang="pt-BR" sz="3200" b="1" noProof="1">
                <a:solidFill>
                  <a:srgbClr val="00B050"/>
                </a:solidFill>
              </a:rPr>
              <a:t>Ele está dizendo: “criamos um benchmark controlado para estudar algoritmos de NAS”.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134DA8-AA14-4E4C-9047-FC2002ED9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en-US" noProof="1" smtClean="0"/>
              <a:t>7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3600515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8123C-14C0-5275-CA5D-B60C355DE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9B6F04-4DBE-B7B1-6597-95967AFC1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441" y="0"/>
            <a:ext cx="10515600" cy="1325563"/>
          </a:xfrm>
        </p:spPr>
        <p:txBody>
          <a:bodyPr/>
          <a:lstStyle/>
          <a:p>
            <a:pPr fontAlgn="base"/>
            <a:r>
              <a:rPr lang="en-US" noProof="1"/>
              <a:t>Trabalhos relacionados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501EB7-F6C5-F969-A1A6-8110ADCA1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en-US" noProof="1" smtClean="0"/>
              <a:t>8</a:t>
            </a:fld>
            <a:endParaRPr lang="en-US" noProof="1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21DDE153-A280-A470-74A3-2B39774E30D0}"/>
              </a:ext>
            </a:extLst>
          </p:cNvPr>
          <p:cNvSpPr/>
          <p:nvPr/>
        </p:nvSpPr>
        <p:spPr>
          <a:xfrm>
            <a:off x="777240" y="1089152"/>
            <a:ext cx="3154680" cy="4315968"/>
          </a:xfrm>
          <a:prstGeom prst="roundRect">
            <a:avLst/>
          </a:prstGeom>
          <a:solidFill>
            <a:srgbClr val="EAF1F7"/>
          </a:solidFill>
          <a:ln w="12700">
            <a:solidFill>
              <a:srgbClr val="C8D3E0"/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B4703585-684E-F4FD-C76F-2BC28B81F8CE}"/>
              </a:ext>
            </a:extLst>
          </p:cNvPr>
          <p:cNvSpPr/>
          <p:nvPr/>
        </p:nvSpPr>
        <p:spPr>
          <a:xfrm>
            <a:off x="978408" y="1363472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noProof="1">
                <a:solidFill>
                  <a:srgbClr val="10253F"/>
                </a:solidFill>
              </a:rPr>
              <a:t>Arquiteturas projetadas manualmente</a:t>
            </a:r>
            <a:endParaRPr lang="en-US" sz="1700" noProof="1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A58E3874-760C-3B06-EAB6-BBD0F84261DD}"/>
              </a:ext>
            </a:extLst>
          </p:cNvPr>
          <p:cNvSpPr/>
          <p:nvPr/>
        </p:nvSpPr>
        <p:spPr>
          <a:xfrm>
            <a:off x="978408" y="2131568"/>
            <a:ext cx="272491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noProof="1">
                <a:solidFill>
                  <a:srgbClr val="1C2430"/>
                </a:solidFill>
              </a:rPr>
              <a:t>A</a:t>
            </a:r>
            <a:r>
              <a:rPr lang="pt-BR" noProof="1">
                <a:solidFill>
                  <a:srgbClr val="1C2430"/>
                </a:solidFill>
              </a:rPr>
              <a:t> literatura inclui abordagens para otimização de redes neurais de forma manual.</a:t>
            </a:r>
          </a:p>
          <a:p>
            <a:pPr marL="0" indent="0" algn="ctr">
              <a:buNone/>
            </a:pPr>
            <a:endParaRPr lang="pt-BR" noProof="1">
              <a:solidFill>
                <a:srgbClr val="1C2430"/>
              </a:solidFill>
            </a:endParaRPr>
          </a:p>
          <a:p>
            <a:pPr marL="0" indent="0" algn="ctr">
              <a:buNone/>
            </a:pPr>
            <a:r>
              <a:rPr lang="pt-BR" noProof="1"/>
              <a:t>Redes como Inception, ResNet e DenseNet mostram que a organização das camadas tem impacto direto no desempenho.</a:t>
            </a:r>
            <a:endParaRPr lang="en-US" noProof="1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BEA96250-8BA2-5470-D49F-12111A428A96}"/>
              </a:ext>
            </a:extLst>
          </p:cNvPr>
          <p:cNvSpPr/>
          <p:nvPr/>
        </p:nvSpPr>
        <p:spPr>
          <a:xfrm>
            <a:off x="4187952" y="1089152"/>
            <a:ext cx="3154680" cy="4315968"/>
          </a:xfrm>
          <a:prstGeom prst="roundRect">
            <a:avLst/>
          </a:prstGeom>
          <a:solidFill>
            <a:srgbClr val="DCEFE9"/>
          </a:solidFill>
          <a:ln w="12700">
            <a:solidFill>
              <a:srgbClr val="C8D3E0"/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B2373546-866A-62C6-B066-2628A2D28FCE}"/>
              </a:ext>
            </a:extLst>
          </p:cNvPr>
          <p:cNvSpPr/>
          <p:nvPr/>
        </p:nvSpPr>
        <p:spPr>
          <a:xfrm>
            <a:off x="4389120" y="1363472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700" b="1" noProof="1">
                <a:solidFill>
                  <a:srgbClr val="10253F"/>
                </a:solidFill>
              </a:rPr>
              <a:t>NAS com alto custo computacional</a:t>
            </a:r>
            <a:endParaRPr lang="en-US" sz="1700" noProof="1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840D905B-A7C3-1003-37C5-39F649F40AB4}"/>
              </a:ext>
            </a:extLst>
          </p:cNvPr>
          <p:cNvSpPr/>
          <p:nvPr/>
        </p:nvSpPr>
        <p:spPr>
          <a:xfrm>
            <a:off x="4377397" y="2131568"/>
            <a:ext cx="279712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noProof="1">
                <a:solidFill>
                  <a:srgbClr val="1C2430"/>
                </a:solidFill>
              </a:rPr>
              <a:t>O</a:t>
            </a:r>
            <a:r>
              <a:rPr lang="pt-BR" noProof="1">
                <a:solidFill>
                  <a:srgbClr val="1C2430"/>
                </a:solidFill>
              </a:rPr>
              <a:t>s trabalhos anteriores monstram métodos baseados em reinforcement learning e evolução mostraram bons resultados.</a:t>
            </a:r>
          </a:p>
          <a:p>
            <a:pPr marL="0" indent="0" algn="just">
              <a:buNone/>
            </a:pPr>
            <a:endParaRPr lang="pt-BR" noProof="1">
              <a:solidFill>
                <a:srgbClr val="1C2430"/>
              </a:solidFill>
            </a:endParaRPr>
          </a:p>
          <a:p>
            <a:pPr marL="0" indent="0" algn="just">
              <a:buNone/>
            </a:pPr>
            <a:endParaRPr lang="pt-BR" noProof="1">
              <a:solidFill>
                <a:srgbClr val="1C2430"/>
              </a:solidFill>
            </a:endParaRPr>
          </a:p>
          <a:p>
            <a:pPr marL="0" indent="0" algn="ctr">
              <a:buNone/>
            </a:pPr>
            <a:r>
              <a:rPr lang="pt-BR" noProof="1">
                <a:solidFill>
                  <a:srgbClr val="1C2430"/>
                </a:solidFill>
              </a:rPr>
              <a:t>O problema é que muitos desses métodos ainda exigem alto custo de busca.</a:t>
            </a:r>
            <a:endParaRPr lang="en-US" noProof="1"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EC023AE5-2EF4-E20E-E0B5-33492FD1CE33}"/>
              </a:ext>
            </a:extLst>
          </p:cNvPr>
          <p:cNvSpPr/>
          <p:nvPr/>
        </p:nvSpPr>
        <p:spPr>
          <a:xfrm>
            <a:off x="7598664" y="1089152"/>
            <a:ext cx="3154680" cy="4315968"/>
          </a:xfrm>
          <a:prstGeom prst="roundRect">
            <a:avLst/>
          </a:prstGeom>
          <a:solidFill>
            <a:srgbClr val="F0ECF8"/>
          </a:solidFill>
          <a:ln w="12700">
            <a:solidFill>
              <a:srgbClr val="C8D3E0"/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7A12821C-88B8-A04B-22FF-2A607211C520}"/>
              </a:ext>
            </a:extLst>
          </p:cNvPr>
          <p:cNvSpPr/>
          <p:nvPr/>
        </p:nvSpPr>
        <p:spPr>
          <a:xfrm>
            <a:off x="7799832" y="1363472"/>
            <a:ext cx="2697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noProof="1">
                <a:solidFill>
                  <a:srgbClr val="10253F"/>
                </a:solidFill>
              </a:rPr>
              <a:t>NAS mais eficiente</a:t>
            </a:r>
            <a:endParaRPr lang="en-US" sz="1700" noProof="1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32EA777A-014D-ED7D-A5CA-225616867FCF}"/>
              </a:ext>
            </a:extLst>
          </p:cNvPr>
          <p:cNvSpPr/>
          <p:nvPr/>
        </p:nvSpPr>
        <p:spPr>
          <a:xfrm>
            <a:off x="7854696" y="1576196"/>
            <a:ext cx="2642616" cy="2640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noProof="1">
                <a:solidFill>
                  <a:srgbClr val="1C2430"/>
                </a:solidFill>
              </a:rPr>
              <a:t>Métodos com weight sharing, relaxação diferenciável e avaliação parcial reduzem custo, mas dificultam comparação justa.</a:t>
            </a:r>
            <a:endParaRPr lang="en-US" noProof="1"/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04B633EA-7B07-3F32-A885-CDA836DA6A9D}"/>
              </a:ext>
            </a:extLst>
          </p:cNvPr>
          <p:cNvSpPr/>
          <p:nvPr/>
        </p:nvSpPr>
        <p:spPr>
          <a:xfrm>
            <a:off x="777240" y="5642864"/>
            <a:ext cx="10012680" cy="981456"/>
          </a:xfrm>
          <a:prstGeom prst="roundRect">
            <a:avLst/>
          </a:prstGeom>
          <a:solidFill>
            <a:srgbClr val="FFF5F5"/>
          </a:solidFill>
          <a:ln w="12700">
            <a:solidFill>
              <a:srgbClr val="A84D4D"/>
            </a:solidFill>
            <a:prstDash val="solid"/>
          </a:ln>
        </p:spPr>
        <p:txBody>
          <a:bodyPr/>
          <a:lstStyle/>
          <a:p>
            <a:endParaRPr lang="en-US" noProof="1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A606A57E-8940-4E54-2CEC-96A6C6EA5E2A}"/>
              </a:ext>
            </a:extLst>
          </p:cNvPr>
          <p:cNvSpPr/>
          <p:nvPr/>
        </p:nvSpPr>
        <p:spPr>
          <a:xfrm>
            <a:off x="1024128" y="5933440"/>
            <a:ext cx="955548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2000" b="1" noProof="1">
                <a:solidFill>
                  <a:srgbClr val="A84D4D"/>
                </a:solidFill>
              </a:rPr>
              <a:t>A lacuna principal é a falta de um ambiente padronizado para comparar algoritmos de busca.</a:t>
            </a:r>
            <a:endParaRPr lang="en-US" sz="2000" noProof="1"/>
          </a:p>
        </p:txBody>
      </p:sp>
    </p:spTree>
    <p:extLst>
      <p:ext uri="{BB962C8B-B14F-4D97-AF65-F5344CB8AC3E}">
        <p14:creationId xmlns:p14="http://schemas.microsoft.com/office/powerpoint/2010/main" val="24783711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3FFF02-0FC8-9F0B-AAB0-565FC99EA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686" y="-266700"/>
            <a:ext cx="10515600" cy="1325563"/>
          </a:xfrm>
        </p:spPr>
        <p:txBody>
          <a:bodyPr/>
          <a:lstStyle/>
          <a:p>
            <a:r>
              <a:rPr lang="en-US" noProof="1"/>
              <a:t>Modelo de Sistema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121DBD-EBA2-0339-1851-ABB1ADAA1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en-US" noProof="1" smtClean="0"/>
              <a:t>9</a:t>
            </a:fld>
            <a:endParaRPr lang="en-US" noProof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5652D4-4293-20A1-894D-300E67DBD5A3}"/>
              </a:ext>
            </a:extLst>
          </p:cNvPr>
          <p:cNvSpPr txBox="1"/>
          <p:nvPr/>
        </p:nvSpPr>
        <p:spPr>
          <a:xfrm>
            <a:off x="0" y="6541354"/>
            <a:ext cx="1060938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NAS-Bench-101: Towards Reproducible Neural Architecture Search, in Proc. 36th Int. Conf. Mach. Learn. (ICML), Long Beach, CA, USA, 2019, pp. 7105-7114.</a:t>
            </a:r>
            <a:endParaRPr lang="en-US" sz="1200" noProof="1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0F33DB-861D-BB12-9FD0-8D22BA7DB8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5733" y="1082027"/>
            <a:ext cx="9720533" cy="4693946"/>
          </a:xfrm>
          <a:prstGeom prst="rect">
            <a:avLst/>
          </a:prstGeom>
          <a:ln w="762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472595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BE285-98AE-32A8-2AAC-D8E8E2859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7718DC-11C9-C532-2A4A-B2E305453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686" y="-266700"/>
            <a:ext cx="10515600" cy="1325563"/>
          </a:xfrm>
        </p:spPr>
        <p:txBody>
          <a:bodyPr/>
          <a:lstStyle/>
          <a:p>
            <a:r>
              <a:rPr lang="en-US" noProof="1"/>
              <a:t>Modelo de Sistema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284856-E01D-26AA-CD22-E7C2543DB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en-US" noProof="1" smtClean="0"/>
              <a:t>10</a:t>
            </a:fld>
            <a:endParaRPr lang="en-US" noProof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F1A751-E733-9C7D-C095-E13AE9D364A8}"/>
              </a:ext>
            </a:extLst>
          </p:cNvPr>
          <p:cNvSpPr txBox="1"/>
          <p:nvPr/>
        </p:nvSpPr>
        <p:spPr>
          <a:xfrm>
            <a:off x="0" y="6599229"/>
            <a:ext cx="1060938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NAS-Bench-101: Towards Reproducible Neural Architecture Search, in Proc. 36th Int. Conf. Mach. Learn. (ICML), Long Beach, CA, USA, 2019, pp. 7105-7114.</a:t>
            </a:r>
            <a:endParaRPr lang="en-US" sz="1200" noProof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C3AAA2-16AA-E760-80E5-C687C37FA1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644" y="717230"/>
            <a:ext cx="11126156" cy="3520626"/>
          </a:xfrm>
          <a:prstGeom prst="rect">
            <a:avLst/>
          </a:prstGeom>
          <a:ln w="76200"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074F097-9F63-9ED8-E64E-6BDF1046CA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8416" y="4132162"/>
            <a:ext cx="5957694" cy="2406750"/>
          </a:xfrm>
          <a:prstGeom prst="rect">
            <a:avLst/>
          </a:prstGeom>
          <a:ln w="76200">
            <a:solidFill>
              <a:srgbClr val="FF0000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DC56DB5-9648-E060-387D-46A0B6EB8B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3397" y="2113765"/>
            <a:ext cx="3470963" cy="3742914"/>
          </a:xfrm>
          <a:prstGeom prst="rect">
            <a:avLst/>
          </a:prstGeom>
          <a:ln w="762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788660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052D1-E60E-558F-1244-72D81200F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A60067-CF74-0987-7FCF-178674BE2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686" y="-266700"/>
            <a:ext cx="10515600" cy="1325563"/>
          </a:xfrm>
        </p:spPr>
        <p:txBody>
          <a:bodyPr/>
          <a:lstStyle/>
          <a:p>
            <a:r>
              <a:rPr lang="en-US" noProof="1"/>
              <a:t>Modelo de Sistema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19DCC-4A9F-78C3-788A-57BE837A6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en-US" noProof="1" smtClean="0"/>
              <a:t>11</a:t>
            </a:fld>
            <a:endParaRPr lang="en-US" noProof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54BCB7-0CE1-5BA3-2973-323E0EE01513}"/>
              </a:ext>
            </a:extLst>
          </p:cNvPr>
          <p:cNvSpPr txBox="1"/>
          <p:nvPr/>
        </p:nvSpPr>
        <p:spPr>
          <a:xfrm>
            <a:off x="0" y="6541354"/>
            <a:ext cx="1060938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NAS-Bench-101: Towards Reproducible Neural Architecture Search, in Proc. 36th Int. Conf. Mach. Learn. (ICML), Long Beach, CA, USA, 2019, pp. 7105-7114.</a:t>
            </a:r>
            <a:endParaRPr lang="en-US" sz="1200" noProof="1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20C40B-C043-B7A1-CA2B-CED704C982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50" y="2565345"/>
            <a:ext cx="11179293" cy="3607457"/>
          </a:xfrm>
          <a:prstGeom prst="rect">
            <a:avLst/>
          </a:prstGeom>
          <a:ln w="76200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E7A14F2-7A35-35E3-C738-7019083A37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5092" y="334633"/>
            <a:ext cx="4268244" cy="1908460"/>
          </a:xfrm>
          <a:prstGeom prst="rect">
            <a:avLst/>
          </a:prstGeom>
          <a:ln w="76200"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29F8894-D512-25DE-7059-708EFBDA61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896" y="919144"/>
            <a:ext cx="7307300" cy="1277959"/>
          </a:xfrm>
          <a:prstGeom prst="rect">
            <a:avLst/>
          </a:prstGeom>
          <a:ln w="76200">
            <a:solidFill>
              <a:schemeClr val="tx1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005C1C2-34F6-9EF5-EE19-22602FFF4B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5384" y="2454437"/>
            <a:ext cx="3057952" cy="3829584"/>
          </a:xfrm>
          <a:prstGeom prst="rect">
            <a:avLst/>
          </a:prstGeom>
          <a:ln w="762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352816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EAABA-2A09-875F-9DBD-CD0C94CB5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D90BF4-2DAC-9286-80FB-741DB0CDA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686" y="-266700"/>
            <a:ext cx="10515600" cy="1325563"/>
          </a:xfrm>
        </p:spPr>
        <p:txBody>
          <a:bodyPr/>
          <a:lstStyle/>
          <a:p>
            <a:r>
              <a:rPr lang="en-US" noProof="1"/>
              <a:t>Modelo de Sistema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31B8C9-67D3-C0A7-2587-860024EA2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en-US" noProof="1" smtClean="0"/>
              <a:t>12</a:t>
            </a:fld>
            <a:endParaRPr lang="en-US" noProof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3D6241-8A79-C9F0-092C-B767AD1AA0CB}"/>
              </a:ext>
            </a:extLst>
          </p:cNvPr>
          <p:cNvSpPr txBox="1"/>
          <p:nvPr/>
        </p:nvSpPr>
        <p:spPr>
          <a:xfrm>
            <a:off x="0" y="6541354"/>
            <a:ext cx="1060938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NAS-Bench-101: Towards Reproducible Neural Architecture Search, in Proc. 36th Int. Conf. Mach. Learn. (ICML), Long Beach, CA, USA, 2019, pp. 7105-7114.</a:t>
            </a:r>
            <a:endParaRPr lang="en-US" sz="1200" noProof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8C260F-DF27-1C1E-AD24-5381E33281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985" y="815795"/>
            <a:ext cx="9737413" cy="4450686"/>
          </a:xfrm>
          <a:prstGeom prst="rect">
            <a:avLst/>
          </a:prstGeom>
          <a:ln w="76200"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AB0865C-A5E4-0E22-E28E-DF0957DF76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686" y="5395103"/>
            <a:ext cx="9857712" cy="39703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DAE1BB1-A6FD-3B43-64D2-B27DA198B4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33365" y="2530910"/>
            <a:ext cx="1398392" cy="43435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07A779B-0475-D5FB-6A29-513E2DCFAA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6759" y="3041138"/>
            <a:ext cx="2905530" cy="51442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4EE9114-132D-D5CC-D8DE-EDE93AC80D2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5686" y="5718924"/>
            <a:ext cx="7115261" cy="516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7967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A4D6E-0D54-5E41-7F62-9005A009B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63E12-4BB8-28DD-FDBD-13F33E49A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686" y="-266700"/>
            <a:ext cx="10515600" cy="1325563"/>
          </a:xfrm>
        </p:spPr>
        <p:txBody>
          <a:bodyPr/>
          <a:lstStyle/>
          <a:p>
            <a:r>
              <a:rPr lang="en-US" noProof="1"/>
              <a:t>Modelo de Sistema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768646-0498-B404-5E69-ACE124403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en-US" noProof="1" smtClean="0"/>
              <a:t>13</a:t>
            </a:fld>
            <a:endParaRPr lang="en-US" noProof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01E1F6-8243-2A29-860E-B3F2926364F3}"/>
              </a:ext>
            </a:extLst>
          </p:cNvPr>
          <p:cNvSpPr txBox="1"/>
          <p:nvPr/>
        </p:nvSpPr>
        <p:spPr>
          <a:xfrm>
            <a:off x="0" y="6541354"/>
            <a:ext cx="1060938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NAS-Bench-101: Towards Reproducible Neural Architecture Search, in Proc. 36th Int. Conf. Mach. Learn. (ICML), Long Beach, CA, USA, 2019, pp. 7105-7114.</a:t>
            </a:r>
            <a:endParaRPr lang="en-US" sz="1200" noProof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8BD5C87-3A73-0425-E0E3-460114920A34}"/>
                  </a:ext>
                </a:extLst>
              </p:cNvPr>
              <p:cNvSpPr txBox="1"/>
              <p:nvPr/>
            </p:nvSpPr>
            <p:spPr>
              <a:xfrm>
                <a:off x="223087" y="1041280"/>
                <a:ext cx="6935347" cy="37856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t-BR" sz="2000" dirty="0"/>
                  <a:t>Os autores precisam de uma forma computacional de representar cada arquitetura. Para isso, usam uma matriz de adjacência </a:t>
                </a:r>
                <a14:m>
                  <m:oMath xmlns:m="http://schemas.openxmlformats.org/officeDocument/2006/math">
                    <m:r>
                      <a:rPr lang="pt-BR" sz="2000">
                        <a:latin typeface="Cambria Math" panose="02040503050406030204" pitchFamily="18" charset="0"/>
                      </a:rPr>
                      <m:t>7</m:t>
                    </m:r>
                    <m:r>
                      <a:rPr lang="pt-BR" sz="2000" i="0">
                        <a:latin typeface="Cambria Math" panose="02040503050406030204" pitchFamily="18" charset="0"/>
                      </a:rPr>
                      <m:t>×7</m:t>
                    </m:r>
                  </m:oMath>
                </a14:m>
                <a:r>
                  <a:rPr lang="pt-BR" sz="2000" dirty="0"/>
                  <a:t> e uma lista de operações.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pt-BR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t-BR" sz="2000" dirty="0"/>
                  <a:t>A matriz indica quais conexões existem entre os nós. Como o grafo é direcionado e acíclico, a matriz é triangular superior. Isso força as conexões a irem de nós anteriores para nós posteriores, evitando ciclos.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pt-BR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pt-BR" sz="2000" dirty="0"/>
                  <a:t>A lista </a:t>
                </a:r>
                <a14:m>
                  <m:oMath xmlns:m="http://schemas.openxmlformats.org/officeDocument/2006/math">
                    <m:r>
                      <a:rPr lang="pt-BR" sz="2000" b="1">
                        <a:latin typeface="Cambria Math" panose="02040503050406030204" pitchFamily="18" charset="0"/>
                      </a:rPr>
                      <m:t>𝐨</m:t>
                    </m:r>
                    <m:r>
                      <a:rPr lang="pt-BR" sz="2000" b="1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sz="2000" dirty="0"/>
                  <a:t>armazena as operações dos cinco nós intermediários. O nó de entrada e o nó de saída são fixos, então eles não recebem operações dentro dessa lista.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8BD5C87-3A73-0425-E0E3-460114920A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087" y="1041280"/>
                <a:ext cx="6935347" cy="3785652"/>
              </a:xfrm>
              <a:prstGeom prst="rect">
                <a:avLst/>
              </a:prstGeom>
              <a:blipFill>
                <a:blip r:embed="rId3"/>
                <a:stretch>
                  <a:fillRect l="-792" t="-966" r="-1319" b="-193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636F3FEA-351A-7596-F22D-4B02CA63705D}"/>
              </a:ext>
            </a:extLst>
          </p:cNvPr>
          <p:cNvSpPr txBox="1"/>
          <p:nvPr/>
        </p:nvSpPr>
        <p:spPr>
          <a:xfrm>
            <a:off x="681942" y="5156021"/>
            <a:ext cx="1082811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i="1" dirty="0">
                <a:solidFill>
                  <a:srgbClr val="DF1F56"/>
                </a:solidFill>
              </a:rPr>
              <a:t>Essa codificação é geral e simples. Porém, ela tem um problema: diferentes matrizes podem representar arquiteturas computacionalmente equivalentes. Por isso, o benchmark precisa remover duplicatas por isomorfismo de grafos.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FB89A9F-0D08-8315-0D97-F39277ACD1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3536" y="1119097"/>
            <a:ext cx="3125539" cy="1325563"/>
          </a:xfrm>
          <a:prstGeom prst="rect">
            <a:avLst/>
          </a:prstGeom>
          <a:ln w="76200"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4160FAA-8A7C-18D7-2DA6-510BFD9BBA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2503" y="2655441"/>
            <a:ext cx="4729684" cy="1900415"/>
          </a:xfrm>
          <a:prstGeom prst="rect">
            <a:avLst/>
          </a:prstGeom>
          <a:ln w="762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208339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28FD1-9E26-09FF-45CA-C23C56F8D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C08E77-6EF4-9022-EF70-CFAE06100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686" y="-266700"/>
            <a:ext cx="10515600" cy="1325563"/>
          </a:xfrm>
        </p:spPr>
        <p:txBody>
          <a:bodyPr/>
          <a:lstStyle/>
          <a:p>
            <a:r>
              <a:rPr lang="en-US" noProof="1"/>
              <a:t>Modelo de Sistema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504644-810E-C910-B0D7-CF4CFBCBE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en-US" noProof="1" smtClean="0"/>
              <a:t>14</a:t>
            </a:fld>
            <a:endParaRPr lang="en-US" noProof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7155A8-35F9-48C6-827F-0FDA8284C79F}"/>
              </a:ext>
            </a:extLst>
          </p:cNvPr>
          <p:cNvSpPr txBox="1"/>
          <p:nvPr/>
        </p:nvSpPr>
        <p:spPr>
          <a:xfrm>
            <a:off x="0" y="6541354"/>
            <a:ext cx="1060938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NAS-Bench-101: Towards Reproducible Neural Architecture Search, in Proc. 36th Int. Conf. Mach. Learn. (ICML), Long Beach, CA, USA, 2019, pp. 7105-7114.</a:t>
            </a:r>
            <a:endParaRPr lang="en-US" sz="1200" noProof="1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BEE1F36-16C6-99F2-3F99-DD58784B14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73" y="1203561"/>
            <a:ext cx="11582253" cy="4450877"/>
          </a:xfrm>
          <a:prstGeom prst="rect">
            <a:avLst/>
          </a:prstGeom>
          <a:ln w="762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834845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C13F6-A0A5-F48D-76C6-073F6BDAC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131E5E-B87A-FDAC-3C54-CD4ADE748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686" y="-266700"/>
            <a:ext cx="10515600" cy="1325563"/>
          </a:xfrm>
        </p:spPr>
        <p:txBody>
          <a:bodyPr/>
          <a:lstStyle/>
          <a:p>
            <a:r>
              <a:rPr lang="en-US" noProof="1"/>
              <a:t>Modelo de Sistema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42855B-13D8-F328-0642-FB22D1EFB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en-US" noProof="1" smtClean="0"/>
              <a:t>15</a:t>
            </a:fld>
            <a:endParaRPr lang="en-US" noProof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0DF0D7-4166-EA8A-92CD-7654CA90246A}"/>
              </a:ext>
            </a:extLst>
          </p:cNvPr>
          <p:cNvSpPr txBox="1"/>
          <p:nvPr/>
        </p:nvSpPr>
        <p:spPr>
          <a:xfrm>
            <a:off x="0" y="6541354"/>
            <a:ext cx="1060938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NAS-Bench-101: Towards Reproducible Neural Architecture Search, in Proc. 36th Int. Conf. Mach. Learn. (ICML), Long Beach, CA, USA, 2019, pp. 7105-7114.</a:t>
            </a:r>
            <a:endParaRPr lang="en-US" sz="1200" noProof="1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26EA812-6EB3-3CFF-B647-1E2A6EB329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1572" y="1058863"/>
            <a:ext cx="7883048" cy="2996638"/>
          </a:xfrm>
          <a:prstGeom prst="rect">
            <a:avLst/>
          </a:prstGeom>
          <a:ln w="76200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2B762F5-E39A-AC9C-2B41-5AC641B91F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2961" y="4380757"/>
            <a:ext cx="4400270" cy="1244214"/>
          </a:xfrm>
          <a:prstGeom prst="rect">
            <a:avLst/>
          </a:prstGeom>
          <a:ln w="76200">
            <a:solidFill>
              <a:srgbClr val="00B050"/>
            </a:solidFill>
          </a:ln>
        </p:spPr>
      </p:pic>
    </p:spTree>
    <p:extLst>
      <p:ext uri="{BB962C8B-B14F-4D97-AF65-F5344CB8AC3E}">
        <p14:creationId xmlns:p14="http://schemas.microsoft.com/office/powerpoint/2010/main" val="11072744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5DE06-45E9-D3C4-C39F-C3B097F1B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69AA83-590E-6B13-A03E-F51FCA1D3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686" y="-266700"/>
            <a:ext cx="10515600" cy="1325563"/>
          </a:xfrm>
        </p:spPr>
        <p:txBody>
          <a:bodyPr/>
          <a:lstStyle/>
          <a:p>
            <a:r>
              <a:rPr lang="en-US" noProof="1"/>
              <a:t>Modelo de Sistema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6AF61F-7089-6C2C-49DB-0D2C87202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en-US" noProof="1" smtClean="0"/>
              <a:t>16</a:t>
            </a:fld>
            <a:endParaRPr lang="en-US" noProof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3760AD-E45A-D30D-E28E-7D47A8D21714}"/>
              </a:ext>
            </a:extLst>
          </p:cNvPr>
          <p:cNvSpPr txBox="1"/>
          <p:nvPr/>
        </p:nvSpPr>
        <p:spPr>
          <a:xfrm>
            <a:off x="0" y="6541354"/>
            <a:ext cx="1060938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NAS-Bench-101: Towards Reproducible Neural Architecture Search, in Proc. 36th Int. Conf. Mach. Learn. (ICML), Long Beach, CA, USA, 2019, pp. 7105-7114.</a:t>
            </a:r>
            <a:endParaRPr lang="en-US" sz="1200" noProof="1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4C0BD7-5DD5-2F3E-1DD5-A198A507F3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686" y="897584"/>
            <a:ext cx="7043706" cy="5303923"/>
          </a:xfrm>
          <a:prstGeom prst="rect">
            <a:avLst/>
          </a:prstGeom>
          <a:ln w="76200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FD71707-CAB4-2BC0-9182-6238985532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7516" y="2419209"/>
            <a:ext cx="6258798" cy="2019582"/>
          </a:xfrm>
          <a:prstGeom prst="rect">
            <a:avLst/>
          </a:prstGeom>
          <a:ln w="762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672214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7597C-16BF-AF62-315E-2660945EB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760D6C-BA4F-7781-0DA5-422955C21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686" y="-266700"/>
            <a:ext cx="10515600" cy="1325563"/>
          </a:xfrm>
        </p:spPr>
        <p:txBody>
          <a:bodyPr/>
          <a:lstStyle/>
          <a:p>
            <a:r>
              <a:rPr lang="en-US" noProof="1"/>
              <a:t>Modelo de Sistema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692C90-1C2C-8DAC-9006-3A1E612F1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en-US" noProof="1" smtClean="0"/>
              <a:t>17</a:t>
            </a:fld>
            <a:endParaRPr lang="en-US" noProof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B84963-267B-AA01-2C6D-9903B917C217}"/>
              </a:ext>
            </a:extLst>
          </p:cNvPr>
          <p:cNvSpPr txBox="1"/>
          <p:nvPr/>
        </p:nvSpPr>
        <p:spPr>
          <a:xfrm>
            <a:off x="0" y="6541354"/>
            <a:ext cx="1060938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NAS-Bench-101: Towards Reproducible Neural Architecture Search, in Proc. 36th Int. Conf. Mach. Learn. (ICML), Long Beach, CA, USA, 2019, pp. 7105-7114.</a:t>
            </a:r>
            <a:endParaRPr lang="en-US" sz="1200" noProof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029E01-529A-A7FD-72DB-033347ADC7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2510" y="941614"/>
            <a:ext cx="9286875" cy="3276600"/>
          </a:xfrm>
          <a:prstGeom prst="rect">
            <a:avLst/>
          </a:prstGeom>
          <a:ln w="76200"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1E2CD7E-BDBA-0717-71B4-5B2A4A8B0611}"/>
              </a:ext>
            </a:extLst>
          </p:cNvPr>
          <p:cNvSpPr txBox="1"/>
          <p:nvPr/>
        </p:nvSpPr>
        <p:spPr>
          <a:xfrm>
            <a:off x="681942" y="4403218"/>
            <a:ext cx="1082811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i="1" dirty="0"/>
              <a:t>Cada arquitetura é treinada 3 vezes, com inicializações diferentes.</a:t>
            </a:r>
          </a:p>
          <a:p>
            <a:pPr algn="ctr"/>
            <a:endParaRPr lang="pt-BR" sz="2400" b="1" i="1" dirty="0"/>
          </a:p>
          <a:p>
            <a:pPr algn="ctr"/>
            <a:r>
              <a:rPr lang="pt-BR" sz="2400" b="1" i="1" dirty="0"/>
              <a:t>O resultado final é grande: cerca de 423 mil arquiteturas, 3 repetições e 4 budgets. Isso produz mais de </a:t>
            </a:r>
            <a:r>
              <a:rPr lang="pt-BR" sz="2400" b="1" i="1" dirty="0">
                <a:solidFill>
                  <a:srgbClr val="FF0000"/>
                </a:solidFill>
              </a:rPr>
              <a:t>5 milhões </a:t>
            </a:r>
            <a:r>
              <a:rPr lang="pt-BR" sz="2400" b="1" i="1" dirty="0"/>
              <a:t>de modelos treinados.</a:t>
            </a:r>
          </a:p>
        </p:txBody>
      </p:sp>
    </p:spTree>
    <p:extLst>
      <p:ext uri="{BB962C8B-B14F-4D97-AF65-F5344CB8AC3E}">
        <p14:creationId xmlns:p14="http://schemas.microsoft.com/office/powerpoint/2010/main" val="27106350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A4F84-A84F-237F-F1BA-39625B6F3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9061C6-14F9-AF44-3C24-7AF09B418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686" y="-266700"/>
            <a:ext cx="10515600" cy="1325563"/>
          </a:xfrm>
        </p:spPr>
        <p:txBody>
          <a:bodyPr/>
          <a:lstStyle/>
          <a:p>
            <a:r>
              <a:rPr lang="en-US" noProof="1"/>
              <a:t>Modelo de Sistema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C8B287-4C4B-91FC-7879-E3FE4573D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en-US" noProof="1" smtClean="0"/>
              <a:t>18</a:t>
            </a:fld>
            <a:endParaRPr lang="en-US" noProof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ECFDF0-A06A-4913-1B82-5A59911F16A6}"/>
              </a:ext>
            </a:extLst>
          </p:cNvPr>
          <p:cNvSpPr txBox="1"/>
          <p:nvPr/>
        </p:nvSpPr>
        <p:spPr>
          <a:xfrm>
            <a:off x="0" y="6541354"/>
            <a:ext cx="1060938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NAS-Bench-101: Towards Reproducible Neural Architecture Search, in Proc. 36th Int. Conf. Mach. Learn. (ICML), Long Beach, CA, USA, 2019, pp. 7105-7114.</a:t>
            </a:r>
            <a:endParaRPr lang="en-US" sz="1200" noProof="1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43A28A-8A30-06A6-A7E2-4E65C2D0BE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393" y="1243867"/>
            <a:ext cx="11317214" cy="4425253"/>
          </a:xfrm>
          <a:prstGeom prst="rect">
            <a:avLst/>
          </a:prstGeom>
          <a:ln w="762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744484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93D4F-95C3-EBF5-0984-1594A2528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04F561-5B73-005B-9942-DF605E8A2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686" y="-266700"/>
            <a:ext cx="10515600" cy="1325563"/>
          </a:xfrm>
        </p:spPr>
        <p:txBody>
          <a:bodyPr/>
          <a:lstStyle/>
          <a:p>
            <a:r>
              <a:rPr lang="en-US" noProof="1"/>
              <a:t>Modelo de Sistema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5853EB-8FC2-F937-56F1-E7CD95F83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en-US" noProof="1" smtClean="0"/>
              <a:t>19</a:t>
            </a:fld>
            <a:endParaRPr lang="en-US" noProof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B22C7B-166F-246F-BC25-A98FDB815441}"/>
              </a:ext>
            </a:extLst>
          </p:cNvPr>
          <p:cNvSpPr txBox="1"/>
          <p:nvPr/>
        </p:nvSpPr>
        <p:spPr>
          <a:xfrm>
            <a:off x="0" y="6541354"/>
            <a:ext cx="1060938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NAS-Bench-101: Towards Reproducible Neural Architecture Search, in Proc. 36th Int. Conf. Mach. Learn. (ICML), Long Beach, CA, USA, 2019, pp. 7105-7114.</a:t>
            </a:r>
            <a:endParaRPr lang="en-US" sz="1200" noProof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861D1F-347B-DFCA-6FB5-1B953856ED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800" y="1243867"/>
            <a:ext cx="11130399" cy="4421961"/>
          </a:xfrm>
          <a:prstGeom prst="rect">
            <a:avLst/>
          </a:prstGeom>
          <a:ln w="762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10236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5701E-AC8D-3E55-2CD3-31BD11372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7AC72F-6756-14C9-0D6A-9A5F63B63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686" y="-266700"/>
            <a:ext cx="10515600" cy="1325563"/>
          </a:xfrm>
        </p:spPr>
        <p:txBody>
          <a:bodyPr/>
          <a:lstStyle/>
          <a:p>
            <a:r>
              <a:rPr lang="en-US" noProof="1"/>
              <a:t>Modelo de Sistema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F9A2E-0778-94B4-7A06-ABD82748E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en-US" noProof="1" smtClean="0"/>
              <a:t>20</a:t>
            </a:fld>
            <a:endParaRPr lang="en-US" noProof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24A460-989D-3EEA-8167-D214C86EE6CA}"/>
              </a:ext>
            </a:extLst>
          </p:cNvPr>
          <p:cNvSpPr txBox="1"/>
          <p:nvPr/>
        </p:nvSpPr>
        <p:spPr>
          <a:xfrm>
            <a:off x="0" y="6541354"/>
            <a:ext cx="1060938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NAS-Bench-101: Towards Reproducible Neural Architecture Search, in Proc. 36th Int. Conf. Mach. Learn. (ICML), Long Beach, CA, USA, 2019, pp. 7105-7114.</a:t>
            </a:r>
            <a:endParaRPr lang="en-US" sz="1200" noProof="1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90F2ED-5C09-98FA-4866-E83999E1A0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215" y="1202711"/>
            <a:ext cx="11501570" cy="4452577"/>
          </a:xfrm>
          <a:prstGeom prst="rect">
            <a:avLst/>
          </a:prstGeom>
          <a:ln w="762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642016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4190C-BC4F-6A34-B864-146EF15D2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0C0B57-3F88-CF26-8031-0F3C622B2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686" y="-266700"/>
            <a:ext cx="10515600" cy="1325563"/>
          </a:xfrm>
        </p:spPr>
        <p:txBody>
          <a:bodyPr/>
          <a:lstStyle/>
          <a:p>
            <a:r>
              <a:rPr lang="en-US" noProof="1"/>
              <a:t>Modelo de Sistema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C8A34-010A-8E51-2AC8-E6419752A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en-US" noProof="1" smtClean="0"/>
              <a:t>21</a:t>
            </a:fld>
            <a:endParaRPr lang="en-US" noProof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236B5A-6970-CDCA-1385-E0F1232EBF6A}"/>
              </a:ext>
            </a:extLst>
          </p:cNvPr>
          <p:cNvSpPr txBox="1"/>
          <p:nvPr/>
        </p:nvSpPr>
        <p:spPr>
          <a:xfrm>
            <a:off x="0" y="6541354"/>
            <a:ext cx="1060938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NAS-Bench-101: Towards Reproducible Neural Architecture Search, in Proc. 36th Int. Conf. Mach. Learn. (ICML), Long Beach, CA, USA, 2019, pp. 7105-7114.</a:t>
            </a:r>
            <a:endParaRPr lang="en-US" sz="1200" noProof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8BD45C-7682-B6F0-9860-B9B715A063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573" y="891269"/>
            <a:ext cx="11074854" cy="3860378"/>
          </a:xfrm>
          <a:prstGeom prst="rect">
            <a:avLst/>
          </a:prstGeom>
          <a:ln w="76200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6851D29-4C22-BFAF-A04C-1F442DF285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860" y="5005961"/>
            <a:ext cx="11246280" cy="1281078"/>
          </a:xfrm>
          <a:prstGeom prst="rect">
            <a:avLst/>
          </a:prstGeom>
          <a:ln w="7620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13357849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CCB10-1AC3-7B8B-266D-3351D533D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C62AA4-E398-11E2-10D8-86F50B332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686" y="-266700"/>
            <a:ext cx="10515600" cy="1325563"/>
          </a:xfrm>
        </p:spPr>
        <p:txBody>
          <a:bodyPr/>
          <a:lstStyle/>
          <a:p>
            <a:r>
              <a:rPr lang="en-US" noProof="1"/>
              <a:t>Resultados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6EEB83-E3A3-61B7-CECC-A11A42FB3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en-US" noProof="1" smtClean="0"/>
              <a:t>22</a:t>
            </a:fld>
            <a:endParaRPr lang="en-US" noProof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30D2EF-D740-3A55-5553-8F9A703C940F}"/>
              </a:ext>
            </a:extLst>
          </p:cNvPr>
          <p:cNvSpPr txBox="1"/>
          <p:nvPr/>
        </p:nvSpPr>
        <p:spPr>
          <a:xfrm>
            <a:off x="0" y="6541354"/>
            <a:ext cx="1060938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NAS-Bench-101: Towards Reproducible Neural Architecture Search, in Proc. 36th Int. Conf. Mach. Learn. (ICML), Long Beach, CA, USA, 2019, pp. 7105-7114.</a:t>
            </a:r>
            <a:endParaRPr lang="en-US" sz="1200" noProof="1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1E7690-0435-A912-31BC-091B881FEA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213" y="1243867"/>
            <a:ext cx="10831573" cy="4362276"/>
          </a:xfrm>
          <a:prstGeom prst="rect">
            <a:avLst/>
          </a:prstGeom>
          <a:ln w="762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681693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8A973-3681-043B-D321-EAAF3607B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F0610E-0686-82BF-821E-6071DBF6F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686" y="-266700"/>
            <a:ext cx="10515600" cy="1325563"/>
          </a:xfrm>
        </p:spPr>
        <p:txBody>
          <a:bodyPr/>
          <a:lstStyle/>
          <a:p>
            <a:r>
              <a:rPr lang="en-US" noProof="1"/>
              <a:t>Resultados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C6B038-604A-A873-7B8D-8F4A882AB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en-US" noProof="1" smtClean="0"/>
              <a:t>23</a:t>
            </a:fld>
            <a:endParaRPr lang="en-US" noProof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D0AB65-F2D1-F3E0-A9B7-8E42C62F3E2A}"/>
              </a:ext>
            </a:extLst>
          </p:cNvPr>
          <p:cNvSpPr txBox="1"/>
          <p:nvPr/>
        </p:nvSpPr>
        <p:spPr>
          <a:xfrm>
            <a:off x="0" y="6541354"/>
            <a:ext cx="1060938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NAS-Bench-101: Towards Reproducible Neural Architecture Search, in Proc. 36th Int. Conf. Mach. Learn. (ICML), Long Beach, CA, USA, 2019, pp. 7105-7114.</a:t>
            </a:r>
            <a:endParaRPr lang="en-US" sz="1200" noProof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0B60FA-4275-BA0A-C439-06178FD505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4242" y="784679"/>
            <a:ext cx="9035143" cy="5571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477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75DED-4748-D3AB-5170-46940C47C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E74FD5-10A7-74E4-8FAE-0CF94759B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686" y="-266700"/>
            <a:ext cx="10515600" cy="1325563"/>
          </a:xfrm>
        </p:spPr>
        <p:txBody>
          <a:bodyPr/>
          <a:lstStyle/>
          <a:p>
            <a:r>
              <a:rPr lang="en-US" noProof="1"/>
              <a:t>Resultados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80E38-1866-F198-77C0-B2FF95044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en-US" noProof="1" smtClean="0"/>
              <a:t>24</a:t>
            </a:fld>
            <a:endParaRPr lang="en-US" noProof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A8DBA4-B038-7D4B-A295-1335B0BC7189}"/>
              </a:ext>
            </a:extLst>
          </p:cNvPr>
          <p:cNvSpPr txBox="1"/>
          <p:nvPr/>
        </p:nvSpPr>
        <p:spPr>
          <a:xfrm>
            <a:off x="0" y="6541354"/>
            <a:ext cx="1060938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NAS-Bench-101: Towards Reproducible Neural Architecture Search, in Proc. 36th Int. Conf. Mach. Learn. (ICML), Long Beach, CA, USA, 2019, pp. 7105-7114.</a:t>
            </a:r>
            <a:endParaRPr lang="en-US" sz="1200" noProof="1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6C53E9-9C4B-ED46-2F36-6F88AF4BF4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387" y="701799"/>
            <a:ext cx="11117226" cy="5611008"/>
          </a:xfrm>
          <a:prstGeom prst="rect">
            <a:avLst/>
          </a:prstGeom>
          <a:ln w="762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002156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D829F-3486-4C67-8559-774E27A73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3A4FD2-BFC3-1A87-8FD0-7664065AF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686" y="-266700"/>
            <a:ext cx="10515600" cy="1325563"/>
          </a:xfrm>
        </p:spPr>
        <p:txBody>
          <a:bodyPr/>
          <a:lstStyle/>
          <a:p>
            <a:r>
              <a:rPr lang="en-US" noProof="1"/>
              <a:t>Resultados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9B666C-D29C-FFC5-3C9A-096C3BDF1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en-US" noProof="1" smtClean="0"/>
              <a:t>25</a:t>
            </a:fld>
            <a:endParaRPr lang="en-US" noProof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C2C4DA-FBB4-CB81-AB45-4FD625AA6200}"/>
              </a:ext>
            </a:extLst>
          </p:cNvPr>
          <p:cNvSpPr txBox="1"/>
          <p:nvPr/>
        </p:nvSpPr>
        <p:spPr>
          <a:xfrm>
            <a:off x="0" y="6541354"/>
            <a:ext cx="1060938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NAS-Bench-101: Towards Reproducible Neural Architecture Search, in Proc. 36th Int. Conf. Mach. Learn. (ICML), Long Beach, CA, USA, 2019, pp. 7105-7114.</a:t>
            </a:r>
            <a:endParaRPr lang="en-US" sz="1200" noProof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599281-E2EE-EF77-3EB7-F0C375E47B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786" y="712855"/>
            <a:ext cx="10722428" cy="5432290"/>
          </a:xfrm>
          <a:prstGeom prst="rect">
            <a:avLst/>
          </a:prstGeom>
          <a:ln w="762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534050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E743E-8209-3C3D-CB63-20E603166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D8124A-C9E7-6F4A-8397-F88264F9B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686" y="-266700"/>
            <a:ext cx="10515600" cy="1325563"/>
          </a:xfrm>
        </p:spPr>
        <p:txBody>
          <a:bodyPr/>
          <a:lstStyle/>
          <a:p>
            <a:r>
              <a:rPr lang="en-US" noProof="1"/>
              <a:t>Resultados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DC70D2-FABC-CC2B-B8CF-6E3EB1780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en-US" noProof="1" smtClean="0"/>
              <a:t>26</a:t>
            </a:fld>
            <a:endParaRPr lang="en-US" noProof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9ED319-D712-BF7D-7D38-98B2721BA799}"/>
              </a:ext>
            </a:extLst>
          </p:cNvPr>
          <p:cNvSpPr txBox="1"/>
          <p:nvPr/>
        </p:nvSpPr>
        <p:spPr>
          <a:xfrm>
            <a:off x="0" y="6541354"/>
            <a:ext cx="1060938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NAS-Bench-101: Towards Reproducible Neural Architecture Search, in Proc. 36th Int. Conf. Mach. Learn. (ICML), Long Beach, CA, USA, 2019, pp. 7105-7114.</a:t>
            </a:r>
            <a:endParaRPr lang="en-US" sz="1200" noProof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D16DC7-281C-A6A6-7174-E613388111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76000"/>
            <a:ext cx="7681811" cy="55803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A7E9CCE-777F-53F8-58A4-853AA0D70EA6}"/>
              </a:ext>
            </a:extLst>
          </p:cNvPr>
          <p:cNvSpPr txBox="1"/>
          <p:nvPr/>
        </p:nvSpPr>
        <p:spPr>
          <a:xfrm>
            <a:off x="7326324" y="501650"/>
            <a:ext cx="4549990" cy="2554545"/>
          </a:xfrm>
          <a:prstGeom prst="rect">
            <a:avLst/>
          </a:prstGeom>
          <a:ln w="762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pt-BR" sz="2000" b="1" dirty="0"/>
              <a:t>RWA</a:t>
            </a:r>
            <a:r>
              <a:rPr lang="pt-BR" sz="2000" dirty="0"/>
              <a:t>, Random-Walk </a:t>
            </a:r>
            <a:r>
              <a:rPr lang="pt-BR" sz="2000" dirty="0" err="1"/>
              <a:t>Autocorrelation</a:t>
            </a:r>
            <a:r>
              <a:rPr lang="pt-BR" sz="2000" dirty="0"/>
              <a:t>, mede a autocorrelação das acurácias observadas durante uma caminhada aleatória pelo </a:t>
            </a:r>
            <a:r>
              <a:rPr lang="pt-BR" sz="2000" dirty="0" err="1"/>
              <a:t>search</a:t>
            </a:r>
            <a:r>
              <a:rPr lang="pt-BR" sz="2000" dirty="0"/>
              <a:t> </a:t>
            </a:r>
            <a:r>
              <a:rPr lang="pt-BR" sz="2000" dirty="0" err="1"/>
              <a:t>space</a:t>
            </a:r>
            <a:r>
              <a:rPr lang="pt-BR" sz="2000" dirty="0"/>
              <a:t>. </a:t>
            </a:r>
          </a:p>
          <a:p>
            <a:pPr algn="ctr"/>
            <a:endParaRPr lang="pt-BR" sz="2000" dirty="0"/>
          </a:p>
          <a:p>
            <a:pPr algn="ctr"/>
            <a:r>
              <a:rPr lang="pt-BR" sz="2000" dirty="0"/>
              <a:t>Se arquiteturas próximas têm acurácias parecidas, o RWA fica alto para pequenas distâncias.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9E2CE2-F7C2-50B7-28E0-9F7A9747B9A9}"/>
              </a:ext>
            </a:extLst>
          </p:cNvPr>
          <p:cNvSpPr txBox="1"/>
          <p:nvPr/>
        </p:nvSpPr>
        <p:spPr>
          <a:xfrm>
            <a:off x="7326323" y="3330545"/>
            <a:ext cx="4549989" cy="2554545"/>
          </a:xfrm>
          <a:prstGeom prst="rect">
            <a:avLst/>
          </a:prstGeom>
          <a:ln w="76200">
            <a:solidFill>
              <a:schemeClr val="tx1"/>
            </a:solidFill>
          </a:ln>
        </p:spPr>
        <p:txBody>
          <a:bodyPr wrap="square">
            <a:spAutoFit/>
          </a:bodyPr>
          <a:lstStyle>
            <a:defPPr>
              <a:defRPr lang="pt-BR"/>
            </a:defPPr>
            <a:lvl1pPr algn="ctr">
              <a:defRPr sz="2000" b="1"/>
            </a:lvl1pPr>
          </a:lstStyle>
          <a:p>
            <a:r>
              <a:rPr lang="pt-BR" dirty="0"/>
              <a:t>FDC</a:t>
            </a:r>
            <a:r>
              <a:rPr lang="pt-BR" b="0" dirty="0"/>
              <a:t>, Fitness-Distance </a:t>
            </a:r>
            <a:r>
              <a:rPr lang="pt-BR" b="0" dirty="0" err="1"/>
              <a:t>Correlation</a:t>
            </a:r>
            <a:r>
              <a:rPr lang="pt-BR" b="0" dirty="0"/>
              <a:t>, mede a relação entre a distância de uma arquitetura até a melhor arquitetura global e seu desempenho. </a:t>
            </a:r>
          </a:p>
          <a:p>
            <a:endParaRPr lang="pt-BR" b="0" dirty="0"/>
          </a:p>
          <a:p>
            <a:r>
              <a:rPr lang="pt-BR" b="0" dirty="0"/>
              <a:t>Se arquiteturas próximas do ótimo também possuem alta acurácia, existe uma bacia local ao redor do máximo.</a:t>
            </a:r>
          </a:p>
        </p:txBody>
      </p:sp>
    </p:spTree>
    <p:extLst>
      <p:ext uri="{BB962C8B-B14F-4D97-AF65-F5344CB8AC3E}">
        <p14:creationId xmlns:p14="http://schemas.microsoft.com/office/powerpoint/2010/main" val="20296674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38222-2F69-E34E-1614-0A5637664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251B00-C293-2BE0-0038-8A236B6C6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686" y="-266700"/>
            <a:ext cx="10515600" cy="1325563"/>
          </a:xfrm>
        </p:spPr>
        <p:txBody>
          <a:bodyPr/>
          <a:lstStyle/>
          <a:p>
            <a:r>
              <a:rPr lang="en-US" noProof="1"/>
              <a:t>Resultados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85BD7-A664-D552-6FA4-555030096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en-US" noProof="1" smtClean="0"/>
              <a:t>27</a:t>
            </a:fld>
            <a:endParaRPr lang="en-US" noProof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E88A2F-1688-A22D-2D34-8F23F7B5F1B7}"/>
              </a:ext>
            </a:extLst>
          </p:cNvPr>
          <p:cNvSpPr txBox="1"/>
          <p:nvPr/>
        </p:nvSpPr>
        <p:spPr>
          <a:xfrm>
            <a:off x="0" y="6541354"/>
            <a:ext cx="1060938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NAS-Bench-101: Towards Reproducible Neural Architecture Search, in Proc. 36th Int. Conf. Mach. Learn. (ICML), Long Beach, CA, USA, 2019, pp. 7105-7114.</a:t>
            </a:r>
            <a:endParaRPr lang="en-US" sz="1200" noProof="1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764FA6-82B7-8E1D-C2B0-0B4D615873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314" y="910757"/>
            <a:ext cx="7423378" cy="5297741"/>
          </a:xfrm>
          <a:prstGeom prst="rect">
            <a:avLst/>
          </a:prstGeom>
          <a:ln w="76200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659511B-65C0-166F-0B81-2714266299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9745" y="2458731"/>
            <a:ext cx="2924583" cy="714475"/>
          </a:xfrm>
          <a:prstGeom prst="rect">
            <a:avLst/>
          </a:prstGeom>
          <a:ln w="76200"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AC59F27-B464-2191-734B-7C6BCC6F03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3952" y="3270084"/>
            <a:ext cx="6296904" cy="1409897"/>
          </a:xfrm>
          <a:prstGeom prst="rect">
            <a:avLst/>
          </a:prstGeom>
          <a:ln w="762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835254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A0A19-49DB-A254-8E3C-6296CBF74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3FFD78-793A-29FA-2753-A4EDD9BA7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686" y="-266700"/>
            <a:ext cx="10515600" cy="1325563"/>
          </a:xfrm>
        </p:spPr>
        <p:txBody>
          <a:bodyPr/>
          <a:lstStyle/>
          <a:p>
            <a:r>
              <a:rPr lang="en-US" noProof="1"/>
              <a:t>Algoritmos Testados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4E8A20-FCF8-A731-1CBD-BBE82A7CF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en-US" noProof="1" smtClean="0"/>
              <a:t>28</a:t>
            </a:fld>
            <a:endParaRPr lang="en-US" noProof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9FA470-6422-BBE8-2088-7B28F496AF61}"/>
              </a:ext>
            </a:extLst>
          </p:cNvPr>
          <p:cNvSpPr txBox="1"/>
          <p:nvPr/>
        </p:nvSpPr>
        <p:spPr>
          <a:xfrm>
            <a:off x="0" y="6541354"/>
            <a:ext cx="1060938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NAS-Bench-101: Towards Reproducible Neural Architecture Search, in Proc. 36th Int. Conf. Mach. Learn. (ICML), Long Beach, CA, USA, 2019, pp. 7105-7114.</a:t>
            </a:r>
            <a:endParaRPr lang="en-US" sz="1200" noProof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325F96-B371-3985-392B-6A0EC4B263F1}"/>
              </a:ext>
            </a:extLst>
          </p:cNvPr>
          <p:cNvSpPr txBox="1"/>
          <p:nvPr/>
        </p:nvSpPr>
        <p:spPr>
          <a:xfrm>
            <a:off x="393247" y="1382286"/>
            <a:ext cx="11405506" cy="4093428"/>
          </a:xfrm>
          <a:prstGeom prst="rect">
            <a:avLst/>
          </a:prstGeom>
          <a:ln w="762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pt-BR" sz="2000" dirty="0"/>
              <a:t>O </a:t>
            </a:r>
            <a:r>
              <a:rPr lang="pt-BR" sz="2000" b="1" dirty="0"/>
              <a:t>RS, Random Search</a:t>
            </a:r>
            <a:r>
              <a:rPr lang="pt-BR" sz="2000" dirty="0"/>
              <a:t>, é o método mais simples. Ele apenas sorteia arquiteturas no espaço de busca e consulta o desempenho de cada uma. Ele não aprende com tentativas anteriores. Por isso, funciona como baseline: qualquer método mais complexo precisa justificar seu ganho em relação a essa busca aleatória.</a:t>
            </a:r>
          </a:p>
          <a:p>
            <a:pPr algn="just">
              <a:buNone/>
            </a:pPr>
            <a:endParaRPr lang="pt-BR" sz="2000" dirty="0"/>
          </a:p>
          <a:p>
            <a:pPr algn="just">
              <a:buNone/>
            </a:pPr>
            <a:r>
              <a:rPr lang="pt-BR" sz="2000" dirty="0"/>
              <a:t>O </a:t>
            </a:r>
            <a:r>
              <a:rPr lang="pt-BR" sz="2000" b="1" dirty="0"/>
              <a:t>RE, </a:t>
            </a:r>
            <a:r>
              <a:rPr lang="pt-BR" sz="2000" b="1" dirty="0" err="1"/>
              <a:t>Regularized</a:t>
            </a:r>
            <a:r>
              <a:rPr lang="pt-BR" sz="2000" b="1" dirty="0"/>
              <a:t> Evolution</a:t>
            </a:r>
            <a:r>
              <a:rPr lang="pt-BR" sz="2000" dirty="0"/>
              <a:t>, usa uma população de arquiteturas. A cada iteração, o método seleciona algumas candidatas, escolhe uma arquitetura com bom desempenho, aplica uma mutação e adiciona o novo indivíduo à população. A regularização vem da remoção das arquiteturas mais antigas, o que força renovação e reduz dependência de soluções antigas.</a:t>
            </a:r>
          </a:p>
          <a:p>
            <a:pPr algn="just">
              <a:buNone/>
            </a:pPr>
            <a:endParaRPr lang="pt-BR" sz="2000" dirty="0"/>
          </a:p>
          <a:p>
            <a:pPr algn="just">
              <a:buNone/>
            </a:pPr>
            <a:r>
              <a:rPr lang="pt-BR" sz="2000" dirty="0"/>
              <a:t>O </a:t>
            </a:r>
            <a:r>
              <a:rPr lang="pt-BR" sz="2000" b="1" dirty="0"/>
              <a:t>SMAC, </a:t>
            </a:r>
            <a:r>
              <a:rPr lang="pt-BR" sz="2000" b="1" dirty="0" err="1"/>
              <a:t>Sequential</a:t>
            </a:r>
            <a:r>
              <a:rPr lang="pt-BR" sz="2000" b="1" dirty="0"/>
              <a:t> Model-</a:t>
            </a:r>
            <a:r>
              <a:rPr lang="pt-BR" sz="2000" b="1" dirty="0" err="1"/>
              <a:t>based</a:t>
            </a:r>
            <a:r>
              <a:rPr lang="pt-BR" sz="2000" b="1" dirty="0"/>
              <a:t> </a:t>
            </a:r>
            <a:r>
              <a:rPr lang="pt-BR" sz="2000" b="1" dirty="0" err="1"/>
              <a:t>Algorithm</a:t>
            </a:r>
            <a:r>
              <a:rPr lang="pt-BR" sz="2000" b="1" dirty="0"/>
              <a:t> </a:t>
            </a:r>
            <a:r>
              <a:rPr lang="pt-BR" sz="2000" b="1" dirty="0" err="1"/>
              <a:t>Configuration</a:t>
            </a:r>
            <a:r>
              <a:rPr lang="pt-BR" sz="2000" dirty="0"/>
              <a:t>, é uma forma de </a:t>
            </a:r>
            <a:r>
              <a:rPr lang="pt-BR" sz="2000" dirty="0" err="1"/>
              <a:t>Bayesian</a:t>
            </a:r>
            <a:r>
              <a:rPr lang="pt-BR" sz="2000" dirty="0"/>
              <a:t> </a:t>
            </a:r>
            <a:r>
              <a:rPr lang="pt-BR" sz="2000" dirty="0" err="1"/>
              <a:t>optimization</a:t>
            </a:r>
            <a:r>
              <a:rPr lang="pt-BR" sz="2000" dirty="0"/>
              <a:t>. Ele constrói um modelo substituto, normalmente baseado em </a:t>
            </a:r>
            <a:r>
              <a:rPr lang="pt-BR" sz="2000" dirty="0" err="1"/>
              <a:t>random</a:t>
            </a:r>
            <a:r>
              <a:rPr lang="pt-BR" sz="2000" dirty="0"/>
              <a:t> </a:t>
            </a:r>
            <a:r>
              <a:rPr lang="pt-BR" sz="2000" dirty="0" err="1"/>
              <a:t>forest</a:t>
            </a:r>
            <a:r>
              <a:rPr lang="pt-BR" sz="2000" dirty="0"/>
              <a:t>, para estimar o desempenho de arquiteturas ainda não avaliadas. Em vez de testar candidatos totalmente às cegas, ele usa essa estimativa para escolher arquiteturas mais promissoras.</a:t>
            </a:r>
          </a:p>
        </p:txBody>
      </p:sp>
    </p:spTree>
    <p:extLst>
      <p:ext uri="{BB962C8B-B14F-4D97-AF65-F5344CB8AC3E}">
        <p14:creationId xmlns:p14="http://schemas.microsoft.com/office/powerpoint/2010/main" val="10941102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189BB-0587-DF7D-CEFB-42D611F81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6B1455-A1DB-6CDC-D43B-27DA2E713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686" y="-266700"/>
            <a:ext cx="10515600" cy="1325563"/>
          </a:xfrm>
        </p:spPr>
        <p:txBody>
          <a:bodyPr/>
          <a:lstStyle/>
          <a:p>
            <a:r>
              <a:rPr lang="en-US" noProof="1"/>
              <a:t>Algoritmos Testados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9D2FCC-9C7C-B47D-A17F-73E615233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en-US" noProof="1" smtClean="0"/>
              <a:t>29</a:t>
            </a:fld>
            <a:endParaRPr lang="en-US" noProof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6A6961-E0D8-FD4F-BC34-48F325B9A27A}"/>
              </a:ext>
            </a:extLst>
          </p:cNvPr>
          <p:cNvSpPr txBox="1"/>
          <p:nvPr/>
        </p:nvSpPr>
        <p:spPr>
          <a:xfrm>
            <a:off x="0" y="6541354"/>
            <a:ext cx="1060938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NAS-Bench-101: Towards Reproducible Neural Architecture Search, in Proc. 36th Int. Conf. Mach. Learn. (ICML), Long Beach, CA, USA, 2019, pp. 7105-7114.</a:t>
            </a:r>
            <a:endParaRPr lang="en-US" sz="1200" noProof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663517-AAFC-DA82-AA73-BEEA116FFA00}"/>
              </a:ext>
            </a:extLst>
          </p:cNvPr>
          <p:cNvSpPr txBox="1"/>
          <p:nvPr/>
        </p:nvSpPr>
        <p:spPr>
          <a:xfrm>
            <a:off x="315686" y="934937"/>
            <a:ext cx="11405506" cy="5324535"/>
          </a:xfrm>
          <a:prstGeom prst="rect">
            <a:avLst/>
          </a:prstGeom>
          <a:ln w="762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pt-BR" sz="2000" dirty="0"/>
              <a:t>O </a:t>
            </a:r>
            <a:r>
              <a:rPr lang="pt-BR" sz="2000" b="1" dirty="0"/>
              <a:t>TPE, </a:t>
            </a:r>
            <a:r>
              <a:rPr lang="pt-BR" sz="2000" b="1" dirty="0" err="1"/>
              <a:t>Tree-structured</a:t>
            </a:r>
            <a:r>
              <a:rPr lang="pt-BR" sz="2000" b="1" dirty="0"/>
              <a:t> </a:t>
            </a:r>
            <a:r>
              <a:rPr lang="pt-BR" sz="2000" b="1" dirty="0" err="1"/>
              <a:t>Parzen</a:t>
            </a:r>
            <a:r>
              <a:rPr lang="pt-BR" sz="2000" b="1" dirty="0"/>
              <a:t> </a:t>
            </a:r>
            <a:r>
              <a:rPr lang="pt-BR" sz="2000" b="1" dirty="0" err="1"/>
              <a:t>Estimator</a:t>
            </a:r>
            <a:r>
              <a:rPr lang="pt-BR" sz="2000" dirty="0"/>
              <a:t>, também é </a:t>
            </a:r>
            <a:r>
              <a:rPr lang="pt-BR" sz="2000" dirty="0" err="1"/>
              <a:t>Bayesian</a:t>
            </a:r>
            <a:r>
              <a:rPr lang="pt-BR" sz="2000" dirty="0"/>
              <a:t> </a:t>
            </a:r>
            <a:r>
              <a:rPr lang="pt-BR" sz="2000" dirty="0" err="1"/>
              <a:t>optimization</a:t>
            </a:r>
            <a:r>
              <a:rPr lang="pt-BR" sz="2000" dirty="0"/>
              <a:t>, mas modela o problema por densidades. Ele divide as arquiteturas já avaliadas em dois grupos, boas e ruins, aprende distribuições para cada grupo e tenta amostrar novas arquiteturas que sejam mais prováveis no grupo bom do que no grupo ruim.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O </a:t>
            </a:r>
            <a:r>
              <a:rPr lang="pt-BR" sz="2000" b="1" dirty="0"/>
              <a:t>HB, </a:t>
            </a:r>
            <a:r>
              <a:rPr lang="pt-BR" sz="2000" b="1" dirty="0" err="1"/>
              <a:t>Hyperband</a:t>
            </a:r>
            <a:r>
              <a:rPr lang="pt-BR" sz="2000" dirty="0"/>
              <a:t>, é um método </a:t>
            </a:r>
            <a:r>
              <a:rPr lang="pt-BR" sz="2000" dirty="0" err="1"/>
              <a:t>multi-fidelity</a:t>
            </a:r>
            <a:r>
              <a:rPr lang="pt-BR" sz="2000" dirty="0"/>
              <a:t>. Ele testa muitas arquiteturas com poucos recursos, por exemplo poucas épocas de treinamento, e mantém apenas as melhores para avaliações mais longas. A lógica é economizar custo eliminando cedo candidatos pouco promissores.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O </a:t>
            </a:r>
            <a:r>
              <a:rPr lang="pt-BR" sz="2000" b="1" dirty="0"/>
              <a:t>BOHB, </a:t>
            </a:r>
            <a:r>
              <a:rPr lang="pt-BR" sz="2000" b="1" dirty="0" err="1"/>
              <a:t>Bayesian</a:t>
            </a:r>
            <a:r>
              <a:rPr lang="pt-BR" sz="2000" b="1" dirty="0"/>
              <a:t> </a:t>
            </a:r>
            <a:r>
              <a:rPr lang="pt-BR" sz="2000" b="1" dirty="0" err="1"/>
              <a:t>Optimization</a:t>
            </a:r>
            <a:r>
              <a:rPr lang="pt-BR" sz="2000" b="1" dirty="0"/>
              <a:t> </a:t>
            </a:r>
            <a:r>
              <a:rPr lang="pt-BR" sz="2000" b="1" dirty="0" err="1"/>
              <a:t>and</a:t>
            </a:r>
            <a:r>
              <a:rPr lang="pt-BR" sz="2000" b="1" dirty="0"/>
              <a:t> </a:t>
            </a:r>
            <a:r>
              <a:rPr lang="pt-BR" sz="2000" b="1" dirty="0" err="1"/>
              <a:t>Hyperband</a:t>
            </a:r>
            <a:r>
              <a:rPr lang="pt-BR" sz="2000" dirty="0"/>
              <a:t>, combina as duas ideias. Ele usa a alocação progressiva de recursos do </a:t>
            </a:r>
            <a:r>
              <a:rPr lang="pt-BR" sz="2000" dirty="0" err="1"/>
              <a:t>Hyperband</a:t>
            </a:r>
            <a:r>
              <a:rPr lang="pt-BR" sz="2000" dirty="0"/>
              <a:t>, mas escolhe novos candidatos usando um modelo probabilístico. Assim, não depende apenas de amostragem aleatória nos estágios iniciais.</a:t>
            </a:r>
          </a:p>
          <a:p>
            <a:pPr algn="just"/>
            <a:endParaRPr lang="pt-BR" sz="2000" dirty="0"/>
          </a:p>
          <a:p>
            <a:pPr algn="just"/>
            <a:r>
              <a:rPr lang="pt-BR" sz="2000" dirty="0"/>
              <a:t>O </a:t>
            </a:r>
            <a:r>
              <a:rPr lang="pt-BR" sz="2000" b="1" dirty="0"/>
              <a:t>RL, </a:t>
            </a:r>
            <a:r>
              <a:rPr lang="pt-BR" sz="2000" b="1" dirty="0" err="1"/>
              <a:t>Reinforcement</a:t>
            </a:r>
            <a:r>
              <a:rPr lang="pt-BR" sz="2000" b="1" dirty="0"/>
              <a:t> Learning</a:t>
            </a:r>
            <a:r>
              <a:rPr lang="pt-BR" sz="2000" dirty="0"/>
              <a:t>, trata a geração de arquiteturas como uma política aprendível. O método gera uma arquitetura, recebe uma recompensa baseada no desempenho e ajusta a política para aumentar a probabilidade de escolhas que produziram bons resultados. No NAS-Bench-101, essa política é implementada de forma simples com distribuições categóricas otimizadas por </a:t>
            </a:r>
            <a:r>
              <a:rPr lang="pt-BR" sz="2000" dirty="0" err="1"/>
              <a:t>reinforce</a:t>
            </a:r>
            <a:r>
              <a:rPr lang="pt-BR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666462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31D59-61D3-7E34-538D-4D9218F96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118D68-E8FE-0561-3ACB-BD15B61DB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686" y="-266700"/>
            <a:ext cx="10515600" cy="1325563"/>
          </a:xfrm>
        </p:spPr>
        <p:txBody>
          <a:bodyPr/>
          <a:lstStyle/>
          <a:p>
            <a:r>
              <a:rPr lang="en-US" noProof="1"/>
              <a:t>RE - Regularized Evolution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43661B-BB7E-B00D-DD06-717D30FA8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en-US" noProof="1" smtClean="0"/>
              <a:t>30</a:t>
            </a:fld>
            <a:endParaRPr lang="en-US" noProof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A28CA1-9C24-7F8F-01D2-B8AF2DD1172F}"/>
              </a:ext>
            </a:extLst>
          </p:cNvPr>
          <p:cNvSpPr txBox="1"/>
          <p:nvPr/>
        </p:nvSpPr>
        <p:spPr>
          <a:xfrm>
            <a:off x="0" y="6541354"/>
            <a:ext cx="1060938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NAS-Bench-101: Towards Reproducible Neural Architecture Search, in Proc. 36th Int. Conf. Mach. Learn. (ICML), Long Beach, CA, USA, 2019, pp. 7105-7114.</a:t>
            </a:r>
            <a:endParaRPr lang="en-US" sz="1200" noProof="1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B300D8-8A02-12C5-E186-BFF92E9E6E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515" y="1058863"/>
            <a:ext cx="9050571" cy="4927828"/>
          </a:xfrm>
          <a:prstGeom prst="rect">
            <a:avLst/>
          </a:prstGeom>
          <a:ln w="76200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B960AAB-F290-D908-DAD2-F7878AF392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949" y="3429000"/>
            <a:ext cx="6525536" cy="2076740"/>
          </a:xfrm>
          <a:prstGeom prst="rect">
            <a:avLst/>
          </a:prstGeom>
          <a:ln w="762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927948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348F7-704B-A403-50B1-7B8A3BCF3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B27C41-4894-804E-D8F9-532FDC36C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685" y="-266700"/>
            <a:ext cx="13378543" cy="1325563"/>
          </a:xfrm>
        </p:spPr>
        <p:txBody>
          <a:bodyPr>
            <a:normAutofit/>
          </a:bodyPr>
          <a:lstStyle/>
          <a:p>
            <a:r>
              <a:rPr lang="en-US" sz="3600" noProof="1"/>
              <a:t>SMAC - Sequential Model-based Algorithm Configuration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4D03F2-30E4-02D6-54B7-3A783C04B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en-US" noProof="1" smtClean="0"/>
              <a:t>31</a:t>
            </a:fld>
            <a:endParaRPr lang="en-US" noProof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E85298-B43F-E866-BB50-0190648F4D6C}"/>
              </a:ext>
            </a:extLst>
          </p:cNvPr>
          <p:cNvSpPr txBox="1"/>
          <p:nvPr/>
        </p:nvSpPr>
        <p:spPr>
          <a:xfrm>
            <a:off x="0" y="6541354"/>
            <a:ext cx="1060938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NAS-Bench-101: Towards Reproducible Neural Architecture Search, in Proc. 36th Int. Conf. Mach. Learn. (ICML), Long Beach, CA, USA, 2019, pp. 7105-7114.</a:t>
            </a:r>
            <a:endParaRPr lang="en-US" sz="1200" noProof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439504-1F83-61F2-738E-5793DE6F5C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010" y="959398"/>
            <a:ext cx="10003980" cy="4939203"/>
          </a:xfrm>
          <a:prstGeom prst="rect">
            <a:avLst/>
          </a:prstGeom>
          <a:ln w="76200">
            <a:solidFill>
              <a:schemeClr val="tx1"/>
            </a:solidFill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C976831-8C80-CB8A-1CE4-327DBB09164A}"/>
                  </a:ext>
                </a:extLst>
              </p14:cNvPr>
              <p14:cNvContentPartPr/>
              <p14:nvPr/>
            </p14:nvContentPartPr>
            <p14:xfrm>
              <a:off x="5333160" y="4712486"/>
              <a:ext cx="2135160" cy="6444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C976831-8C80-CB8A-1CE4-327DBB09164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315520" y="4694846"/>
                <a:ext cx="2170800" cy="680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92229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9AD93-4D5B-D9DA-E9AB-47F1741EA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7DA9AA-BA26-485C-5674-93BD1C903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685" y="-266700"/>
            <a:ext cx="13378543" cy="1325563"/>
          </a:xfrm>
        </p:spPr>
        <p:txBody>
          <a:bodyPr>
            <a:normAutofit/>
          </a:bodyPr>
          <a:lstStyle/>
          <a:p>
            <a:r>
              <a:rPr lang="en-US" sz="4000" noProof="1"/>
              <a:t>TPE - Tree-structured Parzen Estimator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400859-1B24-3988-89E4-28AED7DD1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en-US" noProof="1" smtClean="0"/>
              <a:t>32</a:t>
            </a:fld>
            <a:endParaRPr lang="en-US" noProof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F65359-D92B-24A2-D955-890A19007D31}"/>
              </a:ext>
            </a:extLst>
          </p:cNvPr>
          <p:cNvSpPr txBox="1"/>
          <p:nvPr/>
        </p:nvSpPr>
        <p:spPr>
          <a:xfrm>
            <a:off x="0" y="6541354"/>
            <a:ext cx="1060938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NAS-Bench-101: Towards Reproducible Neural Architecture Search, in Proc. 36th Int. Conf. Mach. Learn. (ICML), Long Beach, CA, USA, 2019, pp. 7105-7114.</a:t>
            </a:r>
            <a:endParaRPr lang="en-US" sz="1200" noProof="1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03D45AF-6B09-87FB-4CB0-58A9127A35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334" y="785745"/>
            <a:ext cx="10039332" cy="5286509"/>
          </a:xfrm>
          <a:prstGeom prst="rect">
            <a:avLst/>
          </a:prstGeom>
          <a:ln w="762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121155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5D139-25CB-535B-8870-939F28B38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48B5C5-EBC5-3F59-3D6A-C337B206B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685" y="-266700"/>
            <a:ext cx="13378543" cy="1325563"/>
          </a:xfrm>
        </p:spPr>
        <p:txBody>
          <a:bodyPr>
            <a:normAutofit/>
          </a:bodyPr>
          <a:lstStyle/>
          <a:p>
            <a:r>
              <a:rPr lang="en-US" sz="4000" noProof="1"/>
              <a:t>HB - Hyperband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F81D12-721F-8CB5-439D-049367206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en-US" noProof="1" smtClean="0"/>
              <a:t>33</a:t>
            </a:fld>
            <a:endParaRPr lang="en-US" noProof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6EAFBD-94BA-E0B4-50FA-344ECB3CD46A}"/>
              </a:ext>
            </a:extLst>
          </p:cNvPr>
          <p:cNvSpPr txBox="1"/>
          <p:nvPr/>
        </p:nvSpPr>
        <p:spPr>
          <a:xfrm>
            <a:off x="0" y="6541354"/>
            <a:ext cx="1060938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NAS-Bench-101: Towards Reproducible Neural Architecture Search, in Proc. 36th Int. Conf. Mach. Learn. (ICML), Long Beach, CA, USA, 2019, pp. 7105-7114.</a:t>
            </a:r>
            <a:endParaRPr lang="en-US" sz="1200" noProof="1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06B3D2-536F-9DAB-9F03-F73A986CF0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6624" y="728285"/>
            <a:ext cx="9678751" cy="5401429"/>
          </a:xfrm>
          <a:prstGeom prst="rect">
            <a:avLst/>
          </a:prstGeom>
          <a:ln w="762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6334024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EAC05-953F-E46D-1311-37B9CC694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F546DF-9F92-0128-7404-2F96240AF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en-US" noProof="1" smtClean="0"/>
              <a:t>34</a:t>
            </a:fld>
            <a:endParaRPr lang="en-US" noProof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F26018-E304-A606-AA76-409208A2C8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7726"/>
            <a:ext cx="12094028" cy="480991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5CAA119-A56B-3B0E-FE14-45C5315AEA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801" y="4672937"/>
            <a:ext cx="6895989" cy="2051899"/>
          </a:xfrm>
          <a:prstGeom prst="rect">
            <a:avLst/>
          </a:prstGeom>
          <a:ln w="76200">
            <a:solidFill>
              <a:schemeClr val="tx1"/>
            </a:solidFill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F9CD3FF-49B4-A3B0-92D3-DFA1B0994B14}"/>
              </a:ext>
            </a:extLst>
          </p:cNvPr>
          <p:cNvSpPr txBox="1"/>
          <p:nvPr/>
        </p:nvSpPr>
        <p:spPr>
          <a:xfrm>
            <a:off x="8233654" y="4910695"/>
            <a:ext cx="265611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b="1" i="1" dirty="0">
                <a:solidFill>
                  <a:srgbClr val="FF0000"/>
                </a:solidFill>
              </a:rPr>
              <a:t>RE, BOHB e SMAC são os métodos mais fortes no benchmark</a:t>
            </a:r>
          </a:p>
        </p:txBody>
      </p:sp>
    </p:spTree>
    <p:extLst>
      <p:ext uri="{BB962C8B-B14F-4D97-AF65-F5344CB8AC3E}">
        <p14:creationId xmlns:p14="http://schemas.microsoft.com/office/powerpoint/2010/main" val="34771600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58302-BB13-4EB8-2207-E1FCBF89C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B6B4EC-9570-B576-ECA9-703481E00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685" y="-266700"/>
            <a:ext cx="13378543" cy="1325563"/>
          </a:xfrm>
        </p:spPr>
        <p:txBody>
          <a:bodyPr>
            <a:normAutofit/>
          </a:bodyPr>
          <a:lstStyle/>
          <a:p>
            <a:r>
              <a:rPr lang="en-US" sz="4000" noProof="1"/>
              <a:t>Conclusões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9E8A64-69BD-81CF-52FB-7E8A0A097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en-US" noProof="1" smtClean="0"/>
              <a:t>35</a:t>
            </a:fld>
            <a:endParaRPr lang="en-US" noProof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80523D-24F5-5FDE-CDA2-24FF62382E62}"/>
              </a:ext>
            </a:extLst>
          </p:cNvPr>
          <p:cNvSpPr txBox="1"/>
          <p:nvPr/>
        </p:nvSpPr>
        <p:spPr>
          <a:xfrm>
            <a:off x="0" y="6541354"/>
            <a:ext cx="1060938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NAS-Bench-101: Towards Reproducible Neural Architecture Search, in Proc. 36th Int. Conf. Mach. Learn. (ICML), Long Beach, CA, USA, 2019, pp. 7105-7114.</a:t>
            </a:r>
            <a:endParaRPr lang="en-US" sz="1200" noProof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AD040D-E37A-6957-6E5C-903BAD0F31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1218419"/>
            <a:ext cx="10058400" cy="4421161"/>
          </a:xfrm>
          <a:prstGeom prst="rect">
            <a:avLst/>
          </a:prstGeom>
          <a:ln w="762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2642259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70E7B-6F44-3369-A161-A66B6FA73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00B2D3-DC55-7002-0DD6-D956DD91D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685" y="-266700"/>
            <a:ext cx="13378543" cy="1325563"/>
          </a:xfrm>
        </p:spPr>
        <p:txBody>
          <a:bodyPr>
            <a:normAutofit/>
          </a:bodyPr>
          <a:lstStyle/>
          <a:p>
            <a:r>
              <a:rPr lang="en-US" sz="4000" noProof="1"/>
              <a:t>Trabalhos Futuros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78AE81-2EE7-C4FB-1D1C-3F98C8832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en-US" noProof="1" smtClean="0"/>
              <a:t>36</a:t>
            </a:fld>
            <a:endParaRPr lang="en-US" noProof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1DAD55-6AF6-7250-48F6-C20F2FF8048D}"/>
              </a:ext>
            </a:extLst>
          </p:cNvPr>
          <p:cNvSpPr txBox="1"/>
          <p:nvPr/>
        </p:nvSpPr>
        <p:spPr>
          <a:xfrm>
            <a:off x="0" y="6541354"/>
            <a:ext cx="1060938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NAS-Bench-101: Towards Reproducible Neural Architecture Search, in Proc. 36th Int. Conf. Mach. Learn. (ICML), Long Beach, CA, USA, 2019, pp. 7105-7114.</a:t>
            </a:r>
            <a:endParaRPr lang="en-US" sz="1200" noProof="1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571FC71-E8FB-3895-D26F-A95628190D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738" y="1359182"/>
            <a:ext cx="11110523" cy="4139635"/>
          </a:xfrm>
          <a:prstGeom prst="rect">
            <a:avLst/>
          </a:prstGeom>
          <a:ln w="762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633165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FE148-DB12-A0F8-E84E-294305CC3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52E889-5A6C-9BA6-3DA6-2DB09377B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726" y="38894"/>
            <a:ext cx="13378543" cy="1325563"/>
          </a:xfrm>
        </p:spPr>
        <p:txBody>
          <a:bodyPr>
            <a:normAutofit/>
          </a:bodyPr>
          <a:lstStyle/>
          <a:p>
            <a:r>
              <a:rPr lang="en-US" sz="4000" noProof="1"/>
              <a:t>Limitações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561F94-5561-5829-991C-EBB5979CC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en-US" noProof="1" smtClean="0"/>
              <a:t>37</a:t>
            </a:fld>
            <a:endParaRPr lang="en-US" noProof="1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F7963CB-AB02-7BF1-EB03-9BA76DA402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62" y="2995614"/>
            <a:ext cx="9452896" cy="3314246"/>
          </a:xfrm>
          <a:prstGeom prst="rect">
            <a:avLst/>
          </a:prstGeom>
          <a:ln w="76200"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FBD9645-74A7-BEDF-12ED-437C61582AA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965" r="6133"/>
          <a:stretch>
            <a:fillRect/>
          </a:stretch>
        </p:blipFill>
        <p:spPr>
          <a:xfrm>
            <a:off x="5654081" y="467291"/>
            <a:ext cx="6257193" cy="3952308"/>
          </a:xfrm>
          <a:prstGeom prst="rect">
            <a:avLst/>
          </a:prstGeom>
          <a:ln w="762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3797960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32666AC8-2E17-4DB4-B0F5-60C640CCFD2E}"/>
              </a:ext>
            </a:extLst>
          </p:cNvPr>
          <p:cNvSpPr txBox="1">
            <a:spLocks/>
          </p:cNvSpPr>
          <p:nvPr/>
        </p:nvSpPr>
        <p:spPr>
          <a:xfrm>
            <a:off x="1431533" y="2720526"/>
            <a:ext cx="9144000" cy="10295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600" noProof="1"/>
              <a:t>Perguntas?</a:t>
            </a:r>
            <a:endParaRPr lang="en-US" sz="6600" b="1" i="1" noProof="1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04195BA-EB49-2270-8D37-826FCB6E5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en-US" noProof="1" smtClean="0"/>
              <a:t>38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377300566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4C0D2-12E2-6EB1-1B6E-D36B48BD9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8FF23529-5F89-3689-FC66-F7112D838C67}"/>
              </a:ext>
            </a:extLst>
          </p:cNvPr>
          <p:cNvSpPr txBox="1">
            <a:spLocks/>
          </p:cNvSpPr>
          <p:nvPr/>
        </p:nvSpPr>
        <p:spPr>
          <a:xfrm>
            <a:off x="1384031" y="96079"/>
            <a:ext cx="9144000" cy="10295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600" noProof="1"/>
              <a:t>Quiz</a:t>
            </a:r>
            <a:endParaRPr lang="en-US" sz="6600" b="1" i="1" noProof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945A1BF-AD8D-885C-4306-55C6E017AA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13504"/>
            <a:ext cx="121920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4800" noProof="1">
                <a:latin typeface="Arial" panose="020B0604020202020204" pitchFamily="34" charset="0"/>
                <a:hlinkClick r:id="rId3"/>
              </a:rPr>
              <a:t>https://forms.gle/7uN4r39chu6JFJrM7</a:t>
            </a:r>
            <a:endParaRPr kumimoji="0" lang="en-US" sz="4800" b="0" i="0" u="none" strike="noStrike" cap="none" normalizeH="0" baseline="0" noProof="1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5743EFA-B826-0978-5C2F-50C49257C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en-US" noProof="1" smtClean="0"/>
              <a:t>39</a:t>
            </a:fld>
            <a:endParaRPr lang="en-US" noProof="1"/>
          </a:p>
        </p:txBody>
      </p:sp>
    </p:spTree>
    <p:extLst>
      <p:ext uri="{BB962C8B-B14F-4D97-AF65-F5344CB8AC3E}">
        <p14:creationId xmlns:p14="http://schemas.microsoft.com/office/powerpoint/2010/main" val="240056353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10340</TotalTime>
  <Words>2530</Words>
  <Application>Microsoft Office PowerPoint</Application>
  <PresentationFormat>Widescreen</PresentationFormat>
  <Paragraphs>237</Paragraphs>
  <Slides>39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4" baseType="lpstr">
      <vt:lpstr>Arial</vt:lpstr>
      <vt:lpstr>Calibri</vt:lpstr>
      <vt:lpstr>Calibri Light</vt:lpstr>
      <vt:lpstr>Cambria Math</vt:lpstr>
      <vt:lpstr>Tema do Office</vt:lpstr>
      <vt:lpstr>TP558 - Tópicos avançados em Machine Learning: NAS-Bench-101: Towards Reproducible Neural Architecture Search Proceedings of the 36th International Conference on Machine Learning, ICML 2019</vt:lpstr>
      <vt:lpstr>Contexto do Tema</vt:lpstr>
      <vt:lpstr>Contexto do Tema</vt:lpstr>
      <vt:lpstr>Contexto do Tema</vt:lpstr>
      <vt:lpstr>Contexto do Tema</vt:lpstr>
      <vt:lpstr>Introdução do artigo</vt:lpstr>
      <vt:lpstr>Introdução do artigo</vt:lpstr>
      <vt:lpstr>Trabalhos relacionados</vt:lpstr>
      <vt:lpstr>Modelo de Sistema</vt:lpstr>
      <vt:lpstr>Modelo de Sistema</vt:lpstr>
      <vt:lpstr>Modelo de Sistema</vt:lpstr>
      <vt:lpstr>Modelo de Sistema</vt:lpstr>
      <vt:lpstr>Modelo de Sistema</vt:lpstr>
      <vt:lpstr>Modelo de Sistema</vt:lpstr>
      <vt:lpstr>Modelo de Sistema</vt:lpstr>
      <vt:lpstr>Modelo de Sistema</vt:lpstr>
      <vt:lpstr>Modelo de Sistema</vt:lpstr>
      <vt:lpstr>Modelo de Sistema</vt:lpstr>
      <vt:lpstr>Modelo de Sistema</vt:lpstr>
      <vt:lpstr>Modelo de Sistema</vt:lpstr>
      <vt:lpstr>Modelo de Sistema</vt:lpstr>
      <vt:lpstr>Resultados</vt:lpstr>
      <vt:lpstr>Resultados</vt:lpstr>
      <vt:lpstr>Resultados</vt:lpstr>
      <vt:lpstr>Resultados</vt:lpstr>
      <vt:lpstr>Resultados</vt:lpstr>
      <vt:lpstr>Resultados</vt:lpstr>
      <vt:lpstr>Algoritmos Testados</vt:lpstr>
      <vt:lpstr>Algoritmos Testados</vt:lpstr>
      <vt:lpstr>RE - Regularized Evolution</vt:lpstr>
      <vt:lpstr>SMAC - Sequential Model-based Algorithm Configuration</vt:lpstr>
      <vt:lpstr>TPE - Tree-structured Parzen Estimator</vt:lpstr>
      <vt:lpstr>HB - Hyperband</vt:lpstr>
      <vt:lpstr>PowerPoint Presentation</vt:lpstr>
      <vt:lpstr>Conclusões</vt:lpstr>
      <vt:lpstr>Trabalhos Futuros</vt:lpstr>
      <vt:lpstr>Limitações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TP555 - Inteligência Artificial e Machine Learning</dc:title>
  <dc:creator>Felipe Augusto Pereira de Figueiredo</dc:creator>
  <cp:lastModifiedBy>Matheus Ferreira Silva</cp:lastModifiedBy>
  <cp:revision>1775</cp:revision>
  <dcterms:created xsi:type="dcterms:W3CDTF">2020-01-20T13:50:05Z</dcterms:created>
  <dcterms:modified xsi:type="dcterms:W3CDTF">2026-05-13T00:01:37Z</dcterms:modified>
</cp:coreProperties>
</file>