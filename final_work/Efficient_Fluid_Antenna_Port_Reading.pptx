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8"/>
  </p:notesMasterIdLst>
  <p:handoutMasterIdLst>
    <p:handoutMasterId r:id="rId19"/>
  </p:handoutMasterIdLst>
  <p:sldIdLst>
    <p:sldId id="256" r:id="rId2"/>
    <p:sldId id="307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</p:sldIdLst>
  <p:sldSz cx="16256000" cy="9144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6" d="100"/>
          <a:sy n="76" d="100"/>
        </p:scale>
        <p:origin x="876" y="10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B0FBDA3F-6D48-7754-2582-95E8AC4A7AD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5F1A827-45F0-AAA2-07D9-63C4CAE4367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758CDBF-BF71-4121-836F-C41D112E0179}" type="datetimeFigureOut">
              <a:rPr lang="pt-BR" smtClean="0"/>
              <a:t>04/06/2026</a:t>
            </a:fld>
            <a:endParaRPr lang="pt-B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E720EC9-5031-B0DD-6CB0-E271B2E9D8F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B2CC387-5D32-6272-9289-E35AFF628A5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499E25C-0D81-42EC-930F-28B1F440A3A3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62513178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F12BC99-7D6E-4386-B507-8DC397701486}" type="datetimeFigureOut">
              <a:rPr lang="pt-BR" smtClean="0"/>
              <a:t>04/06/2026</a:t>
            </a:fld>
            <a:endParaRPr lang="pt-B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CD0AA39-E96E-4136-8505-4180F6590E10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47661973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285A76-5393-46E8-B7DA-F673DD226C8C}" type="datetime1">
              <a:rPr lang="en-US" smtClean="0"/>
              <a:t>6/4/2026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623BF9-6152-433E-8BBE-B57A79CBA5C0}" type="datetime1">
              <a:rPr lang="en-US" smtClean="0"/>
              <a:t>6/4/2026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9259F8-63F3-4D32-8F14-F6436615AC31}" type="datetime1">
              <a:rPr lang="en-US" smtClean="0"/>
              <a:t>6/4/2026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1E08B0-4EC9-4281-B4F9-46B4BD7D4E5B}" type="datetime1">
              <a:rPr lang="en-US" smtClean="0"/>
              <a:t>6/4/2026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0A4AB6-78BC-4BEC-B8CD-08C656469AAA}" type="datetime1">
              <a:rPr lang="en-US" smtClean="0"/>
              <a:t>6/4/2026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1E41A8-6A06-4737-BC88-156312FA8AF7}" type="datetime1">
              <a:rPr lang="en-US" smtClean="0"/>
              <a:t>6/4/2026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E2F304-062B-4B5D-A879-3BDB46DC288B}" type="datetime1">
              <a:rPr lang="en-US" smtClean="0"/>
              <a:t>6/4/2026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3995400" y="8686800"/>
            <a:ext cx="2133600" cy="365125"/>
          </a:xfr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17EB3A-2D37-4050-9C70-962E340FFA7D}" type="datetime1">
              <a:rPr lang="en-US" smtClean="0"/>
              <a:t>6/4/2026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0530E2-BFA7-4AC4-8D20-F69AB8456A63}" type="datetime1">
              <a:rPr lang="en-US" smtClean="0"/>
              <a:t>6/4/2026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980589-3B8C-4596-8763-A28C95D64FF4}" type="datetime1">
              <a:rPr lang="en-US" smtClean="0"/>
              <a:t>6/4/2026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FD7010-95E0-4A06-893B-693B467CFF40}" type="datetime1">
              <a:rPr lang="en-US" smtClean="0"/>
              <a:t>6/4/2026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78E238F-2688-43E4-9A90-DB8A0E053C0C}" type="datetime1">
              <a:rPr lang="en-US" smtClean="0"/>
              <a:t>6/4/2026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3995400" y="861060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 sz="180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hyperlink" Target="mailto:matheus.f@inatel.br" TargetMode="Externa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Relationship Id="rId4" Type="http://schemas.openxmlformats.org/officeDocument/2006/relationships/hyperlink" Target="mailto:matheus.f@inatel.br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rcRect b="7143"/>
          <a:stretch>
            <a:fillRect/>
          </a:stretch>
        </p:blipFill>
        <p:spPr>
          <a:xfrm>
            <a:off x="0" y="38100"/>
            <a:ext cx="16256000" cy="84201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C6B64920-454A-474B-0231-9F35CDC8A0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560313" y="8782005"/>
            <a:ext cx="1695687" cy="323895"/>
          </a:xfrm>
          <a:prstGeom prst="rect">
            <a:avLst/>
          </a:prstGeom>
        </p:spPr>
      </p:pic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F390406-9122-5BD3-45DD-58980CCD29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</a:t>
            </a:fld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7A98340-5B87-A9BE-918B-C09433FF2277}"/>
              </a:ext>
            </a:extLst>
          </p:cNvPr>
          <p:cNvSpPr txBox="1"/>
          <p:nvPr/>
        </p:nvSpPr>
        <p:spPr>
          <a:xfrm>
            <a:off x="10966212" y="8541670"/>
            <a:ext cx="470558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Email: </a:t>
            </a:r>
            <a:r>
              <a:rPr lang="pt-BR" sz="2400" b="1" dirty="0">
                <a:latin typeface="Times New Roman" panose="02020603050405020304" pitchFamily="18" charset="0"/>
                <a:cs typeface="Times New Roman" panose="02020603050405020304" pitchFamily="18" charset="0"/>
                <a:hlinkClick r:id="rId4"/>
              </a:rPr>
              <a:t>matheus.f@inatel.br</a:t>
            </a:r>
            <a:endParaRPr lang="pt-BR" sz="2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DA84068-671A-9D40-4F76-2C57E4F720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2231" y="1689608"/>
            <a:ext cx="8483600" cy="1159933"/>
          </a:xfrm>
        </p:spPr>
        <p:txBody>
          <a:bodyPr>
            <a:noAutofit/>
          </a:bodyPr>
          <a:lstStyle/>
          <a:p>
            <a:pPr fontAlgn="base"/>
            <a:r>
              <a:rPr lang="en-US" noProof="1">
                <a:latin typeface="Times New Roman" panose="02020603050405020304" pitchFamily="18" charset="0"/>
                <a:cs typeface="Times New Roman" panose="02020603050405020304" pitchFamily="18" charset="0"/>
              </a:rPr>
              <a:t>The concept of the </a:t>
            </a:r>
            <a:r>
              <a:rPr lang="en-US" b="1" noProof="1">
                <a:latin typeface="Times New Roman" panose="02020603050405020304" pitchFamily="18" charset="0"/>
                <a:cs typeface="Times New Roman" panose="02020603050405020304" pitchFamily="18" charset="0"/>
              </a:rPr>
              <a:t>Fluid Antenna System (FAS) </a:t>
            </a:r>
            <a:r>
              <a:rPr lang="en-US" noProof="1">
                <a:latin typeface="Times New Roman" panose="02020603050405020304" pitchFamily="18" charset="0"/>
                <a:cs typeface="Times New Roman" panose="02020603050405020304" pitchFamily="18" charset="0"/>
              </a:rPr>
              <a:t>emerged to improve performance.</a:t>
            </a:r>
          </a:p>
          <a:p>
            <a:pPr fontAlgn="base"/>
            <a:r>
              <a:rPr lang="en-US" noProof="1">
                <a:latin typeface="Times New Roman" panose="02020603050405020304" pitchFamily="18" charset="0"/>
                <a:cs typeface="Times New Roman" panose="02020603050405020304" pitchFamily="18" charset="0"/>
              </a:rPr>
              <a:t>(2020) Kai Kit Wong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095834F-FBED-B1F4-0AED-DD8CF5C7CEF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3891"/>
          <a:stretch>
            <a:fillRect/>
          </a:stretch>
        </p:blipFill>
        <p:spPr>
          <a:xfrm>
            <a:off x="533400" y="3574210"/>
            <a:ext cx="7721600" cy="440668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BE5A514-A712-319D-BFC2-51ACFF33544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3306"/>
          <a:stretch>
            <a:fillRect/>
          </a:stretch>
        </p:blipFill>
        <p:spPr>
          <a:xfrm>
            <a:off x="9135791" y="5238262"/>
            <a:ext cx="5952655" cy="390138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18EF79F-0541-5E55-7992-063B4AB84F5D}"/>
              </a:ext>
            </a:extLst>
          </p:cNvPr>
          <p:cNvSpPr txBox="1"/>
          <p:nvPr/>
        </p:nvSpPr>
        <p:spPr>
          <a:xfrm>
            <a:off x="8905831" y="3771780"/>
            <a:ext cx="654786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2400" noProof="1">
                <a:latin typeface="Times New Roman" panose="02020603050405020304" pitchFamily="18" charset="0"/>
                <a:cs typeface="Times New Roman" panose="02020603050405020304" pitchFamily="18" charset="0"/>
              </a:rPr>
              <a:t>Antenna relocation can be achieved by mechanically moving liquid conductors through a microfluidic system, or by electronically switching radiating pixels on and off.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43DEAE9-D979-24A9-C027-9F067FAFD8E0}"/>
              </a:ext>
            </a:extLst>
          </p:cNvPr>
          <p:cNvSpPr txBox="1"/>
          <p:nvPr/>
        </p:nvSpPr>
        <p:spPr>
          <a:xfrm>
            <a:off x="0" y="8269452"/>
            <a:ext cx="1219200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noProof="1">
                <a:latin typeface="Times New Roman" panose="02020603050405020304" pitchFamily="18" charset="0"/>
                <a:cs typeface="Times New Roman" panose="02020603050405020304" pitchFamily="18" charset="0"/>
              </a:rPr>
              <a:t>Low-Power AI-Based Port Selection for Fluid Antennas in Spatially Correlated Channels, WCNPS 2025.</a:t>
            </a:r>
          </a:p>
          <a:p>
            <a:r>
              <a:rPr lang="en-US" sz="1600" noProof="1">
                <a:latin typeface="Times New Roman" panose="02020603050405020304" pitchFamily="18" charset="0"/>
                <a:cs typeface="Times New Roman" panose="02020603050405020304" pitchFamily="18" charset="0"/>
              </a:rPr>
              <a:t>Performance limits of fluid antenna systems, </a:t>
            </a:r>
            <a:r>
              <a:rPr lang="en-US" sz="1600" i="1" noProof="1">
                <a:latin typeface="Times New Roman" panose="02020603050405020304" pitchFamily="18" charset="0"/>
                <a:cs typeface="Times New Roman" panose="02020603050405020304" pitchFamily="18" charset="0"/>
              </a:rPr>
              <a:t>IEEE Communications Letters</a:t>
            </a:r>
            <a:r>
              <a:rPr lang="en-US" sz="1600" noProof="1">
                <a:latin typeface="Times New Roman" panose="02020603050405020304" pitchFamily="18" charset="0"/>
                <a:cs typeface="Times New Roman" panose="02020603050405020304" pitchFamily="18" charset="0"/>
              </a:rPr>
              <a:t>, Nov. 2020.</a:t>
            </a:r>
          </a:p>
          <a:p>
            <a:r>
              <a:rPr lang="en-US" sz="1600" noProof="1">
                <a:latin typeface="Times New Roman" panose="02020603050405020304" pitchFamily="18" charset="0"/>
                <a:cs typeface="Times New Roman" panose="02020603050405020304" pitchFamily="18" charset="0"/>
              </a:rPr>
              <a:t>Fluid antenna system for 6G: When Bruce Lee inspires wireless communications, </a:t>
            </a:r>
            <a:r>
              <a:rPr lang="en-US" sz="1600" i="1" noProof="1">
                <a:latin typeface="Times New Roman" panose="02020603050405020304" pitchFamily="18" charset="0"/>
                <a:cs typeface="Times New Roman" panose="02020603050405020304" pitchFamily="18" charset="0"/>
              </a:rPr>
              <a:t>Electronics Letters</a:t>
            </a:r>
            <a:r>
              <a:rPr lang="en-US" sz="1600" noProof="1">
                <a:latin typeface="Times New Roman" panose="02020603050405020304" pitchFamily="18" charset="0"/>
                <a:cs typeface="Times New Roman" panose="02020603050405020304" pitchFamily="18" charset="0"/>
              </a:rPr>
              <a:t>, Nov. 2020.</a:t>
            </a:r>
          </a:p>
          <a:p>
            <a:endParaRPr lang="en-US" sz="1600" noProof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F322BD8F-EB32-F344-49E8-19D3F39E6C1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13228"/>
          <a:stretch>
            <a:fillRect/>
          </a:stretch>
        </p:blipFill>
        <p:spPr>
          <a:xfrm>
            <a:off x="10099997" y="234017"/>
            <a:ext cx="4159527" cy="3466425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BEA3CC-8562-5A07-39F9-4CEF564AF7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en-US" noProof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fld>
            <a:endParaRPr lang="en-US" noProof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4419F073-F509-EEFF-938E-9828255741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9400" y="195869"/>
            <a:ext cx="8229600" cy="1143000"/>
          </a:xfrm>
        </p:spPr>
        <p:txBody>
          <a:bodyPr>
            <a:normAutofit/>
          </a:bodyPr>
          <a:lstStyle/>
          <a:p>
            <a:r>
              <a:rPr lang="pt-BR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Fluid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Antenna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System</a:t>
            </a:r>
          </a:p>
        </p:txBody>
      </p:sp>
    </p:spTree>
    <p:extLst>
      <p:ext uri="{BB962C8B-B14F-4D97-AF65-F5344CB8AC3E}">
        <p14:creationId xmlns:p14="http://schemas.microsoft.com/office/powerpoint/2010/main" val="3641182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F1DC91A9-CD1D-79E8-5632-FA4CF810D3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87367" y="8864586"/>
            <a:ext cx="1905266" cy="190527"/>
          </a:xfrm>
          <a:prstGeom prst="rect">
            <a:avLst/>
          </a:prstGeom>
        </p:spPr>
      </p:pic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85D1277-4C40-B7D6-4268-44A6103CBF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EA9667EA-5EEC-EA7D-441B-B1DB4315DA3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6256000" cy="9077397"/>
          </a:xfrm>
          <a:prstGeom prst="rect">
            <a:avLst/>
          </a:prstGeom>
        </p:spPr>
      </p:pic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FCA92FC4-9AB2-3DA1-75FD-8A08075DBB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7BEFBA5E-3C9B-E10E-9353-70700BD305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47800" y="8763000"/>
            <a:ext cx="2053771" cy="380989"/>
          </a:xfrm>
          <a:prstGeom prst="rect">
            <a:avLst/>
          </a:prstGeom>
        </p:spPr>
      </p:pic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7FF2F50-0177-FCD5-0606-CB777EA929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4100D562-3697-3162-A96C-632C250257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46050" y="8688648"/>
            <a:ext cx="1609950" cy="409632"/>
          </a:xfrm>
          <a:prstGeom prst="rect">
            <a:avLst/>
          </a:prstGeom>
        </p:spPr>
      </p:pic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619BE56-EA04-7461-9EA7-CB966556DE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8F80009-97CF-5C08-6290-F2237312DB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46050" y="8650548"/>
            <a:ext cx="1609950" cy="409632"/>
          </a:xfrm>
          <a:prstGeom prst="rect">
            <a:avLst/>
          </a:prstGeom>
        </p:spPr>
      </p:pic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D9E8481-7068-6443-2802-065EBD9004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795B1D2E-0338-7AEA-9815-9A2D6B223F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35890" y="8734368"/>
            <a:ext cx="1609950" cy="409632"/>
          </a:xfrm>
          <a:prstGeom prst="rect">
            <a:avLst/>
          </a:prstGeom>
        </p:spPr>
      </p:pic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7A75C24-3D85-B5E6-5B6B-353CD72F77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4071FB4-D649-BB51-D07F-912EEC8598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46050" y="8741988"/>
            <a:ext cx="1609950" cy="409632"/>
          </a:xfrm>
          <a:prstGeom prst="rect">
            <a:avLst/>
          </a:prstGeom>
        </p:spPr>
      </p:pic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2D7AABD-FC3E-2289-CCBA-D9670BDCF9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118827B6-B72D-AFE9-6E42-DA487D0846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46050" y="8683568"/>
            <a:ext cx="1609950" cy="409632"/>
          </a:xfrm>
          <a:prstGeom prst="rect">
            <a:avLst/>
          </a:prstGeom>
        </p:spPr>
      </p:pic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9070E9D-0931-E9DB-D3E4-4012619C17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A2C94331-AFEF-2EAF-1AB0-B288927E11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46050" y="8696268"/>
            <a:ext cx="1609950" cy="409632"/>
          </a:xfrm>
          <a:prstGeom prst="rect">
            <a:avLst/>
          </a:prstGeom>
        </p:spPr>
      </p:pic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E6469E5-DB16-559F-3F8C-04BA6594EE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86CFE238-455E-14BA-7DE6-AD7785511C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528800" y="8734368"/>
            <a:ext cx="1609950" cy="409632"/>
          </a:xfrm>
          <a:prstGeom prst="rect">
            <a:avLst/>
          </a:prstGeom>
        </p:spPr>
      </p:pic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5F2F139-A49D-CE91-CA70-08571F0C27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2032" y="0"/>
            <a:ext cx="16251936" cy="9144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4620B6E-3883-EC6B-291C-8A3E50EB6DB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71"/>
          <a:stretch>
            <a:fillRect/>
          </a:stretch>
        </p:blipFill>
        <p:spPr>
          <a:xfrm>
            <a:off x="20" y="1709"/>
            <a:ext cx="16255980" cy="9142291"/>
          </a:xfrm>
          <a:prstGeom prst="rect">
            <a:avLst/>
          </a:prstGeom>
        </p:spPr>
      </p:pic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91C0C46A-F77C-E320-8263-BEDBE88742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F9044CBA-FE6B-F801-398A-D73E318C50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46050" y="8534400"/>
            <a:ext cx="1609950" cy="609600"/>
          </a:xfrm>
          <a:prstGeom prst="rect">
            <a:avLst/>
          </a:prstGeom>
        </p:spPr>
      </p:pic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C1F7FD2-7ADF-FB2F-E3DF-D985B9508C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C78F2B9-C51B-2C03-829D-F4DFE0A1F9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46050" y="8670868"/>
            <a:ext cx="1609950" cy="409632"/>
          </a:xfrm>
          <a:prstGeom prst="rect">
            <a:avLst/>
          </a:prstGeom>
        </p:spPr>
      </p:pic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4B8F74F-8E6D-372F-F769-78BEFB113E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rcRect t="7983"/>
          <a:stretch>
            <a:fillRect/>
          </a:stretch>
        </p:blipFill>
        <p:spPr>
          <a:xfrm>
            <a:off x="0" y="190500"/>
            <a:ext cx="16256000" cy="83439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F7FCD944-0554-B64D-2282-B82650A473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519050" y="8124768"/>
            <a:ext cx="1609950" cy="409632"/>
          </a:xfrm>
          <a:prstGeom prst="rect">
            <a:avLst/>
          </a:prstGeom>
        </p:spPr>
      </p:pic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BDC337A-6E80-21DE-4B77-7ED9DDDB1A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16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B5D2492-E5F6-0C46-168A-D73D71F0DA63}"/>
              </a:ext>
            </a:extLst>
          </p:cNvPr>
          <p:cNvSpPr txBox="1"/>
          <p:nvPr/>
        </p:nvSpPr>
        <p:spPr>
          <a:xfrm>
            <a:off x="0" y="8503535"/>
            <a:ext cx="470558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Email: </a:t>
            </a:r>
            <a:r>
              <a:rPr lang="pt-BR" sz="2400" b="1" dirty="0">
                <a:latin typeface="Times New Roman" panose="02020603050405020304" pitchFamily="18" charset="0"/>
                <a:cs typeface="Times New Roman" panose="02020603050405020304" pitchFamily="18" charset="0"/>
                <a:hlinkClick r:id="rId4"/>
              </a:rPr>
              <a:t>matheus.f@inatel.br</a:t>
            </a:r>
            <a:endParaRPr lang="pt-BR" sz="2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</TotalTime>
  <Words>133</Words>
  <Application>Microsoft Office PowerPoint</Application>
  <PresentationFormat>Custom</PresentationFormat>
  <Paragraphs>25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Arial</vt:lpstr>
      <vt:lpstr>Calibri</vt:lpstr>
      <vt:lpstr>Times New Roman</vt:lpstr>
      <vt:lpstr>Office Theme</vt:lpstr>
      <vt:lpstr>PowerPoint Presentation</vt:lpstr>
      <vt:lpstr>Fluid Antenna System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Matheus Ferreira Silva</cp:lastModifiedBy>
  <cp:revision>2</cp:revision>
  <dcterms:created xsi:type="dcterms:W3CDTF">2006-08-16T00:00:00Z</dcterms:created>
  <dcterms:modified xsi:type="dcterms:W3CDTF">2026-06-04T14:13:43Z</dcterms:modified>
</cp:coreProperties>
</file>