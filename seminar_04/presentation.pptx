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256" r:id="rId2"/>
    <p:sldId id="307" r:id="rId3"/>
    <p:sldId id="317" r:id="rId4"/>
    <p:sldId id="394" r:id="rId5"/>
    <p:sldId id="315" r:id="rId6"/>
    <p:sldId id="395" r:id="rId7"/>
    <p:sldId id="323" r:id="rId8"/>
    <p:sldId id="372" r:id="rId9"/>
    <p:sldId id="397" r:id="rId10"/>
    <p:sldId id="309" r:id="rId11"/>
    <p:sldId id="396" r:id="rId12"/>
    <p:sldId id="398" r:id="rId13"/>
    <p:sldId id="399" r:id="rId14"/>
    <p:sldId id="400" r:id="rId15"/>
    <p:sldId id="401" r:id="rId16"/>
    <p:sldId id="402" r:id="rId17"/>
    <p:sldId id="403" r:id="rId18"/>
    <p:sldId id="404" r:id="rId19"/>
    <p:sldId id="361" r:id="rId20"/>
    <p:sldId id="405" r:id="rId21"/>
    <p:sldId id="406" r:id="rId22"/>
    <p:sldId id="412" r:id="rId23"/>
    <p:sldId id="408" r:id="rId24"/>
    <p:sldId id="409" r:id="rId25"/>
    <p:sldId id="410" r:id="rId26"/>
    <p:sldId id="411" r:id="rId27"/>
    <p:sldId id="365" r:id="rId28"/>
    <p:sldId id="391" r:id="rId29"/>
    <p:sldId id="413" r:id="rId30"/>
    <p:sldId id="392" r:id="rId31"/>
    <p:sldId id="393" r:id="rId32"/>
    <p:sldId id="293" r:id="rId33"/>
    <p:sldId id="345" r:id="rId34"/>
    <p:sldId id="314" r:id="rId35"/>
    <p:sldId id="306" r:id="rId36"/>
    <p:sldId id="308" r:id="rId37"/>
  </p:sldIdLst>
  <p:sldSz cx="12192000" cy="6858000"/>
  <p:notesSz cx="7315200" cy="96012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1F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FCA41B-7398-400B-83DC-FDE8722EB923}" v="79" dt="2020-02-09T01:28:39.664"/>
  </p1510:revLst>
</p1510:revInfo>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83293" autoAdjust="0"/>
  </p:normalViewPr>
  <p:slideViewPr>
    <p:cSldViewPr snapToGrid="0">
      <p:cViewPr varScale="1">
        <p:scale>
          <a:sx n="88" d="100"/>
          <a:sy n="88" d="100"/>
        </p:scale>
        <p:origin x="1554" y="96"/>
      </p:cViewPr>
      <p:guideLst/>
    </p:cSldViewPr>
  </p:slideViewPr>
  <p:outlineViewPr>
    <p:cViewPr>
      <p:scale>
        <a:sx n="33" d="100"/>
        <a:sy n="33" d="100"/>
      </p:scale>
      <p:origin x="0" y="-886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3FCA41B-7398-400B-83DC-FDE8722EB923}"/>
    <pc:docChg chg="modSld">
      <pc:chgData name="Felipe Augusto Pereira de Figueiredo" userId="e1771b70d906f94b" providerId="Windows Live" clId="Web-{B3FCA41B-7398-400B-83DC-FDE8722EB923}" dt="2020-02-09T01:40:38.055" v="257"/>
      <pc:docMkLst>
        <pc:docMk/>
      </pc:docMkLst>
      <pc:sldChg chg="modSp modNotes">
        <pc:chgData name="Felipe Augusto Pereira de Figueiredo" userId="e1771b70d906f94b" providerId="Windows Live" clId="Web-{B3FCA41B-7398-400B-83DC-FDE8722EB923}" dt="2020-02-09T01:26:20.191" v="45"/>
        <pc:sldMkLst>
          <pc:docMk/>
          <pc:sldMk cId="636059476" sldId="259"/>
        </pc:sldMkLst>
        <pc:spChg chg="mod">
          <ac:chgData name="Felipe Augusto Pereira de Figueiredo" userId="e1771b70d906f94b" providerId="Windows Live" clId="Web-{B3FCA41B-7398-400B-83DC-FDE8722EB923}" dt="2020-02-09T01:22:23.081" v="18" actId="1076"/>
          <ac:spMkLst>
            <pc:docMk/>
            <pc:sldMk cId="636059476" sldId="259"/>
            <ac:spMk id="3" creationId="{979D29AC-E01B-406F-AC75-55866B75A7CC}"/>
          </ac:spMkLst>
        </pc:spChg>
      </pc:sldChg>
      <pc:sldChg chg="modNotes">
        <pc:chgData name="Felipe Augusto Pereira de Figueiredo" userId="e1771b70d906f94b" providerId="Windows Live" clId="Web-{B3FCA41B-7398-400B-83DC-FDE8722EB923}" dt="2020-02-09T01:21:46.721" v="16"/>
        <pc:sldMkLst>
          <pc:docMk/>
          <pc:sldMk cId="248504461" sldId="267"/>
        </pc:sldMkLst>
      </pc:sldChg>
      <pc:sldChg chg="modSp modNotes">
        <pc:chgData name="Felipe Augusto Pereira de Figueiredo" userId="e1771b70d906f94b" providerId="Windows Live" clId="Web-{B3FCA41B-7398-400B-83DC-FDE8722EB923}" dt="2020-02-09T01:40:38.055" v="257"/>
        <pc:sldMkLst>
          <pc:docMk/>
          <pc:sldMk cId="2076219387" sldId="277"/>
        </pc:sldMkLst>
        <pc:spChg chg="mod">
          <ac:chgData name="Felipe Augusto Pereira de Figueiredo" userId="e1771b70d906f94b" providerId="Windows Live" clId="Web-{B3FCA41B-7398-400B-83DC-FDE8722EB923}" dt="2020-02-09T01:28:39.664" v="120" actId="14100"/>
          <ac:spMkLst>
            <pc:docMk/>
            <pc:sldMk cId="2076219387" sldId="277"/>
            <ac:spMk id="3" creationId="{5E0262E2-3A0F-4805-BCCB-6745237D1574}"/>
          </ac:spMkLst>
        </pc:spChg>
      </pc:sldChg>
    </pc:docChg>
  </pc:docChgLst>
  <pc:docChgLst>
    <pc:chgData name="Felipe Augusto Pereira de Figueiredo" userId="e1771b70d906f94b" providerId="Windows Live" clId="Web-{1FA475AF-6444-47C2-89B1-9776BABC0E66}"/>
    <pc:docChg chg="modSld">
      <pc:chgData name="Felipe Augusto Pereira de Figueiredo" userId="e1771b70d906f94b" providerId="Windows Live" clId="Web-{1FA475AF-6444-47C2-89B1-9776BABC0E66}" dt="2020-02-09T18:53:52.767" v="85"/>
      <pc:docMkLst>
        <pc:docMk/>
      </pc:docMkLst>
      <pc:sldChg chg="modNotes">
        <pc:chgData name="Felipe Augusto Pereira de Figueiredo" userId="e1771b70d906f94b" providerId="Windows Live" clId="Web-{1FA475AF-6444-47C2-89B1-9776BABC0E66}" dt="2020-02-09T18:53:52.767" v="85"/>
        <pc:sldMkLst>
          <pc:docMk/>
          <pc:sldMk cId="248504461" sldId="2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169922" cy="480722"/>
          </a:xfrm>
          <a:prstGeom prst="rect">
            <a:avLst/>
          </a:prstGeom>
        </p:spPr>
        <p:txBody>
          <a:bodyPr vert="horz" lIns="168634" tIns="84317" rIns="168634" bIns="84317" rtlCol="0"/>
          <a:lstStyle>
            <a:lvl1pPr algn="l">
              <a:defRPr sz="2200"/>
            </a:lvl1pPr>
          </a:lstStyle>
          <a:p>
            <a:endParaRPr lang="nl-BE"/>
          </a:p>
        </p:txBody>
      </p:sp>
      <p:sp>
        <p:nvSpPr>
          <p:cNvPr id="3" name="Date Placeholder 2"/>
          <p:cNvSpPr>
            <a:spLocks noGrp="1"/>
          </p:cNvSpPr>
          <p:nvPr>
            <p:ph type="dt" sz="quarter" idx="1"/>
          </p:nvPr>
        </p:nvSpPr>
        <p:spPr>
          <a:xfrm>
            <a:off x="4143589" y="0"/>
            <a:ext cx="3169922" cy="480722"/>
          </a:xfrm>
          <a:prstGeom prst="rect">
            <a:avLst/>
          </a:prstGeom>
        </p:spPr>
        <p:txBody>
          <a:bodyPr vert="horz" lIns="168634" tIns="84317" rIns="168634" bIns="84317" rtlCol="0"/>
          <a:lstStyle>
            <a:lvl1pPr algn="r">
              <a:defRPr sz="2200"/>
            </a:lvl1pPr>
          </a:lstStyle>
          <a:p>
            <a:fld id="{144F1436-6906-4D93-B7A2-786C327BFA14}" type="datetimeFigureOut">
              <a:rPr lang="nl-BE" smtClean="0"/>
              <a:t>4/05/2026</a:t>
            </a:fld>
            <a:endParaRPr lang="nl-BE"/>
          </a:p>
        </p:txBody>
      </p:sp>
      <p:sp>
        <p:nvSpPr>
          <p:cNvPr id="4" name="Footer Placeholder 3"/>
          <p:cNvSpPr>
            <a:spLocks noGrp="1"/>
          </p:cNvSpPr>
          <p:nvPr>
            <p:ph type="ftr" sz="quarter" idx="2"/>
          </p:nvPr>
        </p:nvSpPr>
        <p:spPr>
          <a:xfrm>
            <a:off x="1" y="9120488"/>
            <a:ext cx="3169922" cy="480718"/>
          </a:xfrm>
          <a:prstGeom prst="rect">
            <a:avLst/>
          </a:prstGeom>
        </p:spPr>
        <p:txBody>
          <a:bodyPr vert="horz" lIns="168634" tIns="84317" rIns="168634" bIns="84317" rtlCol="0" anchor="b"/>
          <a:lstStyle>
            <a:lvl1pPr algn="l">
              <a:defRPr sz="2200"/>
            </a:lvl1pPr>
          </a:lstStyle>
          <a:p>
            <a:endParaRPr lang="nl-BE"/>
          </a:p>
        </p:txBody>
      </p:sp>
      <p:sp>
        <p:nvSpPr>
          <p:cNvPr id="5" name="Slide Number Placeholder 4"/>
          <p:cNvSpPr>
            <a:spLocks noGrp="1"/>
          </p:cNvSpPr>
          <p:nvPr>
            <p:ph type="sldNum" sz="quarter" idx="3"/>
          </p:nvPr>
        </p:nvSpPr>
        <p:spPr>
          <a:xfrm>
            <a:off x="4143589" y="9120488"/>
            <a:ext cx="3169922" cy="480718"/>
          </a:xfrm>
          <a:prstGeom prst="rect">
            <a:avLst/>
          </a:prstGeom>
        </p:spPr>
        <p:txBody>
          <a:bodyPr vert="horz" lIns="168634" tIns="84317" rIns="168634" bIns="84317" rtlCol="0" anchor="b"/>
          <a:lstStyle>
            <a:lvl1pPr algn="r">
              <a:defRPr sz="2200"/>
            </a:lvl1pPr>
          </a:lstStyle>
          <a:p>
            <a:fld id="{F7E56D9B-79AD-444A-AFED-DEC23408F8B4}" type="slidenum">
              <a:rPr lang="nl-BE" smtClean="0"/>
              <a:t>‹#›</a:t>
            </a:fld>
            <a:endParaRPr lang="nl-BE"/>
          </a:p>
        </p:txBody>
      </p:sp>
    </p:spTree>
    <p:extLst>
      <p:ext uri="{BB962C8B-B14F-4D97-AF65-F5344CB8AC3E}">
        <p14:creationId xmlns:p14="http://schemas.microsoft.com/office/powerpoint/2010/main" val="31635331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5" y="1"/>
            <a:ext cx="3169922" cy="1903121"/>
          </a:xfrm>
          <a:prstGeom prst="rect">
            <a:avLst/>
          </a:prstGeom>
        </p:spPr>
        <p:txBody>
          <a:bodyPr vert="horz" lIns="168634" tIns="84317" rIns="168634" bIns="84317" rtlCol="0"/>
          <a:lstStyle>
            <a:lvl1pPr algn="l">
              <a:defRPr sz="2200"/>
            </a:lvl1pPr>
          </a:lstStyle>
          <a:p>
            <a:endParaRPr lang="pt-BR"/>
          </a:p>
        </p:txBody>
      </p:sp>
      <p:sp>
        <p:nvSpPr>
          <p:cNvPr id="3" name="Espaço Reservado para Data 2"/>
          <p:cNvSpPr>
            <a:spLocks noGrp="1"/>
          </p:cNvSpPr>
          <p:nvPr>
            <p:ph type="dt" idx="1"/>
          </p:nvPr>
        </p:nvSpPr>
        <p:spPr>
          <a:xfrm>
            <a:off x="4143592" y="1"/>
            <a:ext cx="3169922" cy="1903121"/>
          </a:xfrm>
          <a:prstGeom prst="rect">
            <a:avLst/>
          </a:prstGeom>
        </p:spPr>
        <p:txBody>
          <a:bodyPr vert="horz" lIns="168634" tIns="84317" rIns="168634" bIns="84317" rtlCol="0"/>
          <a:lstStyle>
            <a:lvl1pPr algn="r">
              <a:defRPr sz="2200"/>
            </a:lvl1pPr>
          </a:lstStyle>
          <a:p>
            <a:fld id="{AA8CD09E-2914-4F47-B6C1-51B2C31814C9}" type="datetimeFigureOut">
              <a:rPr lang="pt-BR" smtClean="0"/>
              <a:t>04/05/2026</a:t>
            </a:fld>
            <a:endParaRPr lang="pt-BR"/>
          </a:p>
        </p:txBody>
      </p:sp>
      <p:sp>
        <p:nvSpPr>
          <p:cNvPr id="4" name="Espaço Reservado para Imagem de Slide 3"/>
          <p:cNvSpPr>
            <a:spLocks noGrp="1" noRot="1" noChangeAspect="1"/>
          </p:cNvSpPr>
          <p:nvPr>
            <p:ph type="sldImg" idx="2"/>
          </p:nvPr>
        </p:nvSpPr>
        <p:spPr>
          <a:xfrm>
            <a:off x="-7721600" y="4740275"/>
            <a:ext cx="22758400" cy="12801600"/>
          </a:xfrm>
          <a:prstGeom prst="rect">
            <a:avLst/>
          </a:prstGeom>
          <a:noFill/>
          <a:ln w="12700">
            <a:solidFill>
              <a:prstClr val="black"/>
            </a:solidFill>
          </a:ln>
        </p:spPr>
        <p:txBody>
          <a:bodyPr vert="horz" lIns="168634" tIns="84317" rIns="168634" bIns="84317" rtlCol="0" anchor="ctr"/>
          <a:lstStyle/>
          <a:p>
            <a:endParaRPr lang="pt-BR"/>
          </a:p>
        </p:txBody>
      </p:sp>
      <p:sp>
        <p:nvSpPr>
          <p:cNvPr id="5" name="Espaço Reservado para Anotações 4"/>
          <p:cNvSpPr>
            <a:spLocks noGrp="1"/>
          </p:cNvSpPr>
          <p:nvPr>
            <p:ph type="body" sz="quarter" idx="3"/>
          </p:nvPr>
        </p:nvSpPr>
        <p:spPr>
          <a:xfrm>
            <a:off x="731522" y="18254135"/>
            <a:ext cx="5852160" cy="14935200"/>
          </a:xfrm>
          <a:prstGeom prst="rect">
            <a:avLst/>
          </a:prstGeom>
        </p:spPr>
        <p:txBody>
          <a:bodyPr vert="horz" lIns="168634" tIns="84317" rIns="168634" bIns="84317"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5" y="36027558"/>
            <a:ext cx="3169922" cy="1903117"/>
          </a:xfrm>
          <a:prstGeom prst="rect">
            <a:avLst/>
          </a:prstGeom>
        </p:spPr>
        <p:txBody>
          <a:bodyPr vert="horz" lIns="168634" tIns="84317" rIns="168634" bIns="84317" rtlCol="0" anchor="b"/>
          <a:lstStyle>
            <a:lvl1pPr algn="l">
              <a:defRPr sz="2200"/>
            </a:lvl1pPr>
          </a:lstStyle>
          <a:p>
            <a:endParaRPr lang="pt-BR"/>
          </a:p>
        </p:txBody>
      </p:sp>
      <p:sp>
        <p:nvSpPr>
          <p:cNvPr id="7" name="Espaço Reservado para Número de Slide 6"/>
          <p:cNvSpPr>
            <a:spLocks noGrp="1"/>
          </p:cNvSpPr>
          <p:nvPr>
            <p:ph type="sldNum" sz="quarter" idx="5"/>
          </p:nvPr>
        </p:nvSpPr>
        <p:spPr>
          <a:xfrm>
            <a:off x="4143592" y="36027558"/>
            <a:ext cx="3169922" cy="1903117"/>
          </a:xfrm>
          <a:prstGeom prst="rect">
            <a:avLst/>
          </a:prstGeom>
        </p:spPr>
        <p:txBody>
          <a:bodyPr vert="horz" lIns="168634" tIns="84317" rIns="168634" bIns="84317" rtlCol="0" anchor="b"/>
          <a:lstStyle>
            <a:lvl1pPr algn="r">
              <a:defRPr sz="2200"/>
            </a:lvl1pPr>
          </a:lstStyle>
          <a:p>
            <a:fld id="{6FC8D850-966F-45A6-8DE7-15B891E7D40D}" type="slidenum">
              <a:rPr lang="pt-BR" smtClean="0"/>
              <a:t>‹#›</a:t>
            </a:fld>
            <a:endParaRPr lang="pt-BR"/>
          </a:p>
        </p:txBody>
      </p:sp>
    </p:spTree>
    <p:extLst>
      <p:ext uri="{BB962C8B-B14F-4D97-AF65-F5344CB8AC3E}">
        <p14:creationId xmlns:p14="http://schemas.microsoft.com/office/powerpoint/2010/main" val="354181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pt-BR"/>
          </a:p>
        </p:txBody>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166074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b="1" i="0" kern="1200" dirty="0">
                <a:solidFill>
                  <a:schemeClr val="tx1"/>
                </a:solidFill>
                <a:effectLst/>
                <a:latin typeface="+mn-lt"/>
                <a:ea typeface="+mn-ea"/>
                <a:cs typeface="+mn-cs"/>
              </a:rPr>
              <a:t>TPE (</a:t>
            </a:r>
            <a:r>
              <a:rPr lang="pt-BR" sz="1200" b="1" i="0" kern="1200" dirty="0" err="1">
                <a:solidFill>
                  <a:schemeClr val="tx1"/>
                </a:solidFill>
                <a:effectLst/>
                <a:latin typeface="+mn-lt"/>
                <a:ea typeface="+mn-ea"/>
                <a:cs typeface="+mn-cs"/>
              </a:rPr>
              <a:t>Tree-structured</a:t>
            </a:r>
            <a:r>
              <a:rPr lang="pt-BR" sz="1200" b="1" i="0" kern="1200" dirty="0">
                <a:solidFill>
                  <a:schemeClr val="tx1"/>
                </a:solidFill>
                <a:effectLst/>
                <a:latin typeface="+mn-lt"/>
                <a:ea typeface="+mn-ea"/>
                <a:cs typeface="+mn-cs"/>
              </a:rPr>
              <a:t> </a:t>
            </a:r>
            <a:r>
              <a:rPr lang="pt-BR" sz="1200" b="1" i="0" kern="1200" dirty="0" err="1">
                <a:solidFill>
                  <a:schemeClr val="tx1"/>
                </a:solidFill>
                <a:effectLst/>
                <a:latin typeface="+mn-lt"/>
                <a:ea typeface="+mn-ea"/>
                <a:cs typeface="+mn-cs"/>
              </a:rPr>
              <a:t>Parzen</a:t>
            </a:r>
            <a:r>
              <a:rPr lang="pt-BR" sz="1200" b="1" i="0" kern="1200" dirty="0">
                <a:solidFill>
                  <a:schemeClr val="tx1"/>
                </a:solidFill>
                <a:effectLst/>
                <a:latin typeface="+mn-lt"/>
                <a:ea typeface="+mn-ea"/>
                <a:cs typeface="+mn-cs"/>
              </a:rPr>
              <a:t> </a:t>
            </a:r>
            <a:r>
              <a:rPr lang="pt-BR" sz="1200" b="1" i="0" kern="1200" dirty="0" err="1">
                <a:solidFill>
                  <a:schemeClr val="tx1"/>
                </a:solidFill>
                <a:effectLst/>
                <a:latin typeface="+mn-lt"/>
                <a:ea typeface="+mn-ea"/>
                <a:cs typeface="+mn-cs"/>
              </a:rPr>
              <a:t>Estimator</a:t>
            </a:r>
            <a:r>
              <a:rPr lang="pt-BR" sz="1200" b="1" i="0" kern="1200" dirty="0">
                <a:solidFill>
                  <a:schemeClr val="tx1"/>
                </a:solidFill>
                <a:effectLst/>
                <a:latin typeface="+mn-lt"/>
                <a:ea typeface="+mn-ea"/>
                <a:cs typeface="+mn-cs"/>
              </a:rPr>
              <a:t>)</a:t>
            </a:r>
            <a:endParaRPr lang="pt-BR" dirty="0"/>
          </a:p>
        </p:txBody>
      </p:sp>
      <p:sp>
        <p:nvSpPr>
          <p:cNvPr id="4" name="Slide Number Placeholder 3"/>
          <p:cNvSpPr>
            <a:spLocks noGrp="1"/>
          </p:cNvSpPr>
          <p:nvPr>
            <p:ph type="sldNum" sz="quarter" idx="5"/>
          </p:nvPr>
        </p:nvSpPr>
        <p:spPr/>
        <p:txBody>
          <a:bodyPr/>
          <a:lstStyle/>
          <a:p>
            <a:fld id="{6FC8D850-966F-45A6-8DE7-15B891E7D40D}" type="slidenum">
              <a:rPr lang="pt-BR" smtClean="0"/>
              <a:t>2</a:t>
            </a:fld>
            <a:endParaRPr lang="pt-BR"/>
          </a:p>
        </p:txBody>
      </p:sp>
    </p:spTree>
    <p:extLst>
      <p:ext uri="{BB962C8B-B14F-4D97-AF65-F5344CB8AC3E}">
        <p14:creationId xmlns:p14="http://schemas.microsoft.com/office/powerpoint/2010/main" val="2221727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pt-BR" dirty="0"/>
          </a:p>
        </p:txBody>
      </p:sp>
      <p:sp>
        <p:nvSpPr>
          <p:cNvPr id="4" name="Slide Number Placeholder 3"/>
          <p:cNvSpPr>
            <a:spLocks noGrp="1"/>
          </p:cNvSpPr>
          <p:nvPr>
            <p:ph type="sldNum" sz="quarter" idx="5"/>
          </p:nvPr>
        </p:nvSpPr>
        <p:spPr/>
        <p:txBody>
          <a:bodyPr/>
          <a:lstStyle/>
          <a:p>
            <a:fld id="{6FC8D850-966F-45A6-8DE7-15B891E7D40D}" type="slidenum">
              <a:rPr lang="pt-BR" smtClean="0"/>
              <a:t>3</a:t>
            </a:fld>
            <a:endParaRPr lang="pt-BR"/>
          </a:p>
        </p:txBody>
      </p:sp>
    </p:spTree>
    <p:extLst>
      <p:ext uri="{BB962C8B-B14F-4D97-AF65-F5344CB8AC3E}">
        <p14:creationId xmlns:p14="http://schemas.microsoft.com/office/powerpoint/2010/main" val="4009731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B49EB-FC66-C367-0FFE-B209D748DC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255AE-1223-62BD-6D86-AF2068BFE3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F69154-7FE2-4FDD-7378-728A130915B8}"/>
              </a:ext>
            </a:extLst>
          </p:cNvPr>
          <p:cNvSpPr>
            <a:spLocks noGrp="1"/>
          </p:cNvSpPr>
          <p:nvPr>
            <p:ph type="body" idx="1"/>
          </p:nvPr>
        </p:nvSpPr>
        <p:spPr/>
        <p:txBody>
          <a:bodyPr/>
          <a:lstStyle/>
          <a:p>
            <a:r>
              <a:rPr lang="pt-BR" dirty="0"/>
              <a:t>Claro. A ideia central do DARTS é esta:</a:t>
            </a:r>
          </a:p>
          <a:p>
            <a:r>
              <a:rPr lang="pt-BR" b="1" dirty="0"/>
              <a:t>em vez de escolher uma operação de forma discreta durante a busca</a:t>
            </a:r>
            <a:r>
              <a:rPr lang="pt-BR" dirty="0"/>
              <a:t>, ele </a:t>
            </a:r>
            <a:r>
              <a:rPr lang="pt-BR" b="1" dirty="0"/>
              <a:t>coloca todas as operações candidatas ao mesmo tempo</a:t>
            </a:r>
            <a:r>
              <a:rPr lang="pt-BR" dirty="0"/>
              <a:t> e aprende </a:t>
            </a:r>
            <a:r>
              <a:rPr lang="pt-BR" b="1" dirty="0"/>
              <a:t>pesos contínuos</a:t>
            </a:r>
            <a:r>
              <a:rPr lang="pt-BR" dirty="0"/>
              <a:t> para elas.</a:t>
            </a:r>
            <a:br>
              <a:rPr lang="pt-BR" dirty="0"/>
            </a:br>
            <a:r>
              <a:rPr lang="pt-BR" dirty="0"/>
              <a:t>Isso é o que torna o problema </a:t>
            </a:r>
            <a:r>
              <a:rPr lang="pt-BR" dirty="0" err="1"/>
              <a:t>diferenciável</a:t>
            </a:r>
            <a:r>
              <a:rPr lang="pt-BR" dirty="0"/>
              <a:t>.</a:t>
            </a:r>
          </a:p>
          <a:p>
            <a:r>
              <a:rPr lang="pt-BR" b="1" dirty="0"/>
              <a:t>1. O problema original de NAS</a:t>
            </a:r>
          </a:p>
          <a:p>
            <a:r>
              <a:rPr lang="pt-BR" dirty="0"/>
              <a:t>Em NAS tradicional, para cada conexão da rede, você precisa escolher algo como:</a:t>
            </a:r>
          </a:p>
          <a:p>
            <a:r>
              <a:rPr lang="pt-BR" dirty="0"/>
              <a:t>convolução 3x3</a:t>
            </a:r>
          </a:p>
          <a:p>
            <a:r>
              <a:rPr lang="pt-BR" dirty="0"/>
              <a:t>convolução 5x5</a:t>
            </a:r>
          </a:p>
          <a:p>
            <a:r>
              <a:rPr lang="pt-BR" dirty="0" err="1"/>
              <a:t>max</a:t>
            </a:r>
            <a:r>
              <a:rPr lang="pt-BR" dirty="0"/>
              <a:t> </a:t>
            </a:r>
            <a:r>
              <a:rPr lang="pt-BR" dirty="0" err="1"/>
              <a:t>pooling</a:t>
            </a:r>
            <a:endParaRPr lang="pt-BR" dirty="0"/>
          </a:p>
          <a:p>
            <a:r>
              <a:rPr lang="pt-BR" dirty="0" err="1"/>
              <a:t>skip</a:t>
            </a:r>
            <a:r>
              <a:rPr lang="pt-BR" dirty="0"/>
              <a:t> connection</a:t>
            </a:r>
          </a:p>
          <a:p>
            <a:r>
              <a:rPr lang="pt-BR" dirty="0"/>
              <a:t>zero</a:t>
            </a:r>
          </a:p>
          <a:p>
            <a:r>
              <a:rPr lang="pt-BR" dirty="0"/>
              <a:t>Isso é um problema </a:t>
            </a:r>
            <a:r>
              <a:rPr lang="pt-BR" b="1" dirty="0"/>
              <a:t>discreto</a:t>
            </a:r>
            <a:r>
              <a:rPr lang="pt-BR" dirty="0"/>
              <a:t>.</a:t>
            </a:r>
            <a:br>
              <a:rPr lang="pt-BR" dirty="0"/>
            </a:br>
            <a:r>
              <a:rPr lang="pt-BR" dirty="0"/>
              <a:t>Ou você escolhe uma operação, ou outra. Não há gradiente direto sobre essa escolha.</a:t>
            </a:r>
          </a:p>
          <a:p>
            <a:r>
              <a:rPr lang="pt-BR" dirty="0"/>
              <a:t>Esse é o problema, porque métodos baseados em gradiente funcionam bem em espaços contínuos, não em escolhas discretas.</a:t>
            </a:r>
          </a:p>
          <a:p>
            <a:br>
              <a:rPr lang="pt-BR" dirty="0"/>
            </a:br>
            <a:endParaRPr lang="pt-BR" dirty="0"/>
          </a:p>
          <a:p>
            <a:r>
              <a:rPr lang="pt-BR" b="1" dirty="0"/>
              <a:t>2. O truque do DARTS</a:t>
            </a:r>
          </a:p>
          <a:p>
            <a:r>
              <a:rPr lang="pt-BR" dirty="0"/>
              <a:t>O DARTS substitui a escolha discreta por uma </a:t>
            </a:r>
            <a:r>
              <a:rPr lang="pt-BR" b="1" dirty="0"/>
              <a:t>mistura contínua</a:t>
            </a:r>
            <a:r>
              <a:rPr lang="pt-BR" dirty="0"/>
              <a:t>.</a:t>
            </a:r>
          </a:p>
          <a:p>
            <a:r>
              <a:rPr lang="pt-BR" dirty="0"/>
              <a:t>Para uma aresta entre dois nós, em vez de dizer:</a:t>
            </a:r>
          </a:p>
          <a:p>
            <a:r>
              <a:rPr lang="pt-BR" dirty="0"/>
              <a:t>"aqui vai </a:t>
            </a:r>
            <a:r>
              <a:rPr lang="pt-BR" dirty="0" err="1"/>
              <a:t>conv</a:t>
            </a:r>
            <a:r>
              <a:rPr lang="pt-BR" dirty="0"/>
              <a:t> 3x3"</a:t>
            </a:r>
          </a:p>
          <a:p>
            <a:r>
              <a:rPr lang="pt-BR" dirty="0"/>
              <a:t>ele diz:</a:t>
            </a:r>
          </a:p>
          <a:p>
            <a:r>
              <a:rPr lang="pt-BR" dirty="0"/>
              <a:t>"aqui existe uma combinação ponderada de todas as operações candidatas"</a:t>
            </a:r>
          </a:p>
          <a:p>
            <a:r>
              <a:rPr lang="pt-BR" dirty="0"/>
              <a:t>Formalmente, se o conjunto de operações candidatas é ( \</a:t>
            </a:r>
            <a:r>
              <a:rPr lang="pt-BR" dirty="0" err="1"/>
              <a:t>mathcal</a:t>
            </a:r>
            <a:r>
              <a:rPr lang="pt-BR" dirty="0"/>
              <a:t>{O} ), o DARTS define a saída da aresta como algo do tipo:</a:t>
            </a:r>
          </a:p>
          <a:p>
            <a:r>
              <a:rPr lang="pt-BR" dirty="0"/>
              <a:t>[</a:t>
            </a:r>
            <a:br>
              <a:rPr lang="pt-BR" dirty="0"/>
            </a:br>
            <a:r>
              <a:rPr lang="pt-BR" dirty="0"/>
              <a:t>\bar{o}(x) = \sum_{o \in \</a:t>
            </a:r>
            <a:r>
              <a:rPr lang="pt-BR" dirty="0" err="1"/>
              <a:t>mathcal</a:t>
            </a:r>
            <a:r>
              <a:rPr lang="pt-BR" dirty="0"/>
              <a:t>{O}} \</a:t>
            </a:r>
            <a:r>
              <a:rPr lang="pt-BR" dirty="0" err="1"/>
              <a:t>frac</a:t>
            </a:r>
            <a:r>
              <a:rPr lang="pt-BR" dirty="0"/>
              <a:t>{\</a:t>
            </a:r>
            <a:r>
              <a:rPr lang="pt-BR" dirty="0" err="1"/>
              <a:t>exp</a:t>
            </a:r>
            <a:r>
              <a:rPr lang="pt-BR" dirty="0"/>
              <a:t>(\</a:t>
            </a:r>
            <a:r>
              <a:rPr lang="pt-BR" dirty="0" err="1"/>
              <a:t>alpha_o</a:t>
            </a:r>
            <a:r>
              <a:rPr lang="pt-BR" dirty="0"/>
              <a:t>)}{\sum_{o' \in \</a:t>
            </a:r>
            <a:r>
              <a:rPr lang="pt-BR" dirty="0" err="1"/>
              <a:t>mathcal</a:t>
            </a:r>
            <a:r>
              <a:rPr lang="pt-BR" dirty="0"/>
              <a:t>{O}} \</a:t>
            </a:r>
            <a:r>
              <a:rPr lang="pt-BR" dirty="0" err="1"/>
              <a:t>exp</a:t>
            </a:r>
            <a:r>
              <a:rPr lang="pt-BR" dirty="0"/>
              <a:t>(\alpha_{o'})} , o(x)</a:t>
            </a:r>
            <a:br>
              <a:rPr lang="pt-BR" dirty="0"/>
            </a:br>
            <a:r>
              <a:rPr lang="pt-BR" dirty="0"/>
              <a:t>]</a:t>
            </a:r>
          </a:p>
          <a:p>
            <a:r>
              <a:rPr lang="pt-BR" b="1" dirty="0"/>
              <a:t>O que isso significa na prática</a:t>
            </a:r>
          </a:p>
          <a:p>
            <a:r>
              <a:rPr lang="pt-BR" dirty="0"/>
              <a:t>cada operação candidata é aplicada à entrada (x)</a:t>
            </a:r>
          </a:p>
          <a:p>
            <a:r>
              <a:rPr lang="pt-BR" dirty="0"/>
              <a:t>cada uma recebe um peso</a:t>
            </a:r>
          </a:p>
          <a:p>
            <a:r>
              <a:rPr lang="pt-BR" dirty="0"/>
              <a:t>os pesos vêm de parâmetros aprendíveis ( \alpha )</a:t>
            </a:r>
          </a:p>
          <a:p>
            <a:r>
              <a:rPr lang="pt-BR" dirty="0"/>
              <a:t>esses pesos passam por </a:t>
            </a:r>
            <a:r>
              <a:rPr lang="pt-BR" b="1" dirty="0" err="1"/>
              <a:t>softmax</a:t>
            </a:r>
            <a:r>
              <a:rPr lang="pt-BR" dirty="0"/>
              <a:t>, então viram probabilidades relativas</a:t>
            </a:r>
          </a:p>
          <a:p>
            <a:r>
              <a:rPr lang="pt-BR" dirty="0"/>
              <a:t>Então, a saída da aresta vira uma </a:t>
            </a:r>
            <a:r>
              <a:rPr lang="pt-BR" b="1" dirty="0"/>
              <a:t>média ponderada</a:t>
            </a:r>
            <a:r>
              <a:rPr lang="pt-BR" dirty="0"/>
              <a:t> das operações.</a:t>
            </a:r>
          </a:p>
          <a:p>
            <a:br>
              <a:rPr lang="pt-BR" dirty="0"/>
            </a:br>
            <a:endParaRPr lang="pt-BR" dirty="0"/>
          </a:p>
          <a:p>
            <a:r>
              <a:rPr lang="pt-BR" b="1" dirty="0"/>
              <a:t>3. Por que isso torna o problema </a:t>
            </a:r>
            <a:r>
              <a:rPr lang="pt-BR" b="1" dirty="0" err="1"/>
              <a:t>diferenciável</a:t>
            </a:r>
            <a:r>
              <a:rPr lang="pt-BR" b="1" dirty="0"/>
              <a:t>?</a:t>
            </a:r>
          </a:p>
          <a:p>
            <a:r>
              <a:rPr lang="pt-BR" dirty="0"/>
              <a:t>Porque agora a arquitetura não depende mais de uma decisão "sim ou não" entre operações.</a:t>
            </a:r>
          </a:p>
          <a:p>
            <a:r>
              <a:rPr lang="pt-BR" dirty="0"/>
              <a:t>Ela depende de parâmetros reais e contínuos, os ( \alpha ).</a:t>
            </a:r>
            <a:br>
              <a:rPr lang="pt-BR" dirty="0"/>
            </a:br>
            <a:r>
              <a:rPr lang="pt-BR" dirty="0"/>
              <a:t>Como a saída da rede passa a depender continuamente desses ( \alpha ), é possível calcular:</a:t>
            </a:r>
          </a:p>
          <a:p>
            <a:r>
              <a:rPr lang="pt-BR" dirty="0"/>
              <a:t>gradiente da </a:t>
            </a:r>
            <a:r>
              <a:rPr lang="pt-BR" dirty="0" err="1"/>
              <a:t>loss</a:t>
            </a:r>
            <a:r>
              <a:rPr lang="pt-BR" dirty="0"/>
              <a:t> em relação aos pesos normais da rede</a:t>
            </a:r>
          </a:p>
          <a:p>
            <a:r>
              <a:rPr lang="pt-BR" dirty="0"/>
              <a:t>gradiente da </a:t>
            </a:r>
            <a:r>
              <a:rPr lang="pt-BR" dirty="0" err="1"/>
              <a:t>loss</a:t>
            </a:r>
            <a:r>
              <a:rPr lang="pt-BR" dirty="0"/>
              <a:t> em relação aos parâmetros da arquitetura ( \alpha )</a:t>
            </a:r>
          </a:p>
          <a:p>
            <a:r>
              <a:rPr lang="pt-BR" dirty="0"/>
              <a:t>Ou seja, a arquitetura passa a poder ser otimizada com </a:t>
            </a:r>
            <a:r>
              <a:rPr lang="pt-BR" b="1" dirty="0" err="1"/>
              <a:t>backpropagation</a:t>
            </a:r>
            <a:r>
              <a:rPr lang="pt-BR" dirty="0"/>
              <a:t>.</a:t>
            </a:r>
          </a:p>
          <a:p>
            <a:r>
              <a:rPr lang="pt-BR" dirty="0"/>
              <a:t>Esse é o ponto principal do DARTS.</a:t>
            </a:r>
          </a:p>
          <a:p>
            <a:br>
              <a:rPr lang="pt-BR" dirty="0"/>
            </a:br>
            <a:endParaRPr lang="pt-BR" dirty="0"/>
          </a:p>
          <a:p>
            <a:r>
              <a:rPr lang="pt-BR" b="1" dirty="0"/>
              <a:t>4. O que é o </a:t>
            </a:r>
            <a:r>
              <a:rPr lang="pt-BR" b="1" dirty="0" err="1"/>
              <a:t>supernet</a:t>
            </a:r>
            <a:endParaRPr lang="pt-BR" b="1" dirty="0"/>
          </a:p>
          <a:p>
            <a:r>
              <a:rPr lang="pt-BR" dirty="0"/>
              <a:t>Como todas as operações candidatas coexistem temporariamente, o DARTS cria uma rede maior, chamada de </a:t>
            </a:r>
            <a:r>
              <a:rPr lang="pt-BR" b="1" dirty="0" err="1"/>
              <a:t>supernet</a:t>
            </a:r>
            <a:r>
              <a:rPr lang="pt-BR" dirty="0"/>
              <a:t>.</a:t>
            </a:r>
          </a:p>
          <a:p>
            <a:r>
              <a:rPr lang="pt-BR" dirty="0"/>
              <a:t>Nessa </a:t>
            </a:r>
            <a:r>
              <a:rPr lang="pt-BR" dirty="0" err="1"/>
              <a:t>supernet</a:t>
            </a:r>
            <a:r>
              <a:rPr lang="pt-BR" dirty="0"/>
              <a:t>:</a:t>
            </a:r>
          </a:p>
          <a:p>
            <a:r>
              <a:rPr lang="pt-BR" dirty="0"/>
              <a:t>cada aresta contém várias operações candidatas</a:t>
            </a:r>
          </a:p>
          <a:p>
            <a:r>
              <a:rPr lang="pt-BR" dirty="0"/>
              <a:t>os ( \alpha ) dizem quais parecem mais importantes</a:t>
            </a:r>
          </a:p>
          <a:p>
            <a:r>
              <a:rPr lang="pt-BR" dirty="0"/>
              <a:t>durante o treinamento, o modelo aprende ao mesmo tempo:</a:t>
            </a:r>
          </a:p>
          <a:p>
            <a:pPr lvl="1"/>
            <a:r>
              <a:rPr lang="pt-BR" dirty="0"/>
              <a:t>os </a:t>
            </a:r>
            <a:r>
              <a:rPr lang="pt-BR" b="1" dirty="0"/>
              <a:t>pesos da rede</a:t>
            </a:r>
            <a:r>
              <a:rPr lang="pt-BR" dirty="0"/>
              <a:t>, geralmente chamados de (w)</a:t>
            </a:r>
          </a:p>
          <a:p>
            <a:pPr lvl="1"/>
            <a:r>
              <a:rPr lang="pt-BR" dirty="0"/>
              <a:t>os </a:t>
            </a:r>
            <a:r>
              <a:rPr lang="pt-BR" b="1" dirty="0"/>
              <a:t>parâmetros da arquitetura</a:t>
            </a:r>
            <a:r>
              <a:rPr lang="pt-BR" dirty="0"/>
              <a:t>, geralmente chamados de ( \alpha )</a:t>
            </a:r>
          </a:p>
          <a:p>
            <a:br>
              <a:rPr lang="pt-BR" dirty="0"/>
            </a:br>
            <a:endParaRPr lang="pt-BR" dirty="0"/>
          </a:p>
          <a:p>
            <a:r>
              <a:rPr lang="pt-BR" b="1" dirty="0"/>
              <a:t>5. Como o treinamento acontece</a:t>
            </a:r>
          </a:p>
          <a:p>
            <a:r>
              <a:rPr lang="pt-BR" dirty="0"/>
              <a:t>O DARTS usa uma ideia de </a:t>
            </a:r>
            <a:r>
              <a:rPr lang="pt-BR" b="1" dirty="0"/>
              <a:t>otimização </a:t>
            </a:r>
            <a:r>
              <a:rPr lang="pt-BR" b="1" dirty="0" err="1"/>
              <a:t>bi-level</a:t>
            </a:r>
            <a:r>
              <a:rPr lang="pt-BR" dirty="0"/>
              <a:t>.</a:t>
            </a:r>
          </a:p>
          <a:p>
            <a:r>
              <a:rPr lang="pt-BR" b="1" dirty="0"/>
              <a:t>Nível 1, pesos da rede</a:t>
            </a:r>
          </a:p>
          <a:p>
            <a:r>
              <a:rPr lang="pt-BR" dirty="0"/>
              <a:t>Ajusta (w), os pesos normais da rede, para a rede funcionar bem.</a:t>
            </a:r>
          </a:p>
          <a:p>
            <a:r>
              <a:rPr lang="pt-BR" b="1" dirty="0"/>
              <a:t>Nível 2, arquitetura</a:t>
            </a:r>
          </a:p>
          <a:p>
            <a:r>
              <a:rPr lang="pt-BR" dirty="0"/>
              <a:t>Ajusta ( \alpha ), os pesos que controlam quais operações são preferidas.</a:t>
            </a:r>
          </a:p>
          <a:p>
            <a:r>
              <a:rPr lang="pt-BR" dirty="0"/>
              <a:t>Intuição:</a:t>
            </a:r>
          </a:p>
          <a:p>
            <a:r>
              <a:rPr lang="pt-BR" dirty="0"/>
              <a:t>os pesos (w) aprendem "como usar" a arquitetura atual</a:t>
            </a:r>
          </a:p>
          <a:p>
            <a:r>
              <a:rPr lang="pt-BR" dirty="0"/>
              <a:t>os ( \alpha ) aprendem "qual arquitetura parece melhor"</a:t>
            </a:r>
          </a:p>
          <a:p>
            <a:r>
              <a:rPr lang="pt-BR" dirty="0"/>
              <a:t>Na prática, o algoritmo alterna entre atualizar (w) e atualizar ( \alpha ).</a:t>
            </a:r>
          </a:p>
          <a:p>
            <a:br>
              <a:rPr lang="pt-BR" dirty="0"/>
            </a:br>
            <a:endParaRPr lang="pt-BR" dirty="0"/>
          </a:p>
          <a:p>
            <a:r>
              <a:rPr lang="pt-BR" b="1" dirty="0"/>
              <a:t>6. O que acontece no final</a:t>
            </a:r>
          </a:p>
          <a:p>
            <a:r>
              <a:rPr lang="pt-BR" dirty="0"/>
              <a:t>Depois da busca, o DARTS não mantém a mistura contínua.</a:t>
            </a:r>
          </a:p>
          <a:p>
            <a:r>
              <a:rPr lang="pt-BR" dirty="0"/>
              <a:t>Ele faz uma </a:t>
            </a:r>
            <a:r>
              <a:rPr lang="pt-BR" b="1" dirty="0" err="1"/>
              <a:t>discretização</a:t>
            </a:r>
            <a:r>
              <a:rPr lang="pt-BR" dirty="0"/>
              <a:t>:</a:t>
            </a:r>
          </a:p>
          <a:p>
            <a:r>
              <a:rPr lang="pt-BR" dirty="0"/>
              <a:t>em cada aresta, escolhe a operação com maior peso</a:t>
            </a:r>
          </a:p>
          <a:p>
            <a:r>
              <a:rPr lang="pt-BR" dirty="0"/>
              <a:t>assim obtém uma arquitetura final discreta e compacta</a:t>
            </a:r>
          </a:p>
          <a:p>
            <a:r>
              <a:rPr lang="pt-BR" dirty="0"/>
              <a:t>Ou seja:</a:t>
            </a:r>
          </a:p>
          <a:p>
            <a:r>
              <a:rPr lang="pt-BR" dirty="0"/>
              <a:t>durante a busca, tudo é contínuo</a:t>
            </a:r>
          </a:p>
          <a:p>
            <a:r>
              <a:rPr lang="pt-BR" dirty="0"/>
              <a:t>no final, converte para escolhas discretas</a:t>
            </a:r>
          </a:p>
          <a:p>
            <a:br>
              <a:rPr lang="pt-BR" dirty="0"/>
            </a:br>
            <a:endParaRPr lang="pt-BR" dirty="0"/>
          </a:p>
          <a:p>
            <a:r>
              <a:rPr lang="pt-BR" b="1" dirty="0"/>
              <a:t>7. Explicação bem intuitiva</a:t>
            </a:r>
          </a:p>
          <a:p>
            <a:r>
              <a:rPr lang="pt-BR" dirty="0"/>
              <a:t>Pense assim.</a:t>
            </a:r>
          </a:p>
          <a:p>
            <a:r>
              <a:rPr lang="pt-BR" b="1" dirty="0"/>
              <a:t>NAS tradicional</a:t>
            </a:r>
          </a:p>
          <a:p>
            <a:r>
              <a:rPr lang="pt-BR" dirty="0"/>
              <a:t>Você pergunta:</a:t>
            </a:r>
          </a:p>
          <a:p>
            <a:r>
              <a:rPr lang="pt-BR" dirty="0"/>
              <a:t>"qual operação eu coloco aqui?"</a:t>
            </a:r>
          </a:p>
          <a:p>
            <a:r>
              <a:rPr lang="pt-BR" dirty="0"/>
              <a:t>E precisa responder imediatamente com uma opção exata.</a:t>
            </a:r>
          </a:p>
          <a:p>
            <a:r>
              <a:rPr lang="pt-BR" b="1" dirty="0"/>
              <a:t>DARTS</a:t>
            </a:r>
          </a:p>
          <a:p>
            <a:r>
              <a:rPr lang="pt-BR" dirty="0"/>
              <a:t>Você diz:</a:t>
            </a:r>
          </a:p>
          <a:p>
            <a:r>
              <a:rPr lang="pt-BR" dirty="0"/>
              <a:t>"vou colocar todas as opções, mas cada uma com um peso"</a:t>
            </a:r>
          </a:p>
          <a:p>
            <a:r>
              <a:rPr lang="pt-BR" dirty="0"/>
              <a:t>"se uma opção for melhor, o treinamento vai aumentar seu peso"</a:t>
            </a:r>
          </a:p>
          <a:p>
            <a:r>
              <a:rPr lang="pt-BR" dirty="0"/>
              <a:t>Então o problema deixa de ser:</a:t>
            </a:r>
          </a:p>
          <a:p>
            <a:r>
              <a:rPr lang="pt-BR" dirty="0"/>
              <a:t>escolher uma operação entre várias</a:t>
            </a:r>
          </a:p>
          <a:p>
            <a:r>
              <a:rPr lang="pt-BR" dirty="0"/>
              <a:t>e passa a ser:</a:t>
            </a:r>
          </a:p>
          <a:p>
            <a:r>
              <a:rPr lang="pt-BR" dirty="0"/>
              <a:t>ajustar pesos contínuos que indicam a preferência por cada operação</a:t>
            </a:r>
          </a:p>
          <a:p>
            <a:r>
              <a:rPr lang="pt-BR" dirty="0"/>
              <a:t>Isso é o que permite usar gradiente.</a:t>
            </a:r>
          </a:p>
          <a:p>
            <a:br>
              <a:rPr lang="pt-BR" dirty="0"/>
            </a:br>
            <a:endParaRPr lang="pt-BR" dirty="0"/>
          </a:p>
          <a:p>
            <a:r>
              <a:rPr lang="pt-BR" b="1" dirty="0"/>
              <a:t>8. Exemplo simples</a:t>
            </a:r>
          </a:p>
          <a:p>
            <a:r>
              <a:rPr lang="pt-BR" dirty="0"/>
              <a:t>Suponha que numa aresta existam 3 opções:</a:t>
            </a:r>
          </a:p>
          <a:p>
            <a:r>
              <a:rPr lang="pt-BR" dirty="0" err="1"/>
              <a:t>conv</a:t>
            </a:r>
            <a:r>
              <a:rPr lang="pt-BR" dirty="0"/>
              <a:t> 3x3</a:t>
            </a:r>
          </a:p>
          <a:p>
            <a:r>
              <a:rPr lang="pt-BR" dirty="0" err="1"/>
              <a:t>max</a:t>
            </a:r>
            <a:r>
              <a:rPr lang="pt-BR" dirty="0"/>
              <a:t> </a:t>
            </a:r>
            <a:r>
              <a:rPr lang="pt-BR" dirty="0" err="1"/>
              <a:t>pooling</a:t>
            </a:r>
            <a:endParaRPr lang="pt-BR" dirty="0"/>
          </a:p>
          <a:p>
            <a:r>
              <a:rPr lang="pt-BR" dirty="0" err="1"/>
              <a:t>skip</a:t>
            </a:r>
            <a:r>
              <a:rPr lang="pt-BR" dirty="0"/>
              <a:t> connection</a:t>
            </a:r>
          </a:p>
          <a:p>
            <a:r>
              <a:rPr lang="pt-BR" dirty="0"/>
              <a:t>No começo, o DARTS pode dar pesos parecidos:</a:t>
            </a:r>
          </a:p>
          <a:p>
            <a:r>
              <a:rPr lang="pt-BR" dirty="0" err="1"/>
              <a:t>conv</a:t>
            </a:r>
            <a:r>
              <a:rPr lang="pt-BR" dirty="0"/>
              <a:t> 3x3: 0.33</a:t>
            </a:r>
          </a:p>
          <a:p>
            <a:r>
              <a:rPr lang="pt-BR" dirty="0" err="1"/>
              <a:t>max</a:t>
            </a:r>
            <a:r>
              <a:rPr lang="pt-BR" dirty="0"/>
              <a:t> </a:t>
            </a:r>
            <a:r>
              <a:rPr lang="pt-BR" dirty="0" err="1"/>
              <a:t>pooling</a:t>
            </a:r>
            <a:r>
              <a:rPr lang="pt-BR" dirty="0"/>
              <a:t>: 0.33</a:t>
            </a:r>
          </a:p>
          <a:p>
            <a:r>
              <a:rPr lang="pt-BR" dirty="0" err="1"/>
              <a:t>skip</a:t>
            </a:r>
            <a:r>
              <a:rPr lang="pt-BR" dirty="0"/>
              <a:t>: 0.34</a:t>
            </a:r>
          </a:p>
          <a:p>
            <a:r>
              <a:rPr lang="pt-BR" dirty="0"/>
              <a:t>Depois do treinamento, pode virar:</a:t>
            </a:r>
          </a:p>
          <a:p>
            <a:r>
              <a:rPr lang="pt-BR" dirty="0" err="1"/>
              <a:t>conv</a:t>
            </a:r>
            <a:r>
              <a:rPr lang="pt-BR" dirty="0"/>
              <a:t> 3x3: 0.80</a:t>
            </a:r>
          </a:p>
          <a:p>
            <a:r>
              <a:rPr lang="pt-BR" dirty="0" err="1"/>
              <a:t>max</a:t>
            </a:r>
            <a:r>
              <a:rPr lang="pt-BR" dirty="0"/>
              <a:t> </a:t>
            </a:r>
            <a:r>
              <a:rPr lang="pt-BR" dirty="0" err="1"/>
              <a:t>pooling</a:t>
            </a:r>
            <a:r>
              <a:rPr lang="pt-BR" dirty="0"/>
              <a:t>: 0.10</a:t>
            </a:r>
          </a:p>
          <a:p>
            <a:r>
              <a:rPr lang="pt-BR" dirty="0" err="1"/>
              <a:t>skip</a:t>
            </a:r>
            <a:r>
              <a:rPr lang="pt-BR" dirty="0"/>
              <a:t>: 0.10</a:t>
            </a:r>
          </a:p>
          <a:p>
            <a:r>
              <a:rPr lang="pt-BR" dirty="0"/>
              <a:t>Então ele entende que, para aquela aresta, </a:t>
            </a:r>
            <a:r>
              <a:rPr lang="pt-BR" b="1" dirty="0" err="1"/>
              <a:t>conv</a:t>
            </a:r>
            <a:r>
              <a:rPr lang="pt-BR" b="1" dirty="0"/>
              <a:t> 3x3</a:t>
            </a:r>
            <a:r>
              <a:rPr lang="pt-BR" dirty="0"/>
              <a:t> é a melhor escolha.</a:t>
            </a:r>
            <a:br>
              <a:rPr lang="pt-BR" dirty="0"/>
            </a:br>
            <a:r>
              <a:rPr lang="pt-BR" dirty="0"/>
              <a:t>No final, mantém só ela.</a:t>
            </a:r>
          </a:p>
          <a:p>
            <a:br>
              <a:rPr lang="pt-BR" dirty="0"/>
            </a:br>
            <a:endParaRPr lang="pt-BR" dirty="0"/>
          </a:p>
          <a:p>
            <a:r>
              <a:rPr lang="pt-BR" b="1" dirty="0"/>
              <a:t>9. Resposta direta à sua pergunta</a:t>
            </a:r>
          </a:p>
          <a:p>
            <a:r>
              <a:rPr lang="pt-BR" b="1" dirty="0"/>
              <a:t>Como o DARTS transforma o problema em </a:t>
            </a:r>
            <a:r>
              <a:rPr lang="pt-BR" b="1" dirty="0" err="1"/>
              <a:t>diferenciável</a:t>
            </a:r>
            <a:r>
              <a:rPr lang="pt-BR" b="1" dirty="0"/>
              <a:t>?</a:t>
            </a:r>
          </a:p>
          <a:p>
            <a:r>
              <a:rPr lang="pt-BR" dirty="0"/>
              <a:t>Ele pega uma escolha discreta de arquitetura e a substitui por uma </a:t>
            </a:r>
            <a:r>
              <a:rPr lang="pt-BR" b="1" dirty="0"/>
              <a:t>relaxação contínua</a:t>
            </a:r>
            <a:r>
              <a:rPr lang="pt-BR" dirty="0"/>
              <a:t>:</a:t>
            </a:r>
          </a:p>
          <a:p>
            <a:r>
              <a:rPr lang="pt-BR" dirty="0"/>
              <a:t>cada aresta não escolhe uma única operação</a:t>
            </a:r>
          </a:p>
          <a:p>
            <a:r>
              <a:rPr lang="pt-BR" dirty="0"/>
              <a:t>ela usa uma </a:t>
            </a:r>
            <a:r>
              <a:rPr lang="pt-BR" b="1" dirty="0"/>
              <a:t>combinação ponderada de todas as operações candidatas</a:t>
            </a:r>
            <a:endParaRPr lang="pt-BR" dirty="0"/>
          </a:p>
          <a:p>
            <a:r>
              <a:rPr lang="pt-BR" dirty="0"/>
              <a:t>os pesos dessa combinação são parâmetros contínuos ( \alpha )</a:t>
            </a:r>
          </a:p>
          <a:p>
            <a:r>
              <a:rPr lang="pt-BR" dirty="0"/>
              <a:t>como esses parâmetros são contínuos, a </a:t>
            </a:r>
            <a:r>
              <a:rPr lang="pt-BR" dirty="0" err="1"/>
              <a:t>loss</a:t>
            </a:r>
            <a:r>
              <a:rPr lang="pt-BR" dirty="0"/>
              <a:t> fica </a:t>
            </a:r>
            <a:r>
              <a:rPr lang="pt-BR" dirty="0" err="1"/>
              <a:t>diferenciável</a:t>
            </a:r>
            <a:r>
              <a:rPr lang="pt-BR" dirty="0"/>
              <a:t> em relação a eles</a:t>
            </a:r>
          </a:p>
          <a:p>
            <a:r>
              <a:rPr lang="pt-BR" dirty="0"/>
              <a:t>então a arquitetura pode ser otimizada por gradiente</a:t>
            </a:r>
          </a:p>
          <a:p>
            <a:br>
              <a:rPr lang="pt-BR" dirty="0"/>
            </a:br>
            <a:endParaRPr lang="pt-BR" dirty="0"/>
          </a:p>
          <a:p>
            <a:r>
              <a:rPr lang="pt-BR" b="1" dirty="0"/>
              <a:t>10. Principal vantagem e principal problema</a:t>
            </a:r>
          </a:p>
          <a:p>
            <a:r>
              <a:rPr lang="pt-BR" b="1" dirty="0"/>
              <a:t>Vantagem</a:t>
            </a:r>
          </a:p>
          <a:p>
            <a:r>
              <a:rPr lang="pt-BR" dirty="0"/>
              <a:t>Reduz muito o custo de busca em relação a NAS com </a:t>
            </a:r>
            <a:r>
              <a:rPr lang="pt-BR" dirty="0" err="1"/>
              <a:t>reinforcement</a:t>
            </a:r>
            <a:r>
              <a:rPr lang="pt-BR" dirty="0"/>
              <a:t> learning ou algoritmos evolutivos.</a:t>
            </a:r>
          </a:p>
          <a:p>
            <a:r>
              <a:rPr lang="pt-BR" b="1" dirty="0"/>
              <a:t>Problema</a:t>
            </a:r>
          </a:p>
          <a:p>
            <a:r>
              <a:rPr lang="pt-BR" dirty="0"/>
              <a:t>A </a:t>
            </a:r>
            <a:r>
              <a:rPr lang="pt-BR" dirty="0" err="1"/>
              <a:t>supernet</a:t>
            </a:r>
            <a:r>
              <a:rPr lang="pt-BR" dirty="0"/>
              <a:t> fica pesada, porque várias operações coexistem ao mesmo tempo.</a:t>
            </a:r>
            <a:br>
              <a:rPr lang="pt-BR" dirty="0"/>
            </a:br>
            <a:r>
              <a:rPr lang="pt-BR" dirty="0"/>
              <a:t>Além disso, o DARTS pode favorecer demais operações fáceis, como </a:t>
            </a:r>
            <a:r>
              <a:rPr lang="pt-BR" b="1" dirty="0" err="1"/>
              <a:t>skip</a:t>
            </a:r>
            <a:r>
              <a:rPr lang="pt-BR" b="1" dirty="0"/>
              <a:t> connections</a:t>
            </a:r>
            <a:r>
              <a:rPr lang="pt-BR" dirty="0"/>
              <a:t>, levando ao chamado </a:t>
            </a:r>
            <a:r>
              <a:rPr lang="pt-BR" b="1" dirty="0" err="1"/>
              <a:t>collapse</a:t>
            </a:r>
            <a:r>
              <a:rPr lang="pt-BR" dirty="0"/>
              <a:t> da busca.</a:t>
            </a:r>
          </a:p>
          <a:p>
            <a:br>
              <a:rPr lang="pt-BR" dirty="0"/>
            </a:br>
            <a:endParaRPr lang="pt-BR" dirty="0"/>
          </a:p>
          <a:p>
            <a:r>
              <a:rPr lang="pt-BR" dirty="0"/>
              <a:t>Se quiser, no próximo passo eu posso te explicar </a:t>
            </a:r>
            <a:r>
              <a:rPr lang="pt-BR" b="1" dirty="0"/>
              <a:t>a figura do slide bloco por bloco</a:t>
            </a:r>
            <a:r>
              <a:rPr lang="pt-BR" dirty="0"/>
              <a:t>, mostrando exatamente o que significam os casos </a:t>
            </a:r>
            <a:r>
              <a:rPr lang="pt-BR" b="1" dirty="0"/>
              <a:t>(a), (b), (c) e (d)</a:t>
            </a:r>
            <a:r>
              <a:rPr lang="pt-BR" dirty="0"/>
              <a:t>.</a:t>
            </a:r>
          </a:p>
        </p:txBody>
      </p:sp>
      <p:sp>
        <p:nvSpPr>
          <p:cNvPr id="4" name="Slide Number Placeholder 3">
            <a:extLst>
              <a:ext uri="{FF2B5EF4-FFF2-40B4-BE49-F238E27FC236}">
                <a16:creationId xmlns:a16="http://schemas.microsoft.com/office/drawing/2014/main" id="{CB4D8594-4DC1-9D59-D456-C540DF24F2C4}"/>
              </a:ext>
            </a:extLst>
          </p:cNvPr>
          <p:cNvSpPr>
            <a:spLocks noGrp="1"/>
          </p:cNvSpPr>
          <p:nvPr>
            <p:ph type="sldNum" sz="quarter" idx="5"/>
          </p:nvPr>
        </p:nvSpPr>
        <p:spPr/>
        <p:txBody>
          <a:bodyPr/>
          <a:lstStyle/>
          <a:p>
            <a:fld id="{6FC8D850-966F-45A6-8DE7-15B891E7D40D}" type="slidenum">
              <a:rPr lang="pt-BR" smtClean="0"/>
              <a:t>4</a:t>
            </a:fld>
            <a:endParaRPr lang="pt-BR"/>
          </a:p>
        </p:txBody>
      </p:sp>
    </p:spTree>
    <p:extLst>
      <p:ext uri="{BB962C8B-B14F-4D97-AF65-F5344CB8AC3E}">
        <p14:creationId xmlns:p14="http://schemas.microsoft.com/office/powerpoint/2010/main" val="3782785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200" b="1" noProof="1">
                <a:solidFill>
                  <a:srgbClr val="1C2430"/>
                </a:solidFill>
              </a:rPr>
              <a:t>A proposta do artigo é o EasyNAS, um framework de NAS para visão com três ideias principais: convolution operator merging, para mesclar convoluções candidatas em uma única convolução compartilhada,dynamic channel refinement, para buscar redução de canais sem computação redundante,search space to supernet conversion tooling, baseado em atomic search components, para construir supernets configuráveis para diferentes tarefas.</a:t>
            </a:r>
          </a:p>
          <a:p>
            <a:pPr marL="171450" indent="-171450">
              <a:buFont typeface="Arial" panose="020B0604020202020204" pitchFamily="34" charset="0"/>
              <a:buChar char="•"/>
            </a:pPr>
            <a:endParaRPr lang="pt-BR" dirty="0"/>
          </a:p>
        </p:txBody>
      </p:sp>
      <p:sp>
        <p:nvSpPr>
          <p:cNvPr id="4" name="Slide Number Placeholder 3"/>
          <p:cNvSpPr>
            <a:spLocks noGrp="1"/>
          </p:cNvSpPr>
          <p:nvPr>
            <p:ph type="sldNum" sz="quarter" idx="5"/>
          </p:nvPr>
        </p:nvSpPr>
        <p:spPr/>
        <p:txBody>
          <a:bodyPr/>
          <a:lstStyle/>
          <a:p>
            <a:fld id="{6FC8D850-966F-45A6-8DE7-15B891E7D40D}" type="slidenum">
              <a:rPr lang="pt-BR" smtClean="0"/>
              <a:t>5</a:t>
            </a:fld>
            <a:endParaRPr lang="pt-BR"/>
          </a:p>
        </p:txBody>
      </p:sp>
    </p:spTree>
    <p:extLst>
      <p:ext uri="{BB962C8B-B14F-4D97-AF65-F5344CB8AC3E}">
        <p14:creationId xmlns:p14="http://schemas.microsoft.com/office/powerpoint/2010/main" val="2174287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B940A-2F9D-0C99-58F6-E17CD67D1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59E2F9-31B8-ABD7-CBFB-30A9DFD035B9}"/>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7FED184D-1E7A-4240-9F37-8CB9D5190998}"/>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200" b="1" noProof="1">
                <a:solidFill>
                  <a:srgbClr val="1C2430"/>
                </a:solidFill>
              </a:rPr>
              <a:t>A proposta do artigo é o EasyNAS, um framework de NAS para visão com três ideias principais: convolution operator merging, para mesclar convoluções candidatas em uma única convolução compartilhada,dynamic channel refinement, para buscar redução de canais sem computação redundante,search space to supernet conversion tooling, baseado em atomic search components, para construir supernets configuráveis para diferentes tarefas.</a:t>
            </a:r>
          </a:p>
          <a:p>
            <a:pPr marL="171450" indent="-171450">
              <a:buFont typeface="Arial" panose="020B0604020202020204" pitchFamily="34" charset="0"/>
              <a:buChar char="•"/>
            </a:pPr>
            <a:endParaRPr lang="pt-BR" dirty="0"/>
          </a:p>
        </p:txBody>
      </p:sp>
      <p:sp>
        <p:nvSpPr>
          <p:cNvPr id="4" name="Slide Number Placeholder 3">
            <a:extLst>
              <a:ext uri="{FF2B5EF4-FFF2-40B4-BE49-F238E27FC236}">
                <a16:creationId xmlns:a16="http://schemas.microsoft.com/office/drawing/2014/main" id="{DB563647-E77D-46F1-F6CD-08BDB19A060A}"/>
              </a:ext>
            </a:extLst>
          </p:cNvPr>
          <p:cNvSpPr>
            <a:spLocks noGrp="1"/>
          </p:cNvSpPr>
          <p:nvPr>
            <p:ph type="sldNum" sz="quarter" idx="5"/>
          </p:nvPr>
        </p:nvSpPr>
        <p:spPr/>
        <p:txBody>
          <a:bodyPr/>
          <a:lstStyle/>
          <a:p>
            <a:fld id="{6FC8D850-966F-45A6-8DE7-15B891E7D40D}" type="slidenum">
              <a:rPr lang="pt-BR" smtClean="0"/>
              <a:t>6</a:t>
            </a:fld>
            <a:endParaRPr lang="pt-BR"/>
          </a:p>
        </p:txBody>
      </p:sp>
    </p:spTree>
    <p:extLst>
      <p:ext uri="{BB962C8B-B14F-4D97-AF65-F5344CB8AC3E}">
        <p14:creationId xmlns:p14="http://schemas.microsoft.com/office/powerpoint/2010/main" val="492576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7D45E-2D18-5490-F1E6-856E6DD65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9E40A-E2B0-79E6-E0A8-2DF7EC0F88C2}"/>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752151AF-D511-F8E8-2DA4-A19642F277F1}"/>
              </a:ext>
            </a:extLst>
          </p:cNvPr>
          <p:cNvSpPr>
            <a:spLocks noGrp="1"/>
          </p:cNvSpPr>
          <p:nvPr>
            <p:ph type="body" idx="1"/>
          </p:nvPr>
        </p:nvSpPr>
        <p:spPr/>
        <p:txBody>
          <a:bodyPr/>
          <a:lstStyle/>
          <a:p>
            <a:r>
              <a:rPr lang="pt-BR" dirty="0"/>
              <a:t>O </a:t>
            </a:r>
            <a:r>
              <a:rPr lang="pt-BR" b="1" dirty="0" err="1"/>
              <a:t>backbone</a:t>
            </a:r>
            <a:r>
              <a:rPr lang="pt-BR" dirty="0"/>
              <a:t> extrai mapas de características da imagem. Camadas rasas têm mais resolução espacial, úteis para objetos pequenos. Camadas profundas têm menos resolução, mas mais informação semântica, úteis para reconhecer objetos maiores e mais abstratos.</a:t>
            </a:r>
          </a:p>
          <a:p>
            <a:r>
              <a:rPr lang="pt-BR" dirty="0"/>
              <a:t>A </a:t>
            </a:r>
            <a:r>
              <a:rPr lang="pt-BR" b="1" dirty="0"/>
              <a:t>FPN</a:t>
            </a:r>
            <a:r>
              <a:rPr lang="pt-BR" dirty="0"/>
              <a:t> pega esses mapas em diferentes escalas e faz uma fusão. A ideia é não depender de uma única resolução.</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b="1" dirty="0"/>
              <a:t>FPN</a:t>
            </a:r>
            <a:r>
              <a:rPr lang="pt-BR" dirty="0"/>
              <a:t> significa </a:t>
            </a:r>
            <a:r>
              <a:rPr lang="pt-BR" b="1" dirty="0"/>
              <a:t>Feature Pyramid Network</a:t>
            </a:r>
            <a:r>
              <a:rPr lang="pt-BR" dirty="0"/>
              <a:t>, ou </a:t>
            </a:r>
            <a:r>
              <a:rPr lang="pt-BR" b="1" dirty="0"/>
              <a:t>Rede de Pirâmide de Características</a:t>
            </a:r>
            <a:r>
              <a:rPr lang="pt-BR" dirty="0"/>
              <a:t>.</a:t>
            </a:r>
          </a:p>
        </p:txBody>
      </p:sp>
      <p:sp>
        <p:nvSpPr>
          <p:cNvPr id="4" name="Slide Number Placeholder 3">
            <a:extLst>
              <a:ext uri="{FF2B5EF4-FFF2-40B4-BE49-F238E27FC236}">
                <a16:creationId xmlns:a16="http://schemas.microsoft.com/office/drawing/2014/main" id="{7CEF37A5-B1E6-E1CB-770E-A3C8933AA313}"/>
              </a:ext>
            </a:extLst>
          </p:cNvPr>
          <p:cNvSpPr>
            <a:spLocks noGrp="1"/>
          </p:cNvSpPr>
          <p:nvPr>
            <p:ph type="sldNum" sz="quarter" idx="5"/>
          </p:nvPr>
        </p:nvSpPr>
        <p:spPr/>
        <p:txBody>
          <a:bodyPr/>
          <a:lstStyle/>
          <a:p>
            <a:fld id="{6FC8D850-966F-45A6-8DE7-15B891E7D40D}" type="slidenum">
              <a:rPr lang="pt-BR" smtClean="0"/>
              <a:t>7</a:t>
            </a:fld>
            <a:endParaRPr lang="pt-BR"/>
          </a:p>
        </p:txBody>
      </p:sp>
    </p:spTree>
    <p:extLst>
      <p:ext uri="{BB962C8B-B14F-4D97-AF65-F5344CB8AC3E}">
        <p14:creationId xmlns:p14="http://schemas.microsoft.com/office/powerpoint/2010/main" val="33153672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38F68-5408-63A4-DBC6-BBC678B367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E6F252-DB80-981A-4110-839EF6F7FA1D}"/>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D09E01D6-EBE5-D0FE-22A6-3BEA8331474B}"/>
              </a:ext>
            </a:extLst>
          </p:cNvPr>
          <p:cNvSpPr>
            <a:spLocks noGrp="1"/>
          </p:cNvSpPr>
          <p:nvPr>
            <p:ph type="body" idx="1"/>
          </p:nvPr>
        </p:nvSpPr>
        <p:spPr/>
        <p:txBody>
          <a:bodyPr/>
          <a:lstStyle/>
          <a:p>
            <a:pPr marL="0" indent="0">
              <a:buFont typeface="Arial" panose="020B0604020202020204" pitchFamily="34" charset="0"/>
              <a:buNone/>
            </a:pPr>
            <a:endParaRPr lang="pt-BR" dirty="0"/>
          </a:p>
        </p:txBody>
      </p:sp>
      <p:sp>
        <p:nvSpPr>
          <p:cNvPr id="4" name="Slide Number Placeholder 3">
            <a:extLst>
              <a:ext uri="{FF2B5EF4-FFF2-40B4-BE49-F238E27FC236}">
                <a16:creationId xmlns:a16="http://schemas.microsoft.com/office/drawing/2014/main" id="{F1996BA6-E74A-B67E-534B-66870C180BFD}"/>
              </a:ext>
            </a:extLst>
          </p:cNvPr>
          <p:cNvSpPr>
            <a:spLocks noGrp="1"/>
          </p:cNvSpPr>
          <p:nvPr>
            <p:ph type="sldNum" sz="quarter" idx="5"/>
          </p:nvPr>
        </p:nvSpPr>
        <p:spPr/>
        <p:txBody>
          <a:bodyPr/>
          <a:lstStyle/>
          <a:p>
            <a:fld id="{6FC8D850-966F-45A6-8DE7-15B891E7D40D}" type="slidenum">
              <a:rPr lang="pt-BR" smtClean="0"/>
              <a:t>8</a:t>
            </a:fld>
            <a:endParaRPr lang="pt-BR"/>
          </a:p>
        </p:txBody>
      </p:sp>
    </p:spTree>
    <p:extLst>
      <p:ext uri="{BB962C8B-B14F-4D97-AF65-F5344CB8AC3E}">
        <p14:creationId xmlns:p14="http://schemas.microsoft.com/office/powerpoint/2010/main" val="7360749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2EDF7-8200-3A17-59B0-E5C0F9EB6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FDFF3F-8AD6-7289-1B14-74438C0A40FD}"/>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531F413F-F8D5-CD26-4B6C-5907E717598D}"/>
              </a:ext>
            </a:extLst>
          </p:cNvPr>
          <p:cNvSpPr>
            <a:spLocks noGrp="1"/>
          </p:cNvSpPr>
          <p:nvPr>
            <p:ph type="body" idx="1"/>
          </p:nvPr>
        </p:nvSpPr>
        <p:spPr/>
        <p:txBody>
          <a:bodyPr/>
          <a:lstStyle/>
          <a:p>
            <a:pPr marL="0" indent="0">
              <a:buFont typeface="Arial" panose="020B0604020202020204" pitchFamily="34" charset="0"/>
              <a:buNone/>
            </a:pPr>
            <a:r>
              <a:rPr lang="pt-BR" dirty="0"/>
              <a:t>Parte deste trabalho já tinha aparecido em dois artigos de conferência, um focado em classificação e outro em detecção. </a:t>
            </a:r>
          </a:p>
          <a:p>
            <a:pPr marL="0" indent="0">
              <a:buFont typeface="Arial" panose="020B0604020202020204" pitchFamily="34" charset="0"/>
              <a:buNone/>
            </a:pPr>
            <a:r>
              <a:rPr lang="pt-BR" dirty="0"/>
              <a:t>Nesta versão de periódico, os autores unificam essas ideias em um único framework e ampliam o método. </a:t>
            </a:r>
          </a:p>
          <a:p>
            <a:pPr marL="0" indent="0">
              <a:buFont typeface="Arial" panose="020B0604020202020204" pitchFamily="34" charset="0"/>
              <a:buNone/>
            </a:pPr>
            <a:r>
              <a:rPr lang="pt-BR" dirty="0"/>
              <a:t>As principais extensões são uma ferramenta configurável para converter </a:t>
            </a:r>
            <a:r>
              <a:rPr lang="pt-BR" dirty="0" err="1"/>
              <a:t>search</a:t>
            </a:r>
            <a:r>
              <a:rPr lang="pt-BR" dirty="0"/>
              <a:t> </a:t>
            </a:r>
            <a:r>
              <a:rPr lang="pt-BR" dirty="0" err="1"/>
              <a:t>spaces</a:t>
            </a:r>
            <a:r>
              <a:rPr lang="pt-BR" dirty="0"/>
              <a:t> em </a:t>
            </a:r>
            <a:r>
              <a:rPr lang="pt-BR" dirty="0" err="1"/>
              <a:t>supernets</a:t>
            </a:r>
            <a:r>
              <a:rPr lang="pt-BR" dirty="0"/>
              <a:t> com base no </a:t>
            </a:r>
            <a:r>
              <a:rPr lang="pt-BR" dirty="0" err="1"/>
              <a:t>atomic</a:t>
            </a:r>
            <a:r>
              <a:rPr lang="pt-BR" dirty="0"/>
              <a:t> </a:t>
            </a:r>
            <a:r>
              <a:rPr lang="pt-BR" dirty="0" err="1"/>
              <a:t>search</a:t>
            </a:r>
            <a:r>
              <a:rPr lang="pt-BR" dirty="0"/>
              <a:t> </a:t>
            </a:r>
            <a:r>
              <a:rPr lang="pt-BR" dirty="0" err="1"/>
              <a:t>component</a:t>
            </a:r>
            <a:r>
              <a:rPr lang="pt-BR" dirty="0"/>
              <a:t>, novos experimentos em </a:t>
            </a:r>
            <a:r>
              <a:rPr lang="pt-BR" dirty="0" err="1"/>
              <a:t>ImageNet</a:t>
            </a:r>
            <a:r>
              <a:rPr lang="pt-BR" dirty="0"/>
              <a:t> com análise de robustez, mais resultados em detecção com diferentes </a:t>
            </a:r>
            <a:r>
              <a:rPr lang="pt-BR" dirty="0" err="1"/>
              <a:t>detection</a:t>
            </a:r>
            <a:r>
              <a:rPr lang="pt-BR" dirty="0"/>
              <a:t> </a:t>
            </a:r>
            <a:r>
              <a:rPr lang="pt-BR" dirty="0" err="1"/>
              <a:t>heads</a:t>
            </a:r>
            <a:r>
              <a:rPr lang="pt-BR" dirty="0"/>
              <a:t>, e resultados inéditos em segmentação. </a:t>
            </a:r>
          </a:p>
          <a:p>
            <a:pPr marL="0" indent="0">
              <a:buFont typeface="Arial" panose="020B0604020202020204" pitchFamily="34" charset="0"/>
              <a:buNone/>
            </a:pPr>
            <a:r>
              <a:rPr lang="pt-BR" dirty="0"/>
              <a:t>Além disso, o artigo traz uma discussão mais completa da proposta e dos trabalhos relacionados.</a:t>
            </a:r>
          </a:p>
        </p:txBody>
      </p:sp>
      <p:sp>
        <p:nvSpPr>
          <p:cNvPr id="4" name="Slide Number Placeholder 3">
            <a:extLst>
              <a:ext uri="{FF2B5EF4-FFF2-40B4-BE49-F238E27FC236}">
                <a16:creationId xmlns:a16="http://schemas.microsoft.com/office/drawing/2014/main" id="{9F1135DC-471D-0D2C-171E-D21D70F4F48C}"/>
              </a:ext>
            </a:extLst>
          </p:cNvPr>
          <p:cNvSpPr>
            <a:spLocks noGrp="1"/>
          </p:cNvSpPr>
          <p:nvPr>
            <p:ph type="sldNum" sz="quarter" idx="5"/>
          </p:nvPr>
        </p:nvSpPr>
        <p:spPr/>
        <p:txBody>
          <a:bodyPr/>
          <a:lstStyle/>
          <a:p>
            <a:fld id="{6FC8D850-966F-45A6-8DE7-15B891E7D40D}" type="slidenum">
              <a:rPr lang="pt-BR" smtClean="0"/>
              <a:t>9</a:t>
            </a:fld>
            <a:endParaRPr lang="pt-BR"/>
          </a:p>
        </p:txBody>
      </p:sp>
    </p:spTree>
    <p:extLst>
      <p:ext uri="{BB962C8B-B14F-4D97-AF65-F5344CB8AC3E}">
        <p14:creationId xmlns:p14="http://schemas.microsoft.com/office/powerpoint/2010/main" val="18218298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pt-BR" dirty="0"/>
                  <a:t>O sistema proposto parte de um </a:t>
                </a:r>
                <a:r>
                  <a:rPr lang="pt-BR" b="1" dirty="0" err="1"/>
                  <a:t>search</a:t>
                </a:r>
                <a:r>
                  <a:rPr lang="pt-BR" b="1" dirty="0"/>
                  <a:t> </a:t>
                </a:r>
                <a:r>
                  <a:rPr lang="pt-BR" b="1" dirty="0" err="1"/>
                  <a:t>space</a:t>
                </a:r>
                <a:r>
                  <a:rPr lang="pt-BR" b="1" dirty="0"/>
                  <a:t> definido pelo usuário</a:t>
                </a:r>
                <a:r>
                  <a:rPr lang="pt-BR" dirty="0"/>
                  <a:t>. Esse </a:t>
                </a:r>
                <a:r>
                  <a:rPr lang="pt-BR" dirty="0" err="1"/>
                  <a:t>search</a:t>
                </a:r>
                <a:r>
                  <a:rPr lang="pt-BR" dirty="0"/>
                  <a:t> </a:t>
                </a:r>
                <a:r>
                  <a:rPr lang="pt-BR" dirty="0" err="1"/>
                  <a:t>space</a:t>
                </a:r>
                <a:r>
                  <a:rPr lang="pt-BR" dirty="0"/>
                  <a:t> especifica: </a:t>
                </a:r>
                <a:r>
                  <a:rPr lang="pt-BR" b="1" dirty="0"/>
                  <a:t>quais entradas podem alimentar cada bloco</a:t>
                </a:r>
                <a:r>
                  <a:rPr lang="pt-BR" dirty="0"/>
                  <a:t>, </a:t>
                </a:r>
              </a:p>
              <a:p>
                <a:r>
                  <a:rPr lang="pt-BR" b="1" dirty="0"/>
                  <a:t>quais operações são candidatas</a:t>
                </a:r>
                <a:r>
                  <a:rPr lang="pt-BR" dirty="0"/>
                  <a:t>, </a:t>
                </a:r>
              </a:p>
              <a:p>
                <a:r>
                  <a:rPr lang="pt-BR" b="1" dirty="0"/>
                  <a:t>quais taxas de redução de canais podem ser escolhidas</a:t>
                </a:r>
                <a:r>
                  <a:rPr lang="pt-BR" dirty="0"/>
                  <a:t>. </a:t>
                </a:r>
              </a:p>
              <a:p>
                <a:r>
                  <a:rPr lang="pt-BR" dirty="0"/>
                  <a:t>A partir dessa definição, o </a:t>
                </a:r>
                <a:r>
                  <a:rPr lang="pt-BR" dirty="0" err="1"/>
                  <a:t>EasyNAS</a:t>
                </a:r>
                <a:r>
                  <a:rPr lang="pt-BR" dirty="0"/>
                  <a:t> constrói automaticamente um </a:t>
                </a:r>
                <a:r>
                  <a:rPr lang="pt-BR" b="1" dirty="0" err="1"/>
                  <a:t>supernet</a:t>
                </a:r>
                <a:r>
                  <a:rPr lang="pt-BR" dirty="0"/>
                  <a:t>. Esse </a:t>
                </a:r>
                <a:r>
                  <a:rPr lang="pt-BR" dirty="0" err="1"/>
                  <a:t>supernet</a:t>
                </a:r>
                <a:r>
                  <a:rPr lang="pt-BR" dirty="0"/>
                  <a:t> é formado pelo empilhamento de </a:t>
                </a:r>
                <a:r>
                  <a:rPr lang="pt-BR" b="1" dirty="0" err="1"/>
                  <a:t>atomic</a:t>
                </a:r>
                <a:r>
                  <a:rPr lang="pt-BR" b="1" dirty="0"/>
                  <a:t> </a:t>
                </a:r>
                <a:r>
                  <a:rPr lang="pt-BR" b="1" dirty="0" err="1"/>
                  <a:t>search</a:t>
                </a:r>
                <a:r>
                  <a:rPr lang="pt-BR" b="1" dirty="0"/>
                  <a:t> </a:t>
                </a:r>
                <a:r>
                  <a:rPr lang="pt-BR" b="1" dirty="0" err="1"/>
                  <a:t>components</a:t>
                </a:r>
                <a:r>
                  <a:rPr lang="pt-BR" dirty="0"/>
                  <a:t>. </a:t>
                </a:r>
              </a:p>
              <a:p>
                <a:r>
                  <a:rPr lang="pt-BR" dirty="0"/>
                  <a:t>A ideia é usar a mesma lógica de construção para diferentes tarefas de visão, alterando apenas o </a:t>
                </a:r>
                <a:r>
                  <a:rPr lang="pt-BR" dirty="0" err="1"/>
                  <a:t>search</a:t>
                </a:r>
                <a:r>
                  <a:rPr lang="pt-BR" dirty="0"/>
                  <a:t> </a:t>
                </a:r>
                <a:r>
                  <a:rPr lang="pt-BR" dirty="0" err="1"/>
                  <a:t>space</a:t>
                </a:r>
                <a:r>
                  <a:rPr lang="pt-BR" dirty="0"/>
                  <a:t> e a forma como os blocos são organizados. Em resumo: </a:t>
                </a:r>
                <a:r>
                  <a:rPr lang="pt-BR" b="1" dirty="0"/>
                  <a:t>entrada do sistema:</a:t>
                </a:r>
                <a:r>
                  <a:rPr lang="pt-BR" dirty="0"/>
                  <a:t> </a:t>
                </a:r>
                <a:r>
                  <a:rPr lang="pt-BR" dirty="0" err="1"/>
                  <a:t>search</a:t>
                </a:r>
                <a:r>
                  <a:rPr lang="pt-BR" dirty="0"/>
                  <a:t> </a:t>
                </a:r>
                <a:r>
                  <a:rPr lang="pt-BR" dirty="0" err="1"/>
                  <a:t>space</a:t>
                </a:r>
                <a:r>
                  <a:rPr lang="pt-BR" dirty="0"/>
                  <a:t> + pesos compartilhados iniciais + máscaras das operações, </a:t>
                </a:r>
              </a:p>
              <a:p>
                <a:r>
                  <a:rPr lang="pt-BR" b="1" dirty="0"/>
                  <a:t>processamento:</a:t>
                </a:r>
                <a:r>
                  <a:rPr lang="pt-BR" dirty="0"/>
                  <a:t> treinamento do </a:t>
                </a:r>
                <a:r>
                  <a:rPr lang="pt-BR" dirty="0" err="1"/>
                  <a:t>supernet</a:t>
                </a:r>
                <a:r>
                  <a:rPr lang="pt-BR" dirty="0"/>
                  <a:t> com busca por operações, conexões e redução de canais, </a:t>
                </a:r>
              </a:p>
              <a:p>
                <a:r>
                  <a:rPr lang="pt-BR" b="1" dirty="0"/>
                  <a:t>saída do sistema:</a:t>
                </a:r>
                <a:r>
                  <a:rPr lang="pt-BR" dirty="0"/>
                  <a:t> arquitetura final discreta, derivada dos parâmetros aprendidos.</a:t>
                </a:r>
              </a:p>
              <a:p>
                <a:endParaRPr lang="pt-BR" dirty="0"/>
              </a:p>
              <a:p>
                <a:endParaRPr lang="pt-BR" dirty="0"/>
              </a:p>
              <a:p>
                <a:r>
                  <a:rPr lang="pt-BR" b="1" dirty="0"/>
                  <a:t>1. </a:t>
                </a:r>
                <a:r>
                  <a:rPr lang="pt-BR" b="1" dirty="0" err="1"/>
                  <a:t>Convolution</a:t>
                </a:r>
                <a:r>
                  <a:rPr lang="pt-BR" b="1" dirty="0"/>
                  <a:t> </a:t>
                </a:r>
                <a:r>
                  <a:rPr lang="pt-BR" b="1" dirty="0" err="1"/>
                  <a:t>operator</a:t>
                </a:r>
                <a:r>
                  <a:rPr lang="pt-BR" b="1" dirty="0"/>
                  <a:t> </a:t>
                </a:r>
                <a:r>
                  <a:rPr lang="pt-BR" b="1" dirty="0" err="1"/>
                  <a:t>merging</a:t>
                </a:r>
                <a:endParaRPr lang="pt-BR" b="1" dirty="0"/>
              </a:p>
              <a:p>
                <a:r>
                  <a:rPr lang="pt-BR" b="1" dirty="0"/>
                  <a:t>Ideia simples</a:t>
                </a:r>
              </a:p>
              <a:p>
                <a:r>
                  <a:rPr lang="pt-BR" dirty="0"/>
                  <a:t>No DARTS comum, se uma aresta tem quatro convoluções candidatas, ele calcula as quatro:</a:t>
                </a:r>
              </a:p>
              <a:p>
                <a:pPr rtl="0"/>
                <a:r>
                  <a:rPr lang="pt-BR" sz="1200" kern="1200" dirty="0">
                    <a:solidFill>
                      <a:schemeClr val="tx1"/>
                    </a:solidFill>
                    <a:latin typeface="+mn-lt"/>
                    <a:ea typeface="+mn-ea"/>
                    <a:cs typeface="+mn-cs"/>
                  </a:rPr>
                  <a:t>saída = α1 conv3x3(x) + α2 conv5x5(x) + α3 conv3x3_dilatada(x) + α4 conv5x5_dilatada(x)</a:t>
                </a:r>
              </a:p>
              <a:p>
                <a:r>
                  <a:rPr lang="pt-BR" dirty="0"/>
                  <a:t>Isso custa muito porque todas as convoluções precisam ser executadas e seus mapas intermediários precisam ficar na memória para o </a:t>
                </a:r>
                <a:r>
                  <a:rPr lang="pt-BR" dirty="0" err="1"/>
                  <a:t>backpropagation</a:t>
                </a:r>
                <a:r>
                  <a:rPr lang="pt-BR" dirty="0"/>
                  <a:t>.</a:t>
                </a:r>
              </a:p>
              <a:p>
                <a:r>
                  <a:rPr lang="pt-BR" dirty="0"/>
                  <a:t>O </a:t>
                </a:r>
                <a:r>
                  <a:rPr lang="pt-BR" b="1" dirty="0" err="1"/>
                  <a:t>convolution</a:t>
                </a:r>
                <a:r>
                  <a:rPr lang="pt-BR" b="1" dirty="0"/>
                  <a:t> </a:t>
                </a:r>
                <a:r>
                  <a:rPr lang="pt-BR" b="1" dirty="0" err="1"/>
                  <a:t>operator</a:t>
                </a:r>
                <a:r>
                  <a:rPr lang="pt-BR" b="1" dirty="0"/>
                  <a:t> </a:t>
                </a:r>
                <a:r>
                  <a:rPr lang="pt-BR" b="1" dirty="0" err="1"/>
                  <a:t>merging</a:t>
                </a:r>
                <a:r>
                  <a:rPr lang="pt-BR" dirty="0"/>
                  <a:t> troca isso por uma ideia: em vez de executar várias convoluções e somar os resultados, ele constrói </a:t>
                </a:r>
                <a:r>
                  <a:rPr lang="pt-BR" b="1" dirty="0"/>
                  <a:t>uma única convolução equivalente</a:t>
                </a:r>
                <a:r>
                  <a:rPr lang="pt-BR" dirty="0"/>
                  <a:t>.</a:t>
                </a:r>
              </a:p>
              <a:p>
                <a:endParaRPr lang="pt-BR" dirty="0"/>
              </a:p>
              <a:p>
                <a:r>
                  <a:rPr lang="pt-BR" dirty="0"/>
                  <a:t>O problema é que uma </a:t>
                </a:r>
                <a:r>
                  <a:rPr lang="pt-BR" dirty="0" err="1"/>
                  <a:t>conv</a:t>
                </a:r>
                <a:r>
                  <a:rPr lang="pt-BR" dirty="0"/>
                  <a:t> 3×3 e uma </a:t>
                </a:r>
                <a:r>
                  <a:rPr lang="pt-BR" dirty="0" err="1"/>
                  <a:t>conv</a:t>
                </a:r>
                <a:r>
                  <a:rPr lang="pt-BR" dirty="0"/>
                  <a:t> 5×5 não têm o mesmo tamanho. O </a:t>
                </a:r>
                <a:r>
                  <a:rPr lang="pt-BR" dirty="0" err="1"/>
                  <a:t>paper</a:t>
                </a:r>
                <a:r>
                  <a:rPr lang="pt-BR" dirty="0"/>
                  <a:t> resolve isso usando </a:t>
                </a:r>
                <a:r>
                  <a:rPr lang="pt-BR" b="1" dirty="0"/>
                  <a:t>máscaras</a:t>
                </a:r>
                <a:r>
                  <a:rPr lang="pt-BR" dirty="0"/>
                  <a:t>.</a:t>
                </a:r>
              </a:p>
              <a:p>
                <a:r>
                  <a:rPr lang="pt-BR" dirty="0"/>
                  <a:t>Exemplo:</a:t>
                </a:r>
              </a:p>
              <a:p>
                <a:r>
                  <a:rPr lang="pt-BR" dirty="0"/>
                  <a:t>Uma </a:t>
                </a:r>
                <a:r>
                  <a:rPr lang="pt-BR" dirty="0" err="1"/>
                  <a:t>conv</a:t>
                </a:r>
                <a:r>
                  <a:rPr lang="pt-BR" dirty="0"/>
                  <a:t> 3×3 pode ser vista como uma </a:t>
                </a:r>
                <a:r>
                  <a:rPr lang="pt-BR" dirty="0" err="1"/>
                  <a:t>conv</a:t>
                </a:r>
                <a:r>
                  <a:rPr lang="pt-BR" dirty="0"/>
                  <a:t> 5×5 onde a borda é zero.</a:t>
                </a:r>
              </a:p>
              <a:p>
                <a:endParaRPr lang="pt-BR" dirty="0"/>
              </a:p>
              <a:p>
                <a:r>
                  <a:rPr lang="pt-BR" dirty="0"/>
                  <a:t>Uma convolução dilatada também pode ser vista como uma convolução normal maior, mas com zeros entre os pesos.</a:t>
                </a:r>
              </a:p>
              <a:p>
                <a:r>
                  <a:rPr lang="pt-BR" dirty="0"/>
                  <a:t>Então o método cria um kernel grande compartilhado, por exemplo 5×5 ou maior, e usa máscaras para representar cada operação candidata. A arquitetura aprende pesos α para dizer qual máscara, ou seja, qual operação, é mais importante.</a:t>
                </a:r>
              </a:p>
              <a:p>
                <a:endParaRPr lang="pt-BR" dirty="0"/>
              </a:p>
              <a:p>
                <a:endParaRPr lang="pt-BR" dirty="0"/>
              </a:p>
              <a:p>
                <a:r>
                  <a:rPr lang="pt-BR" b="1" dirty="0"/>
                  <a:t>2. Dynamic </a:t>
                </a:r>
                <a:r>
                  <a:rPr lang="pt-BR" b="1" dirty="0" err="1"/>
                  <a:t>channel</a:t>
                </a:r>
                <a:r>
                  <a:rPr lang="pt-BR" b="1" dirty="0"/>
                  <a:t> </a:t>
                </a:r>
                <a:r>
                  <a:rPr lang="pt-BR" b="1" dirty="0" err="1"/>
                  <a:t>refinement</a:t>
                </a:r>
                <a:endParaRPr lang="pt-BR" b="1" dirty="0"/>
              </a:p>
              <a:p>
                <a:r>
                  <a:rPr lang="pt-BR" b="1" dirty="0"/>
                  <a:t>Ideia simples</a:t>
                </a:r>
              </a:p>
              <a:p>
                <a:r>
                  <a:rPr lang="pt-BR" dirty="0"/>
                  <a:t>Além de escolher </a:t>
                </a:r>
                <a:r>
                  <a:rPr lang="pt-BR" b="1" dirty="0"/>
                  <a:t>qual operação</a:t>
                </a:r>
                <a:r>
                  <a:rPr lang="pt-BR" dirty="0"/>
                  <a:t> usar, o </a:t>
                </a:r>
                <a:r>
                  <a:rPr lang="pt-BR" dirty="0" err="1"/>
                  <a:t>EasyNAS</a:t>
                </a:r>
                <a:r>
                  <a:rPr lang="pt-BR" dirty="0"/>
                  <a:t> também tenta escolher </a:t>
                </a:r>
                <a:r>
                  <a:rPr lang="pt-BR" b="1" dirty="0"/>
                  <a:t>quantos canais</a:t>
                </a:r>
                <a:r>
                  <a:rPr lang="pt-BR" dirty="0"/>
                  <a:t> cada bloco deve usar.</a:t>
                </a:r>
              </a:p>
              <a:p>
                <a:r>
                  <a:rPr lang="pt-BR" dirty="0"/>
                  <a:t>Por exemplo, uma camada poderia ter:</a:t>
                </a:r>
              </a:p>
              <a:p>
                <a:pPr rtl="0"/>
                <a:r>
                  <a:rPr lang="pt-BR" sz="1200" kern="1200" dirty="0">
                    <a:solidFill>
                      <a:schemeClr val="tx1"/>
                    </a:solidFill>
                    <a:latin typeface="+mn-lt"/>
                    <a:ea typeface="+mn-ea"/>
                    <a:cs typeface="+mn-cs"/>
                  </a:rPr>
                  <a:t>100% dos canais</a:t>
                </a:r>
                <a:br>
                  <a:rPr lang="pt-BR" sz="1200" kern="1200" dirty="0">
                    <a:solidFill>
                      <a:schemeClr val="tx1"/>
                    </a:solidFill>
                    <a:latin typeface="+mn-lt"/>
                    <a:ea typeface="+mn-ea"/>
                    <a:cs typeface="+mn-cs"/>
                  </a:rPr>
                </a:br>
                <a:r>
                  <a:rPr lang="pt-BR" sz="1200" kern="1200" dirty="0">
                    <a:solidFill>
                      <a:schemeClr val="tx1"/>
                    </a:solidFill>
                    <a:latin typeface="+mn-lt"/>
                    <a:ea typeface="+mn-ea"/>
                    <a:cs typeface="+mn-cs"/>
                  </a:rPr>
                  <a:t>75% dos canais</a:t>
                </a:r>
                <a:br>
                  <a:rPr lang="pt-BR" sz="1200" kern="1200" dirty="0">
                    <a:solidFill>
                      <a:schemeClr val="tx1"/>
                    </a:solidFill>
                    <a:latin typeface="+mn-lt"/>
                    <a:ea typeface="+mn-ea"/>
                    <a:cs typeface="+mn-cs"/>
                  </a:rPr>
                </a:br>
                <a:r>
                  <a:rPr lang="pt-BR" sz="1200" kern="1200" dirty="0">
                    <a:solidFill>
                      <a:schemeClr val="tx1"/>
                    </a:solidFill>
                    <a:latin typeface="+mn-lt"/>
                    <a:ea typeface="+mn-ea"/>
                    <a:cs typeface="+mn-cs"/>
                  </a:rPr>
                  <a:t>50% dos canais</a:t>
                </a:r>
              </a:p>
              <a:p>
                <a:r>
                  <a:rPr lang="pt-BR" dirty="0"/>
                  <a:t>Isso é importante porque número de canais controla diretamente:</a:t>
                </a:r>
              </a:p>
              <a:p>
                <a:pPr rtl="0"/>
                <a:r>
                  <a:rPr lang="pt-BR" sz="1200" kern="1200" dirty="0">
                    <a:solidFill>
                      <a:schemeClr val="tx1"/>
                    </a:solidFill>
                    <a:latin typeface="+mn-lt"/>
                    <a:ea typeface="+mn-ea"/>
                    <a:cs typeface="+mn-cs"/>
                  </a:rPr>
                  <a:t>parâmetros</a:t>
                </a:r>
                <a:br>
                  <a:rPr lang="pt-BR" sz="1200" kern="1200" dirty="0">
                    <a:solidFill>
                      <a:schemeClr val="tx1"/>
                    </a:solidFill>
                    <a:latin typeface="+mn-lt"/>
                    <a:ea typeface="+mn-ea"/>
                    <a:cs typeface="+mn-cs"/>
                  </a:rPr>
                </a:br>
                <a:r>
                  <a:rPr lang="pt-BR" sz="1200" kern="1200" dirty="0" err="1">
                    <a:solidFill>
                      <a:schemeClr val="tx1"/>
                    </a:solidFill>
                    <a:latin typeface="+mn-lt"/>
                    <a:ea typeface="+mn-ea"/>
                    <a:cs typeface="+mn-cs"/>
                  </a:rPr>
                  <a:t>FLOPs</a:t>
                </a:r>
                <a:br>
                  <a:rPr lang="pt-BR" sz="1200" kern="1200" dirty="0">
                    <a:solidFill>
                      <a:schemeClr val="tx1"/>
                    </a:solidFill>
                    <a:latin typeface="+mn-lt"/>
                    <a:ea typeface="+mn-ea"/>
                    <a:cs typeface="+mn-cs"/>
                  </a:rPr>
                </a:br>
                <a:r>
                  <a:rPr lang="pt-BR" sz="1200" kern="1200" dirty="0">
                    <a:solidFill>
                      <a:schemeClr val="tx1"/>
                    </a:solidFill>
                    <a:latin typeface="+mn-lt"/>
                    <a:ea typeface="+mn-ea"/>
                    <a:cs typeface="+mn-cs"/>
                  </a:rPr>
                  <a:t>memória</a:t>
                </a:r>
                <a:br>
                  <a:rPr lang="pt-BR" sz="1200" kern="1200" dirty="0">
                    <a:solidFill>
                      <a:schemeClr val="tx1"/>
                    </a:solidFill>
                    <a:latin typeface="+mn-lt"/>
                    <a:ea typeface="+mn-ea"/>
                    <a:cs typeface="+mn-cs"/>
                  </a:rPr>
                </a:br>
                <a:r>
                  <a:rPr lang="pt-BR" sz="1200" kern="1200" dirty="0">
                    <a:solidFill>
                      <a:schemeClr val="tx1"/>
                    </a:solidFill>
                    <a:latin typeface="+mn-lt"/>
                    <a:ea typeface="+mn-ea"/>
                    <a:cs typeface="+mn-cs"/>
                  </a:rPr>
                  <a:t>latência</a:t>
                </a:r>
              </a:p>
              <a:p>
                <a:r>
                  <a:rPr lang="pt-BR" dirty="0"/>
                  <a:t>Em visão computacional, especialmente detecção e segmentação, muitos canais podem ser redundantes.</a:t>
                </a:r>
              </a:p>
              <a:p>
                <a:r>
                  <a:rPr lang="pt-BR" b="1" dirty="0"/>
                  <a:t>Qual é a dificuldade?</a:t>
                </a:r>
              </a:p>
              <a:p>
                <a:endParaRPr lang="pt-BR" b="1" dirty="0"/>
              </a:p>
              <a:p>
                <a:r>
                  <a:rPr lang="pt-BR" dirty="0"/>
                  <a:t>Escolher número de canais parece uma decisão discreta:</a:t>
                </a:r>
              </a:p>
              <a:p>
                <a:pPr rtl="0"/>
                <a:r>
                  <a:rPr lang="pt-BR" sz="1200" kern="1200" dirty="0">
                    <a:solidFill>
                      <a:schemeClr val="tx1"/>
                    </a:solidFill>
                    <a:latin typeface="+mn-lt"/>
                    <a:ea typeface="+mn-ea"/>
                    <a:cs typeface="+mn-cs"/>
                  </a:rPr>
                  <a:t>usar 32, 48 ou 64 canais</a:t>
                </a:r>
              </a:p>
              <a:p>
                <a:r>
                  <a:rPr lang="pt-BR" dirty="0"/>
                  <a:t>Decisões discretas não são naturalmente diferenciáveis. O DARTS precisa que as escolhas sejam treináveis por gradiente.</a:t>
                </a:r>
              </a:p>
              <a:p>
                <a:r>
                  <a:rPr lang="pt-BR" dirty="0"/>
                  <a:t>O </a:t>
                </a:r>
                <a:r>
                  <a:rPr lang="pt-BR" dirty="0" err="1"/>
                  <a:t>paper</a:t>
                </a:r>
                <a:r>
                  <a:rPr lang="pt-BR" dirty="0"/>
                  <a:t> usa </a:t>
                </a:r>
                <a:r>
                  <a:rPr lang="pt-BR" b="1" dirty="0" err="1"/>
                  <a:t>Gumbel-Softmax</a:t>
                </a:r>
                <a:r>
                  <a:rPr lang="pt-BR" b="1" dirty="0"/>
                  <a:t>/</a:t>
                </a:r>
                <a:r>
                  <a:rPr lang="pt-BR" b="1" dirty="0" err="1"/>
                  <a:t>Gumbel-Argmax</a:t>
                </a:r>
                <a:r>
                  <a:rPr lang="pt-BR" dirty="0"/>
                  <a:t> para transformar essa escolha discreta em algo treinável. Durante o </a:t>
                </a:r>
                <a:r>
                  <a:rPr lang="pt-BR" dirty="0" err="1"/>
                  <a:t>forward</a:t>
                </a:r>
                <a:r>
                  <a:rPr lang="pt-BR" dirty="0"/>
                  <a:t>, ele escolhe uma opção concreta, por exemplo 50% dos canais. Durante o </a:t>
                </a:r>
                <a:r>
                  <a:rPr lang="pt-BR" dirty="0" err="1"/>
                  <a:t>backward</a:t>
                </a:r>
                <a:r>
                  <a:rPr lang="pt-BR" dirty="0"/>
                  <a:t>, ele usa uma aproximação relaxada para permitir gradiente nos parâmetros de arquitetura.</a:t>
                </a:r>
              </a:p>
              <a:p>
                <a:endParaRPr lang="pt-BR" b="1" dirty="0"/>
              </a:p>
              <a:p>
                <a:endParaRPr lang="pt-BR" dirty="0"/>
              </a:p>
              <a:p>
                <a:r>
                  <a:rPr lang="en-US" dirty="0"/>
                  <a:t>3. Search space to </a:t>
                </a:r>
                <a:r>
                  <a:rPr lang="en-US" dirty="0" err="1"/>
                  <a:t>supernet</a:t>
                </a:r>
                <a:r>
                  <a:rPr lang="en-US" dirty="0"/>
                  <a:t> conversion tooling</a:t>
                </a:r>
                <a:br>
                  <a:rPr lang="en-US" dirty="0"/>
                </a:br>
                <a:r>
                  <a:rPr lang="pt-BR" dirty="0"/>
                  <a:t>O </a:t>
                </a:r>
                <a:r>
                  <a:rPr lang="pt-BR" dirty="0" err="1"/>
                  <a:t>paper</a:t>
                </a:r>
                <a:r>
                  <a:rPr lang="pt-BR" dirty="0"/>
                  <a:t> propõe uma ferramenta configurável que transforma um </a:t>
                </a:r>
                <a:r>
                  <a:rPr lang="pt-BR" dirty="0" err="1"/>
                  <a:t>search</a:t>
                </a:r>
                <a:r>
                  <a:rPr lang="pt-BR" dirty="0"/>
                  <a:t> </a:t>
                </a:r>
                <a:r>
                  <a:rPr lang="pt-BR" dirty="0" err="1"/>
                  <a:t>space</a:t>
                </a:r>
                <a:r>
                  <a:rPr lang="pt-BR" dirty="0"/>
                  <a:t> descrito em YAML em uma </a:t>
                </a:r>
                <a:r>
                  <a:rPr lang="pt-BR" dirty="0" err="1"/>
                  <a:t>supernet</a:t>
                </a:r>
                <a:r>
                  <a:rPr lang="pt-BR" dirty="0"/>
                  <a:t> automaticamente.</a:t>
                </a:r>
                <a:br>
                  <a:rPr lang="pt-BR" dirty="0"/>
                </a:br>
                <a:r>
                  <a:rPr lang="pt-BR" dirty="0"/>
                  <a:t>O conceito central: </a:t>
                </a:r>
                <a:r>
                  <a:rPr lang="pt-BR" dirty="0" err="1"/>
                  <a:t>atomic</a:t>
                </a:r>
                <a:r>
                  <a:rPr lang="pt-BR" dirty="0"/>
                  <a:t> </a:t>
                </a:r>
                <a:r>
                  <a:rPr lang="pt-BR" dirty="0" err="1"/>
                  <a:t>search</a:t>
                </a:r>
                <a:r>
                  <a:rPr lang="pt-BR" dirty="0"/>
                  <a:t> </a:t>
                </a:r>
                <a:r>
                  <a:rPr lang="pt-BR" dirty="0" err="1"/>
                  <a:t>component</a:t>
                </a:r>
                <a:endParaRPr lang="pt-BR" dirty="0"/>
              </a:p>
            </p:txBody>
          </p:sp>
        </mc:Choice>
        <mc:Fallback xmlns="">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dirty="0"/>
                  <a:t>A posição das antenas é variável importante porque, neste </a:t>
                </a:r>
                <a:r>
                  <a:rPr lang="pt-BR" dirty="0" err="1"/>
                  <a:t>paper</a:t>
                </a:r>
                <a:r>
                  <a:rPr lang="pt-BR" dirty="0"/>
                  <a:t>, a BS não é um arranjo fixo tradicional. As </a:t>
                </a:r>
                <a:r>
                  <a:rPr lang="pt-BR" dirty="0" err="1"/>
                  <a:t>fluid</a:t>
                </a:r>
                <a:r>
                  <a:rPr lang="pt-BR" dirty="0"/>
                  <a:t> </a:t>
                </a:r>
                <a:r>
                  <a:rPr lang="pt-BR" dirty="0" err="1"/>
                  <a:t>antennas</a:t>
                </a:r>
                <a:r>
                  <a:rPr lang="pt-BR" dirty="0"/>
                  <a:t> podem se mover dentro de um painel. Isso altera o canal sem fio. Então, diferente de um sistema MIMO convencional em que a geometria é fixa, aqui a geometria da BS é parte do problema de otimização.</a:t>
                </a:r>
              </a:p>
              <a:p>
                <a:pPr marL="171450" indent="-171450">
                  <a:buFont typeface="Arial" panose="020B0604020202020204" pitchFamily="34" charset="0"/>
                  <a:buChar char="•"/>
                </a:pPr>
                <a:r>
                  <a:rPr lang="pt-BR" dirty="0"/>
                  <a:t>Aqui no lado esquerdo do slide estão as definições matemáticas das posições dessas antenas. O vetor </a:t>
                </a:r>
                <a:r>
                  <a:rPr lang="ar-AE" sz="1200" b="1" i="0" kern="1200">
                    <a:solidFill>
                      <a:schemeClr val="tx1"/>
                    </a:solidFill>
                    <a:latin typeface="+mn-lt"/>
                    <a:ea typeface="+mn-ea"/>
                    <a:cs typeface="+mn-cs"/>
                  </a:rPr>
                  <a:t>𝐭_(</a:t>
                </a:r>
                <a:r>
                  <a:rPr lang="ar-AE" sz="1200" b="0" i="0" kern="1200">
                    <a:solidFill>
                      <a:schemeClr val="tx1"/>
                    </a:solidFill>
                    <a:latin typeface="+mn-lt"/>
                    <a:ea typeface="+mn-ea"/>
                    <a:cs typeface="+mn-cs"/>
                  </a:rPr>
                  <a:t>𝑢,𝑎</a:t>
                </a:r>
                <a:r>
                  <a:rPr lang="ar-AE" sz="1200" b="1" i="0" kern="1200">
                    <a:solidFill>
                      <a:schemeClr val="tx1"/>
                    </a:solidFill>
                    <a:latin typeface="+mn-lt"/>
                    <a:ea typeface="+mn-ea"/>
                    <a:cs typeface="+mn-cs"/>
                  </a:rPr>
                  <a:t>)</a:t>
                </a:r>
                <a:r>
                  <a:rPr lang="pt-BR" dirty="0"/>
                  <a:t>representa a posição da antena </a:t>
                </a:r>
                <a:r>
                  <a:rPr lang="pt-BR" sz="1200" i="0" kern="1200">
                    <a:solidFill>
                      <a:schemeClr val="tx1"/>
                    </a:solidFill>
                    <a:latin typeface="+mn-lt"/>
                    <a:ea typeface="+mn-ea"/>
                    <a:cs typeface="+mn-cs"/>
                  </a:rPr>
                  <a:t>𝑎</a:t>
                </a:r>
                <a:r>
                  <a:rPr lang="pt-BR" dirty="0"/>
                  <a:t>do usuário </a:t>
                </a:r>
                <a:r>
                  <a:rPr lang="pt-BR" sz="1200" i="0" kern="1200">
                    <a:solidFill>
                      <a:schemeClr val="tx1"/>
                    </a:solidFill>
                    <a:latin typeface="+mn-lt"/>
                    <a:ea typeface="+mn-ea"/>
                    <a:cs typeface="+mn-cs"/>
                  </a:rPr>
                  <a:t>𝑢</a:t>
                </a:r>
                <a:r>
                  <a:rPr lang="pt-BR" dirty="0"/>
                  <a:t>, com coordenadas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 O </a:t>
                </a:r>
                <a:r>
                  <a:rPr lang="pt-BR" dirty="0" err="1"/>
                  <a:t>paper</a:t>
                </a:r>
                <a:r>
                  <a:rPr lang="pt-BR" dirty="0"/>
                  <a:t> agrupa todas essas posições na matriz </a:t>
                </a:r>
                <a:r>
                  <a:rPr lang="pt-BR" sz="1200" b="1" i="0" kern="1200">
                    <a:solidFill>
                      <a:schemeClr val="tx1"/>
                    </a:solidFill>
                    <a:latin typeface="+mn-lt"/>
                    <a:ea typeface="+mn-ea"/>
                    <a:cs typeface="+mn-cs"/>
                  </a:rPr>
                  <a:t>𝐓</a:t>
                </a:r>
                <a:r>
                  <a:rPr lang="pt-BR" dirty="0"/>
                  <a:t>. Já a posição da </a:t>
                </a:r>
                <a:r>
                  <a:rPr lang="pt-BR" dirty="0" err="1"/>
                  <a:t>fluid</a:t>
                </a:r>
                <a:r>
                  <a:rPr lang="pt-BR" dirty="0"/>
                  <a:t> </a:t>
                </a:r>
                <a:r>
                  <a:rPr lang="pt-BR" dirty="0" err="1"/>
                  <a:t>antenna</a:t>
                </a:r>
                <a:r>
                  <a:rPr lang="pt-BR" dirty="0"/>
                  <a:t> </a:t>
                </a:r>
                <a:r>
                  <a:rPr lang="pt-BR" sz="1200" i="0" kern="1200">
                    <a:solidFill>
                      <a:schemeClr val="tx1"/>
                    </a:solidFill>
                    <a:latin typeface="+mn-lt"/>
                    <a:ea typeface="+mn-ea"/>
                    <a:cs typeface="+mn-cs"/>
                  </a:rPr>
                  <a:t>𝑚</a:t>
                </a:r>
                <a:r>
                  <a:rPr lang="pt-BR" dirty="0"/>
                  <a:t>da BS é representada por </a:t>
                </a:r>
                <a:r>
                  <a:rPr lang="ar-AE" sz="1200" b="1" i="0" kern="1200">
                    <a:solidFill>
                      <a:schemeClr val="tx1"/>
                    </a:solidFill>
                    <a:latin typeface="+mn-lt"/>
                    <a:ea typeface="+mn-ea"/>
                    <a:cs typeface="+mn-cs"/>
                  </a:rPr>
                  <a:t>𝐫_</a:t>
                </a:r>
                <a:r>
                  <a:rPr lang="ar-AE" sz="1200" b="0" i="0" kern="1200">
                    <a:solidFill>
                      <a:schemeClr val="tx1"/>
                    </a:solidFill>
                    <a:latin typeface="+mn-lt"/>
                    <a:ea typeface="+mn-ea"/>
                    <a:cs typeface="+mn-cs"/>
                  </a:rPr>
                  <a:t>𝑚</a:t>
                </a:r>
                <a:r>
                  <a:rPr lang="ar-AE" dirty="0"/>
                  <a:t>, </a:t>
                </a:r>
                <a:r>
                  <a:rPr lang="pt-BR" dirty="0"/>
                  <a:t>e todas as posições da BS são agrupadas na matriz </a:t>
                </a:r>
                <a:r>
                  <a:rPr lang="pt-BR" sz="1200" b="1" i="0" kern="1200">
                    <a:solidFill>
                      <a:schemeClr val="tx1"/>
                    </a:solidFill>
                    <a:latin typeface="+mn-lt"/>
                    <a:ea typeface="+mn-ea"/>
                    <a:cs typeface="+mn-cs"/>
                  </a:rPr>
                  <a:t>𝐑</a:t>
                </a:r>
                <a:r>
                  <a:rPr lang="pt-BR" dirty="0"/>
                  <a:t>.</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Outro ponto importante é que o sistema usa </a:t>
                </a:r>
                <a:r>
                  <a:rPr lang="pt-BR" dirty="0" err="1"/>
                  <a:t>space-division</a:t>
                </a:r>
                <a:r>
                  <a:rPr lang="pt-BR" dirty="0"/>
                  <a:t> </a:t>
                </a:r>
                <a:r>
                  <a:rPr lang="pt-BR" dirty="0" err="1"/>
                  <a:t>multiple</a:t>
                </a:r>
                <a:r>
                  <a:rPr lang="pt-BR" dirty="0"/>
                  <a:t> </a:t>
                </a:r>
                <a:r>
                  <a:rPr lang="pt-BR" dirty="0" err="1"/>
                  <a:t>access</a:t>
                </a:r>
                <a:r>
                  <a:rPr lang="pt-BR" dirty="0"/>
                  <a:t>. Isso significa que vários usuários podem se comunicar com a base </a:t>
                </a:r>
                <a:r>
                  <a:rPr lang="pt-BR" dirty="0" err="1"/>
                  <a:t>station</a:t>
                </a:r>
                <a:r>
                  <a:rPr lang="pt-BR" dirty="0"/>
                  <a:t> ao mesmo tempo, explorando separação espacial.</a:t>
                </a:r>
              </a:p>
              <a:p>
                <a:pPr marL="171450" indent="-171450">
                  <a:buFont typeface="Arial" panose="020B0604020202020204" pitchFamily="34" charset="0"/>
                  <a:buChar char="•"/>
                </a:pPr>
                <a:r>
                  <a:rPr lang="pt-BR" dirty="0"/>
                  <a:t>Além disso, existe um servidor no sistema, e esse servidor é quem executa a parte pesada da inferência do </a:t>
                </a:r>
                <a:r>
                  <a:rPr lang="pt-BR" dirty="0" err="1"/>
                  <a:t>large</a:t>
                </a:r>
                <a:r>
                  <a:rPr lang="pt-BR" dirty="0"/>
                  <a:t> model. A outra parte é executada no cliente.</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Por fim, o </a:t>
                </a:r>
                <a:r>
                  <a:rPr lang="pt-BR" dirty="0" err="1"/>
                  <a:t>paper</a:t>
                </a:r>
                <a:r>
                  <a:rPr lang="pt-BR" dirty="0"/>
                  <a:t> assume que o tempo necessário para ajustar a posição das </a:t>
                </a:r>
                <a:r>
                  <a:rPr lang="pt-BR" dirty="0" err="1"/>
                  <a:t>fluid</a:t>
                </a:r>
                <a:r>
                  <a:rPr lang="pt-BR" dirty="0"/>
                  <a:t> </a:t>
                </a:r>
                <a:r>
                  <a:rPr lang="pt-BR" dirty="0" err="1"/>
                  <a:t>antennas</a:t>
                </a:r>
                <a:r>
                  <a:rPr lang="pt-BR" dirty="0"/>
                  <a:t> é desprezível. Em outras palavras, eles ignoram esse custo mecânico ou físico e consideram apenas o ganho que o reposicionamento traz para o canal e para a taxa de transmissão.</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Pense em um painel retangular na BS, e cada </a:t>
                </a:r>
                <a:r>
                  <a:rPr lang="pt-BR" dirty="0" err="1"/>
                  <a:t>fluid</a:t>
                </a:r>
                <a:r>
                  <a:rPr lang="pt-BR" dirty="0"/>
                  <a:t> </a:t>
                </a:r>
                <a:r>
                  <a:rPr lang="pt-BR" dirty="0" err="1"/>
                  <a:t>antenna</a:t>
                </a:r>
                <a:r>
                  <a:rPr lang="pt-BR" dirty="0"/>
                  <a:t> pode “andar” nesse painel em duas direções,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a:t>
                </a:r>
                <a:br>
                  <a:rPr lang="pt-BR" dirty="0"/>
                </a:br>
                <a:r>
                  <a:rPr lang="pt-BR" dirty="0"/>
                  <a:t>a modelagem não está nesse nível discreto de “</a:t>
                </a:r>
                <a:r>
                  <a:rPr lang="pt-BR" dirty="0" err="1"/>
                  <a:t>port</a:t>
                </a:r>
                <a:r>
                  <a:rPr lang="pt-BR" dirty="0"/>
                  <a:t> 1, </a:t>
                </a:r>
                <a:r>
                  <a:rPr lang="pt-BR" dirty="0" err="1"/>
                  <a:t>port</a:t>
                </a:r>
                <a:r>
                  <a:rPr lang="pt-BR" dirty="0"/>
                  <a:t> 2, </a:t>
                </a:r>
                <a:r>
                  <a:rPr lang="pt-BR" dirty="0" err="1"/>
                  <a:t>port</a:t>
                </a:r>
                <a:r>
                  <a:rPr lang="pt-BR" dirty="0"/>
                  <a:t> 3...”, é como uma antena 2d, porém em termos de x e y</a:t>
                </a:r>
              </a:p>
            </p:txBody>
          </p:sp>
        </mc:Fallback>
      </mc:AlternateContent>
      <p:sp>
        <p:nvSpPr>
          <p:cNvPr id="4" name="Slide Number Placeholder 3"/>
          <p:cNvSpPr>
            <a:spLocks noGrp="1"/>
          </p:cNvSpPr>
          <p:nvPr>
            <p:ph type="sldNum" sz="quarter" idx="5"/>
          </p:nvPr>
        </p:nvSpPr>
        <p:spPr/>
        <p:txBody>
          <a:bodyPr/>
          <a:lstStyle/>
          <a:p>
            <a:fld id="{6FC8D850-966F-45A6-8DE7-15B891E7D40D}" type="slidenum">
              <a:rPr lang="pt-BR" smtClean="0"/>
              <a:t>10</a:t>
            </a:fld>
            <a:endParaRPr lang="pt-BR"/>
          </a:p>
        </p:txBody>
      </p:sp>
    </p:spTree>
    <p:extLst>
      <p:ext uri="{BB962C8B-B14F-4D97-AF65-F5344CB8AC3E}">
        <p14:creationId xmlns:p14="http://schemas.microsoft.com/office/powerpoint/2010/main" val="816809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08EA3-1F12-5791-31DF-496692EF6D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70F8D-8CD1-32B7-F8EF-4578F0AE8B1F}"/>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F692ED4-2973-4854-8270-7F8D7713B0CE}"/>
                  </a:ext>
                </a:extLst>
              </p:cNvPr>
              <p:cNvSpPr>
                <a:spLocks noGrp="1"/>
              </p:cNvSpPr>
              <p:nvPr>
                <p:ph type="body" idx="1"/>
              </p:nvPr>
            </p:nvSpPr>
            <p:spPr/>
            <p:txBody>
              <a:bodyPr/>
              <a:lstStyle/>
              <a:p>
                <a:r>
                  <a:rPr lang="pt-BR" b="1" dirty="0"/>
                  <a:t>Atomic </a:t>
                </a:r>
                <a:r>
                  <a:rPr lang="pt-BR" b="1" dirty="0" err="1"/>
                  <a:t>search</a:t>
                </a:r>
                <a:r>
                  <a:rPr lang="pt-BR" b="1" dirty="0"/>
                  <a:t> </a:t>
                </a:r>
                <a:r>
                  <a:rPr lang="pt-BR" b="1" dirty="0" err="1"/>
                  <a:t>component</a:t>
                </a:r>
                <a:r>
                  <a:rPr lang="pt-BR" b="1" dirty="0"/>
                  <a:t>, ideia central</a:t>
                </a:r>
              </a:p>
              <a:p>
                <a:r>
                  <a:rPr lang="pt-BR" dirty="0"/>
                  <a:t>O </a:t>
                </a:r>
                <a:r>
                  <a:rPr lang="pt-BR" b="1" dirty="0"/>
                  <a:t>Atomic Search </a:t>
                </a:r>
                <a:r>
                  <a:rPr lang="pt-BR" b="1" dirty="0" err="1"/>
                  <a:t>Component</a:t>
                </a:r>
                <a:r>
                  <a:rPr lang="pt-BR" dirty="0"/>
                  <a:t> é o “bloco mínimo pesquisável” do </a:t>
                </a:r>
                <a:r>
                  <a:rPr lang="pt-BR" dirty="0" err="1"/>
                  <a:t>EasyNAS</a:t>
                </a:r>
                <a:r>
                  <a:rPr lang="pt-BR" dirty="0"/>
                  <a:t>. Ele é uma peça genérica que pode representar uma camada, parte de uma célula, um bloco do </a:t>
                </a:r>
                <a:r>
                  <a:rPr lang="pt-BR" dirty="0" err="1"/>
                  <a:t>backbone</a:t>
                </a:r>
                <a:r>
                  <a:rPr lang="pt-BR" dirty="0"/>
                  <a:t>, um bloco da FPN, ou um bloco de segmentação.</a:t>
                </a:r>
              </a:p>
              <a:p>
                <a:r>
                  <a:rPr lang="pt-BR" dirty="0"/>
                  <a:t>Em vez de escrever manualmente uma </a:t>
                </a:r>
                <a:r>
                  <a:rPr lang="pt-BR" dirty="0" err="1"/>
                  <a:t>supernet</a:t>
                </a:r>
                <a:r>
                  <a:rPr lang="pt-BR" dirty="0"/>
                  <a:t> diferente para classificação, detecção e segmentação, o </a:t>
                </a:r>
                <a:r>
                  <a:rPr lang="pt-BR" dirty="0" err="1"/>
                  <a:t>paper</a:t>
                </a:r>
                <a:r>
                  <a:rPr lang="pt-BR" dirty="0"/>
                  <a:t> define um bloco básico reutilizável. Depois, a </a:t>
                </a:r>
                <a:r>
                  <a:rPr lang="pt-BR" dirty="0" err="1"/>
                  <a:t>supernet</a:t>
                </a:r>
                <a:r>
                  <a:rPr lang="pt-BR" dirty="0"/>
                  <a:t> inteira é construída empilhando vários desses blocos.</a:t>
                </a:r>
              </a:p>
              <a:p>
                <a:endParaRPr lang="pt-BR" dirty="0"/>
              </a:p>
              <a:p>
                <a:r>
                  <a:rPr lang="pt-BR" dirty="0"/>
                  <a:t>1. De quais camadas anteriores ele pode receber entrada?</a:t>
                </a:r>
                <a:br>
                  <a:rPr lang="pt-BR" dirty="0"/>
                </a:br>
                <a:r>
                  <a:rPr lang="pt-BR" dirty="0"/>
                  <a:t>2. Qual operação ele pode aplicar?</a:t>
                </a:r>
                <a:br>
                  <a:rPr lang="pt-BR" dirty="0"/>
                </a:br>
                <a:r>
                  <a:rPr lang="pt-BR" dirty="0"/>
                  <a:t>3. Quantos canais ele deve usar?</a:t>
                </a:r>
              </a:p>
              <a:p>
                <a:endParaRPr lang="pt-BR" dirty="0"/>
              </a:p>
              <a:p>
                <a:r>
                  <a:rPr lang="pt-BR" dirty="0"/>
                  <a:t>Formalmente, o espaço de busca do bloco é descrito por três conjuntos. O primeiro é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𝐺</m:t>
                        </m:r>
                      </m:e>
                      <m:sub>
                        <m:r>
                          <a:rPr lang="ar-AE" sz="1200" i="1" kern="1200">
                            <a:solidFill>
                              <a:schemeClr val="tx1"/>
                            </a:solidFill>
                            <a:latin typeface="Cambria Math" panose="02040503050406030204" pitchFamily="18" charset="0"/>
                            <a:ea typeface="+mn-ea"/>
                            <a:cs typeface="+mn-cs"/>
                          </a:rPr>
                          <m:t>𝑗</m:t>
                        </m:r>
                      </m:sub>
                    </m:sSub>
                  </m:oMath>
                </a14:m>
                <a:r>
                  <a:rPr lang="ar-AE" dirty="0"/>
                  <a:t>, </a:t>
                </a:r>
                <a:r>
                  <a:rPr lang="pt-BR" dirty="0"/>
                  <a:t>que representa o conjunto de entradas candidatas do nó de saída </a:t>
                </a:r>
                <a14:m>
                  <m:oMath xmlns:m="http://schemas.openxmlformats.org/officeDocument/2006/math">
                    <m:r>
                      <a:rPr lang="pt-BR" sz="1200" i="1" kern="1200">
                        <a:solidFill>
                          <a:schemeClr val="tx1"/>
                        </a:solidFill>
                        <a:latin typeface="Cambria Math" panose="02040503050406030204" pitchFamily="18" charset="0"/>
                        <a:ea typeface="+mn-ea"/>
                        <a:cs typeface="+mn-cs"/>
                      </a:rPr>
                      <m:t>𝑗</m:t>
                    </m:r>
                  </m:oMath>
                </a14:m>
                <a:r>
                  <a:rPr lang="pt-BR" dirty="0"/>
                  <a:t>. O segundo é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𝑂</m:t>
                        </m:r>
                      </m:e>
                      <m:sub>
                        <m:r>
                          <a:rPr lang="ar-AE" sz="1200" i="1" kern="1200">
                            <a:solidFill>
                              <a:schemeClr val="tx1"/>
                            </a:solidFill>
                            <a:latin typeface="Cambria Math" panose="02040503050406030204" pitchFamily="18" charset="0"/>
                            <a:ea typeface="+mn-ea"/>
                            <a:cs typeface="+mn-cs"/>
                          </a:rPr>
                          <m:t>𝑗</m:t>
                        </m:r>
                      </m:sub>
                    </m:sSub>
                  </m:oMath>
                </a14:m>
                <a:r>
                  <a:rPr lang="ar-AE" dirty="0"/>
                  <a:t>, </a:t>
                </a:r>
                <a:r>
                  <a:rPr lang="pt-BR" dirty="0"/>
                  <a:t>que representa o conjunto de operações candidatas. E o terceiro é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𝑅</m:t>
                        </m:r>
                      </m:e>
                      <m:sub>
                        <m:r>
                          <a:rPr lang="ar-AE" sz="1200" i="1" kern="1200">
                            <a:solidFill>
                              <a:schemeClr val="tx1"/>
                            </a:solidFill>
                            <a:latin typeface="Cambria Math" panose="02040503050406030204" pitchFamily="18" charset="0"/>
                            <a:ea typeface="+mn-ea"/>
                            <a:cs typeface="+mn-cs"/>
                          </a:rPr>
                          <m:t>𝑗</m:t>
                        </m:r>
                      </m:sub>
                    </m:sSub>
                  </m:oMath>
                </a14:m>
                <a:r>
                  <a:rPr lang="ar-AE" dirty="0"/>
                  <a:t>, </a:t>
                </a:r>
                <a:r>
                  <a:rPr lang="pt-BR" dirty="0"/>
                  <a:t>que representa o conjunto de taxas candidatas de redução de canais. Então, esse bloco não busca apenas a operação, ele também busca a conectividade e a largura do bloco.</a:t>
                </a:r>
              </a:p>
              <a:p>
                <a:r>
                  <a:rPr lang="pt-BR" dirty="0"/>
                  <a:t>Para modelar essas escolhas, o </a:t>
                </a:r>
                <a:r>
                  <a:rPr lang="pt-BR" dirty="0" err="1"/>
                  <a:t>EasyNAS</a:t>
                </a:r>
                <a:r>
                  <a:rPr lang="pt-BR" dirty="0"/>
                  <a:t> aprende três famílias de parâmetros arquiteturais.</a:t>
                </a:r>
              </a:p>
              <a:p>
                <a:endParaRPr lang="pt-BR" dirty="0"/>
              </a:p>
              <a:p>
                <a:endParaRPr lang="pt-BR" dirty="0"/>
              </a:p>
            </p:txBody>
          </p:sp>
        </mc:Choice>
        <mc:Fallback xmlns="">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dirty="0"/>
                  <a:t>A posição das antenas é variável importante porque, neste </a:t>
                </a:r>
                <a:r>
                  <a:rPr lang="pt-BR" dirty="0" err="1"/>
                  <a:t>paper</a:t>
                </a:r>
                <a:r>
                  <a:rPr lang="pt-BR" dirty="0"/>
                  <a:t>, a BS não é um arranjo fixo tradicional. As </a:t>
                </a:r>
                <a:r>
                  <a:rPr lang="pt-BR" dirty="0" err="1"/>
                  <a:t>fluid</a:t>
                </a:r>
                <a:r>
                  <a:rPr lang="pt-BR" dirty="0"/>
                  <a:t> </a:t>
                </a:r>
                <a:r>
                  <a:rPr lang="pt-BR" dirty="0" err="1"/>
                  <a:t>antennas</a:t>
                </a:r>
                <a:r>
                  <a:rPr lang="pt-BR" dirty="0"/>
                  <a:t> podem se mover dentro de um painel. Isso altera o canal sem fio. Então, diferente de um sistema MIMO convencional em que a geometria é fixa, aqui a geometria da BS é parte do problema de otimização.</a:t>
                </a:r>
              </a:p>
              <a:p>
                <a:pPr marL="171450" indent="-171450">
                  <a:buFont typeface="Arial" panose="020B0604020202020204" pitchFamily="34" charset="0"/>
                  <a:buChar char="•"/>
                </a:pPr>
                <a:r>
                  <a:rPr lang="pt-BR" dirty="0"/>
                  <a:t>Aqui no lado esquerdo do slide estão as definições matemáticas das posições dessas antenas. O vetor </a:t>
                </a:r>
                <a:r>
                  <a:rPr lang="ar-AE" sz="1200" b="1" i="0" kern="1200">
                    <a:solidFill>
                      <a:schemeClr val="tx1"/>
                    </a:solidFill>
                    <a:latin typeface="+mn-lt"/>
                    <a:ea typeface="+mn-ea"/>
                    <a:cs typeface="+mn-cs"/>
                  </a:rPr>
                  <a:t>𝐭_(</a:t>
                </a:r>
                <a:r>
                  <a:rPr lang="ar-AE" sz="1200" b="0" i="0" kern="1200">
                    <a:solidFill>
                      <a:schemeClr val="tx1"/>
                    </a:solidFill>
                    <a:latin typeface="+mn-lt"/>
                    <a:ea typeface="+mn-ea"/>
                    <a:cs typeface="+mn-cs"/>
                  </a:rPr>
                  <a:t>𝑢,𝑎</a:t>
                </a:r>
                <a:r>
                  <a:rPr lang="ar-AE" sz="1200" b="1" i="0" kern="1200">
                    <a:solidFill>
                      <a:schemeClr val="tx1"/>
                    </a:solidFill>
                    <a:latin typeface="+mn-lt"/>
                    <a:ea typeface="+mn-ea"/>
                    <a:cs typeface="+mn-cs"/>
                  </a:rPr>
                  <a:t>)</a:t>
                </a:r>
                <a:r>
                  <a:rPr lang="pt-BR" dirty="0"/>
                  <a:t>representa a posição da antena </a:t>
                </a:r>
                <a:r>
                  <a:rPr lang="pt-BR" sz="1200" i="0" kern="1200">
                    <a:solidFill>
                      <a:schemeClr val="tx1"/>
                    </a:solidFill>
                    <a:latin typeface="+mn-lt"/>
                    <a:ea typeface="+mn-ea"/>
                    <a:cs typeface="+mn-cs"/>
                  </a:rPr>
                  <a:t>𝑎</a:t>
                </a:r>
                <a:r>
                  <a:rPr lang="pt-BR" dirty="0"/>
                  <a:t>do usuário </a:t>
                </a:r>
                <a:r>
                  <a:rPr lang="pt-BR" sz="1200" i="0" kern="1200">
                    <a:solidFill>
                      <a:schemeClr val="tx1"/>
                    </a:solidFill>
                    <a:latin typeface="+mn-lt"/>
                    <a:ea typeface="+mn-ea"/>
                    <a:cs typeface="+mn-cs"/>
                  </a:rPr>
                  <a:t>𝑢</a:t>
                </a:r>
                <a:r>
                  <a:rPr lang="pt-BR" dirty="0"/>
                  <a:t>, com coordenadas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 O </a:t>
                </a:r>
                <a:r>
                  <a:rPr lang="pt-BR" dirty="0" err="1"/>
                  <a:t>paper</a:t>
                </a:r>
                <a:r>
                  <a:rPr lang="pt-BR" dirty="0"/>
                  <a:t> agrupa todas essas posições na matriz </a:t>
                </a:r>
                <a:r>
                  <a:rPr lang="pt-BR" sz="1200" b="1" i="0" kern="1200">
                    <a:solidFill>
                      <a:schemeClr val="tx1"/>
                    </a:solidFill>
                    <a:latin typeface="+mn-lt"/>
                    <a:ea typeface="+mn-ea"/>
                    <a:cs typeface="+mn-cs"/>
                  </a:rPr>
                  <a:t>𝐓</a:t>
                </a:r>
                <a:r>
                  <a:rPr lang="pt-BR" dirty="0"/>
                  <a:t>. Já a posição da </a:t>
                </a:r>
                <a:r>
                  <a:rPr lang="pt-BR" dirty="0" err="1"/>
                  <a:t>fluid</a:t>
                </a:r>
                <a:r>
                  <a:rPr lang="pt-BR" dirty="0"/>
                  <a:t> </a:t>
                </a:r>
                <a:r>
                  <a:rPr lang="pt-BR" dirty="0" err="1"/>
                  <a:t>antenna</a:t>
                </a:r>
                <a:r>
                  <a:rPr lang="pt-BR" dirty="0"/>
                  <a:t> </a:t>
                </a:r>
                <a:r>
                  <a:rPr lang="pt-BR" sz="1200" i="0" kern="1200">
                    <a:solidFill>
                      <a:schemeClr val="tx1"/>
                    </a:solidFill>
                    <a:latin typeface="+mn-lt"/>
                    <a:ea typeface="+mn-ea"/>
                    <a:cs typeface="+mn-cs"/>
                  </a:rPr>
                  <a:t>𝑚</a:t>
                </a:r>
                <a:r>
                  <a:rPr lang="pt-BR" dirty="0"/>
                  <a:t>da BS é representada por </a:t>
                </a:r>
                <a:r>
                  <a:rPr lang="ar-AE" sz="1200" b="1" i="0" kern="1200">
                    <a:solidFill>
                      <a:schemeClr val="tx1"/>
                    </a:solidFill>
                    <a:latin typeface="+mn-lt"/>
                    <a:ea typeface="+mn-ea"/>
                    <a:cs typeface="+mn-cs"/>
                  </a:rPr>
                  <a:t>𝐫_</a:t>
                </a:r>
                <a:r>
                  <a:rPr lang="ar-AE" sz="1200" b="0" i="0" kern="1200">
                    <a:solidFill>
                      <a:schemeClr val="tx1"/>
                    </a:solidFill>
                    <a:latin typeface="+mn-lt"/>
                    <a:ea typeface="+mn-ea"/>
                    <a:cs typeface="+mn-cs"/>
                  </a:rPr>
                  <a:t>𝑚</a:t>
                </a:r>
                <a:r>
                  <a:rPr lang="ar-AE" dirty="0"/>
                  <a:t>, </a:t>
                </a:r>
                <a:r>
                  <a:rPr lang="pt-BR" dirty="0"/>
                  <a:t>e todas as posições da BS são agrupadas na matriz </a:t>
                </a:r>
                <a:r>
                  <a:rPr lang="pt-BR" sz="1200" b="1" i="0" kern="1200">
                    <a:solidFill>
                      <a:schemeClr val="tx1"/>
                    </a:solidFill>
                    <a:latin typeface="+mn-lt"/>
                    <a:ea typeface="+mn-ea"/>
                    <a:cs typeface="+mn-cs"/>
                  </a:rPr>
                  <a:t>𝐑</a:t>
                </a:r>
                <a:r>
                  <a:rPr lang="pt-BR" dirty="0"/>
                  <a:t>.</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Outro ponto importante é que o sistema usa </a:t>
                </a:r>
                <a:r>
                  <a:rPr lang="pt-BR" dirty="0" err="1"/>
                  <a:t>space-division</a:t>
                </a:r>
                <a:r>
                  <a:rPr lang="pt-BR" dirty="0"/>
                  <a:t> </a:t>
                </a:r>
                <a:r>
                  <a:rPr lang="pt-BR" dirty="0" err="1"/>
                  <a:t>multiple</a:t>
                </a:r>
                <a:r>
                  <a:rPr lang="pt-BR" dirty="0"/>
                  <a:t> </a:t>
                </a:r>
                <a:r>
                  <a:rPr lang="pt-BR" dirty="0" err="1"/>
                  <a:t>access</a:t>
                </a:r>
                <a:r>
                  <a:rPr lang="pt-BR" dirty="0"/>
                  <a:t>. Isso significa que vários usuários podem se comunicar com a base </a:t>
                </a:r>
                <a:r>
                  <a:rPr lang="pt-BR" dirty="0" err="1"/>
                  <a:t>station</a:t>
                </a:r>
                <a:r>
                  <a:rPr lang="pt-BR" dirty="0"/>
                  <a:t> ao mesmo tempo, explorando separação espacial.</a:t>
                </a:r>
              </a:p>
              <a:p>
                <a:pPr marL="171450" indent="-171450">
                  <a:buFont typeface="Arial" panose="020B0604020202020204" pitchFamily="34" charset="0"/>
                  <a:buChar char="•"/>
                </a:pPr>
                <a:r>
                  <a:rPr lang="pt-BR" dirty="0"/>
                  <a:t>Além disso, existe um servidor no sistema, e esse servidor é quem executa a parte pesada da inferência do </a:t>
                </a:r>
                <a:r>
                  <a:rPr lang="pt-BR" dirty="0" err="1"/>
                  <a:t>large</a:t>
                </a:r>
                <a:r>
                  <a:rPr lang="pt-BR" dirty="0"/>
                  <a:t> model. A outra parte é executada no cliente.</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Por fim, o </a:t>
                </a:r>
                <a:r>
                  <a:rPr lang="pt-BR" dirty="0" err="1"/>
                  <a:t>paper</a:t>
                </a:r>
                <a:r>
                  <a:rPr lang="pt-BR" dirty="0"/>
                  <a:t> assume que o tempo necessário para ajustar a posição das </a:t>
                </a:r>
                <a:r>
                  <a:rPr lang="pt-BR" dirty="0" err="1"/>
                  <a:t>fluid</a:t>
                </a:r>
                <a:r>
                  <a:rPr lang="pt-BR" dirty="0"/>
                  <a:t> </a:t>
                </a:r>
                <a:r>
                  <a:rPr lang="pt-BR" dirty="0" err="1"/>
                  <a:t>antennas</a:t>
                </a:r>
                <a:r>
                  <a:rPr lang="pt-BR" dirty="0"/>
                  <a:t> é desprezível. Em outras palavras, eles ignoram esse custo mecânico ou físico e consideram apenas o ganho que o reposicionamento traz para o canal e para a taxa de transmissão.</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Pense em um painel retangular na BS, e cada </a:t>
                </a:r>
                <a:r>
                  <a:rPr lang="pt-BR" dirty="0" err="1"/>
                  <a:t>fluid</a:t>
                </a:r>
                <a:r>
                  <a:rPr lang="pt-BR" dirty="0"/>
                  <a:t> </a:t>
                </a:r>
                <a:r>
                  <a:rPr lang="pt-BR" dirty="0" err="1"/>
                  <a:t>antenna</a:t>
                </a:r>
                <a:r>
                  <a:rPr lang="pt-BR" dirty="0"/>
                  <a:t> pode “andar” nesse painel em duas direções,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a:t>
                </a:r>
                <a:br>
                  <a:rPr lang="pt-BR" dirty="0"/>
                </a:br>
                <a:r>
                  <a:rPr lang="pt-BR" dirty="0"/>
                  <a:t>a modelagem não está nesse nível discreto de “</a:t>
                </a:r>
                <a:r>
                  <a:rPr lang="pt-BR" dirty="0" err="1"/>
                  <a:t>port</a:t>
                </a:r>
                <a:r>
                  <a:rPr lang="pt-BR" dirty="0"/>
                  <a:t> 1, </a:t>
                </a:r>
                <a:r>
                  <a:rPr lang="pt-BR" dirty="0" err="1"/>
                  <a:t>port</a:t>
                </a:r>
                <a:r>
                  <a:rPr lang="pt-BR" dirty="0"/>
                  <a:t> 2, </a:t>
                </a:r>
                <a:r>
                  <a:rPr lang="pt-BR" dirty="0" err="1"/>
                  <a:t>port</a:t>
                </a:r>
                <a:r>
                  <a:rPr lang="pt-BR" dirty="0"/>
                  <a:t> 3...”, é como uma antena 2d, porém em termos de x e y</a:t>
                </a:r>
              </a:p>
            </p:txBody>
          </p:sp>
        </mc:Fallback>
      </mc:AlternateContent>
      <p:sp>
        <p:nvSpPr>
          <p:cNvPr id="4" name="Slide Number Placeholder 3">
            <a:extLst>
              <a:ext uri="{FF2B5EF4-FFF2-40B4-BE49-F238E27FC236}">
                <a16:creationId xmlns:a16="http://schemas.microsoft.com/office/drawing/2014/main" id="{E888C464-1536-E754-331B-EC58A9F30E76}"/>
              </a:ext>
            </a:extLst>
          </p:cNvPr>
          <p:cNvSpPr>
            <a:spLocks noGrp="1"/>
          </p:cNvSpPr>
          <p:nvPr>
            <p:ph type="sldNum" sz="quarter" idx="5"/>
          </p:nvPr>
        </p:nvSpPr>
        <p:spPr/>
        <p:txBody>
          <a:bodyPr/>
          <a:lstStyle/>
          <a:p>
            <a:fld id="{6FC8D850-966F-45A6-8DE7-15B891E7D40D}" type="slidenum">
              <a:rPr lang="pt-BR" smtClean="0"/>
              <a:t>11</a:t>
            </a:fld>
            <a:endParaRPr lang="pt-BR"/>
          </a:p>
        </p:txBody>
      </p:sp>
    </p:spTree>
    <p:extLst>
      <p:ext uri="{BB962C8B-B14F-4D97-AF65-F5344CB8AC3E}">
        <p14:creationId xmlns:p14="http://schemas.microsoft.com/office/powerpoint/2010/main" val="18550711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50882-8ADA-489C-D863-8448980B3C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1E7850-D7A1-AA9B-78F8-FEE411725ACA}"/>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60472DB-3E5A-76EB-C1F0-070DB14068B4}"/>
                  </a:ext>
                </a:extLst>
              </p:cNvPr>
              <p:cNvSpPr>
                <a:spLocks noGrp="1"/>
              </p:cNvSpPr>
              <p:nvPr>
                <p:ph type="body" idx="1"/>
              </p:nvPr>
            </p:nvSpPr>
            <p:spPr/>
            <p:txBody>
              <a:bodyPr/>
              <a:lstStyle/>
              <a:p>
                <a:r>
                  <a:rPr lang="pt-BR" dirty="0"/>
                  <a:t>Pense no Atomic Search </a:t>
                </a:r>
                <a:r>
                  <a:rPr lang="pt-BR" dirty="0" err="1"/>
                  <a:t>Component</a:t>
                </a:r>
                <a:r>
                  <a:rPr lang="pt-BR" dirty="0"/>
                  <a:t> como um </a:t>
                </a:r>
                <a:r>
                  <a:rPr lang="pt-BR" b="1" dirty="0"/>
                  <a:t>bloco que ainda não está decidido</a:t>
                </a:r>
                <a:r>
                  <a:rPr lang="pt-BR" dirty="0"/>
                  <a:t>.</a:t>
                </a:r>
              </a:p>
              <a:p>
                <a:r>
                  <a:rPr lang="pt-BR" dirty="0"/>
                  <a:t>Em uma rede comum, você já define tudo antes:</a:t>
                </a:r>
              </a:p>
              <a:p>
                <a:r>
                  <a:rPr lang="pt-BR" dirty="0"/>
                  <a:t>de onde vem a entrada, </a:t>
                </a:r>
              </a:p>
              <a:p>
                <a:r>
                  <a:rPr lang="pt-BR" dirty="0"/>
                  <a:t>qual convolução usar, </a:t>
                </a:r>
              </a:p>
              <a:p>
                <a:r>
                  <a:rPr lang="pt-BR" dirty="0"/>
                  <a:t>quantos canais a saída terá. </a:t>
                </a:r>
              </a:p>
              <a:p>
                <a:r>
                  <a:rPr lang="pt-BR" dirty="0"/>
                  <a:t>No </a:t>
                </a:r>
                <a:r>
                  <a:rPr lang="pt-BR" dirty="0" err="1"/>
                  <a:t>EasyNAS</a:t>
                </a:r>
                <a:r>
                  <a:rPr lang="pt-BR" dirty="0"/>
                  <a:t>, esse bloco deixa essas escolhas em aberto durante a busca.</a:t>
                </a:r>
              </a:p>
              <a:p>
                <a:r>
                  <a:rPr lang="pt-BR" b="1" dirty="0"/>
                  <a:t>O que ele decide</a:t>
                </a:r>
              </a:p>
              <a:p>
                <a:r>
                  <a:rPr lang="pt-BR" dirty="0"/>
                  <a:t>Ele responde três perguntas:</a:t>
                </a:r>
              </a:p>
              <a:p>
                <a:r>
                  <a:rPr lang="pt-BR" b="1" dirty="0"/>
                  <a:t>1. Qual entrada usar?</a:t>
                </a:r>
                <a:br>
                  <a:rPr lang="pt-BR" dirty="0"/>
                </a:br>
                <a:r>
                  <a:rPr lang="pt-BR" dirty="0"/>
                  <a:t>Se o bloco pode receber informação de vários blocos anteriores, ele aprende qual deles é mais importante.</a:t>
                </a:r>
              </a:p>
              <a:p>
                <a:r>
                  <a:rPr lang="pt-BR" b="1" dirty="0"/>
                  <a:t>2. Qual operação usar?</a:t>
                </a:r>
                <a:br>
                  <a:rPr lang="pt-BR" dirty="0"/>
                </a:br>
                <a:r>
                  <a:rPr lang="pt-BR" dirty="0"/>
                  <a:t>Ele pode testar, por exemplo, convolução </a:t>
                </a:r>
                <a14:m>
                  <m:oMath xmlns:m="http://schemas.openxmlformats.org/officeDocument/2006/math">
                    <m:r>
                      <a:rPr lang="pt-BR" sz="1200" kern="1200">
                        <a:solidFill>
                          <a:schemeClr val="tx1"/>
                        </a:solidFill>
                        <a:latin typeface="Cambria Math" panose="02040503050406030204" pitchFamily="18" charset="0"/>
                        <a:ea typeface="+mn-ea"/>
                        <a:cs typeface="+mn-cs"/>
                      </a:rPr>
                      <m:t>3</m:t>
                    </m:r>
                    <m:r>
                      <a:rPr lang="pt-BR" sz="1200" i="0" kern="1200">
                        <a:solidFill>
                          <a:schemeClr val="tx1"/>
                        </a:solidFill>
                        <a:latin typeface="Cambria Math" panose="02040503050406030204" pitchFamily="18" charset="0"/>
                        <a:ea typeface="+mn-ea"/>
                        <a:cs typeface="+mn-cs"/>
                      </a:rPr>
                      <m:t>×</m:t>
                    </m:r>
                    <m:r>
                      <a:rPr lang="pt-BR" sz="1200" i="0" kern="1200">
                        <a:solidFill>
                          <a:schemeClr val="tx1"/>
                        </a:solidFill>
                        <a:latin typeface="Cambria Math" panose="02040503050406030204" pitchFamily="18" charset="0"/>
                        <a:ea typeface="+mn-ea"/>
                        <a:cs typeface="+mn-cs"/>
                      </a:rPr>
                      <m:t>3</m:t>
                    </m:r>
                  </m:oMath>
                </a14:m>
                <a:r>
                  <a:rPr lang="pt-BR" dirty="0"/>
                  <a:t>, convolução </a:t>
                </a:r>
                <a14:m>
                  <m:oMath xmlns:m="http://schemas.openxmlformats.org/officeDocument/2006/math">
                    <m:r>
                      <a:rPr lang="pt-BR" sz="1200" kern="1200">
                        <a:solidFill>
                          <a:schemeClr val="tx1"/>
                        </a:solidFill>
                        <a:latin typeface="Cambria Math" panose="02040503050406030204" pitchFamily="18" charset="0"/>
                        <a:ea typeface="+mn-ea"/>
                        <a:cs typeface="+mn-cs"/>
                      </a:rPr>
                      <m:t>5</m:t>
                    </m:r>
                    <m:r>
                      <a:rPr lang="pt-BR" sz="1200" i="0" kern="1200">
                        <a:solidFill>
                          <a:schemeClr val="tx1"/>
                        </a:solidFill>
                        <a:latin typeface="Cambria Math" panose="02040503050406030204" pitchFamily="18" charset="0"/>
                        <a:ea typeface="+mn-ea"/>
                        <a:cs typeface="+mn-cs"/>
                      </a:rPr>
                      <m:t>×</m:t>
                    </m:r>
                    <m:r>
                      <a:rPr lang="pt-BR" sz="1200" i="0" kern="1200">
                        <a:solidFill>
                          <a:schemeClr val="tx1"/>
                        </a:solidFill>
                        <a:latin typeface="Cambria Math" panose="02040503050406030204" pitchFamily="18" charset="0"/>
                        <a:ea typeface="+mn-ea"/>
                        <a:cs typeface="+mn-cs"/>
                      </a:rPr>
                      <m:t>5</m:t>
                    </m:r>
                  </m:oMath>
                </a14:m>
                <a:r>
                  <a:rPr lang="pt-BR" dirty="0"/>
                  <a:t>, convolução dilatada, ou outra opção do </a:t>
                </a:r>
                <a:r>
                  <a:rPr lang="pt-BR" dirty="0" err="1"/>
                  <a:t>search</a:t>
                </a:r>
                <a:r>
                  <a:rPr lang="pt-BR" dirty="0"/>
                  <a:t> </a:t>
                </a:r>
                <a:r>
                  <a:rPr lang="pt-BR" dirty="0" err="1"/>
                  <a:t>space</a:t>
                </a:r>
                <a:r>
                  <a:rPr lang="pt-BR" dirty="0"/>
                  <a:t>.</a:t>
                </a:r>
              </a:p>
              <a:p>
                <a:r>
                  <a:rPr lang="pt-BR" b="1" dirty="0"/>
                  <a:t>3. Quantos canais manter?</a:t>
                </a:r>
                <a:br>
                  <a:rPr lang="pt-BR" dirty="0"/>
                </a:br>
                <a:r>
                  <a:rPr lang="pt-BR" dirty="0"/>
                  <a:t>Ele também aprende se vale a pena manter a saída mais larga ou mais estreita.</a:t>
                </a:r>
              </a:p>
              <a:p>
                <a:endParaRPr lang="pt-BR" dirty="0"/>
              </a:p>
              <a:p>
                <a:r>
                  <a:rPr lang="pt-BR" dirty="0"/>
                  <a:t>Durante a busca, o bloco não escolhe isso manualmente. Ele aprende algo como:</a:t>
                </a:r>
              </a:p>
              <a:p>
                <a:r>
                  <a:rPr lang="pt-BR" dirty="0"/>
                  <a:t>a entrada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𝑥</m:t>
                        </m:r>
                      </m:e>
                      <m:sub>
                        <m:r>
                          <a:rPr lang="ar-AE" sz="1200" i="0" kern="1200">
                            <a:solidFill>
                              <a:schemeClr val="tx1"/>
                            </a:solidFill>
                            <a:latin typeface="Cambria Math" panose="02040503050406030204" pitchFamily="18" charset="0"/>
                            <a:ea typeface="+mn-ea"/>
                            <a:cs typeface="+mn-cs"/>
                          </a:rPr>
                          <m:t>2</m:t>
                        </m:r>
                      </m:sub>
                    </m:sSub>
                  </m:oMath>
                </a14:m>
                <a:r>
                  <a:rPr lang="pt-BR" dirty="0"/>
                  <a:t>é melhor que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𝑥</m:t>
                        </m:r>
                      </m:e>
                      <m:sub>
                        <m:r>
                          <a:rPr lang="ar-AE" sz="1200" i="0" kern="1200">
                            <a:solidFill>
                              <a:schemeClr val="tx1"/>
                            </a:solidFill>
                            <a:latin typeface="Cambria Math" panose="02040503050406030204" pitchFamily="18" charset="0"/>
                            <a:ea typeface="+mn-ea"/>
                            <a:cs typeface="+mn-cs"/>
                          </a:rPr>
                          <m:t>1</m:t>
                        </m:r>
                      </m:sub>
                    </m:sSub>
                  </m:oMath>
                </a14:m>
                <a:r>
                  <a:rPr lang="ar-AE" dirty="0"/>
                  <a:t>, </a:t>
                </a:r>
              </a:p>
              <a:p>
                <a:r>
                  <a:rPr lang="pt-BR" dirty="0"/>
                  <a:t>a </a:t>
                </a:r>
                <a:r>
                  <a:rPr lang="pt-BR" dirty="0" err="1"/>
                  <a:t>conv</a:t>
                </a:r>
                <a:r>
                  <a:rPr lang="pt-BR" dirty="0"/>
                  <a:t> </a:t>
                </a:r>
                <a14:m>
                  <m:oMath xmlns:m="http://schemas.openxmlformats.org/officeDocument/2006/math">
                    <m:r>
                      <a:rPr lang="pt-BR" sz="1200" kern="1200">
                        <a:solidFill>
                          <a:schemeClr val="tx1"/>
                        </a:solidFill>
                        <a:latin typeface="Cambria Math" panose="02040503050406030204" pitchFamily="18" charset="0"/>
                        <a:ea typeface="+mn-ea"/>
                        <a:cs typeface="+mn-cs"/>
                      </a:rPr>
                      <m:t>5</m:t>
                    </m:r>
                    <m:r>
                      <a:rPr lang="pt-BR" sz="1200" i="0" kern="1200">
                        <a:solidFill>
                          <a:schemeClr val="tx1"/>
                        </a:solidFill>
                        <a:latin typeface="Cambria Math" panose="02040503050406030204" pitchFamily="18" charset="0"/>
                        <a:ea typeface="+mn-ea"/>
                        <a:cs typeface="+mn-cs"/>
                      </a:rPr>
                      <m:t>×</m:t>
                    </m:r>
                    <m:r>
                      <a:rPr lang="pt-BR" sz="1200" i="0" kern="1200">
                        <a:solidFill>
                          <a:schemeClr val="tx1"/>
                        </a:solidFill>
                        <a:latin typeface="Cambria Math" panose="02040503050406030204" pitchFamily="18" charset="0"/>
                        <a:ea typeface="+mn-ea"/>
                        <a:cs typeface="+mn-cs"/>
                      </a:rPr>
                      <m:t>5</m:t>
                    </m:r>
                  </m:oMath>
                </a14:m>
                <a:r>
                  <a:rPr lang="pt-BR" dirty="0"/>
                  <a:t>é melhor que a </a:t>
                </a:r>
                <a14:m>
                  <m:oMath xmlns:m="http://schemas.openxmlformats.org/officeDocument/2006/math">
                    <m:r>
                      <a:rPr lang="pt-BR" sz="1200" kern="1200">
                        <a:solidFill>
                          <a:schemeClr val="tx1"/>
                        </a:solidFill>
                        <a:latin typeface="Cambria Math" panose="02040503050406030204" pitchFamily="18" charset="0"/>
                        <a:ea typeface="+mn-ea"/>
                        <a:cs typeface="+mn-cs"/>
                      </a:rPr>
                      <m:t>3</m:t>
                    </m:r>
                    <m:r>
                      <a:rPr lang="pt-BR" sz="1200" i="0" kern="1200">
                        <a:solidFill>
                          <a:schemeClr val="tx1"/>
                        </a:solidFill>
                        <a:latin typeface="Cambria Math" panose="02040503050406030204" pitchFamily="18" charset="0"/>
                        <a:ea typeface="+mn-ea"/>
                        <a:cs typeface="+mn-cs"/>
                      </a:rPr>
                      <m:t>×</m:t>
                    </m:r>
                    <m:r>
                      <a:rPr lang="pt-BR" sz="1200" i="0" kern="1200">
                        <a:solidFill>
                          <a:schemeClr val="tx1"/>
                        </a:solidFill>
                        <a:latin typeface="Cambria Math" panose="02040503050406030204" pitchFamily="18" charset="0"/>
                        <a:ea typeface="+mn-ea"/>
                        <a:cs typeface="+mn-cs"/>
                      </a:rPr>
                      <m:t>3</m:t>
                    </m:r>
                  </m:oMath>
                </a14:m>
                <a:r>
                  <a:rPr lang="pt-BR" dirty="0"/>
                  <a:t>, </a:t>
                </a:r>
              </a:p>
              <a:p>
                <a:r>
                  <a:rPr lang="pt-BR" dirty="0"/>
                  <a:t>manter </a:t>
                </a:r>
                <a14:m>
                  <m:oMath xmlns:m="http://schemas.openxmlformats.org/officeDocument/2006/math">
                    <m:r>
                      <a:rPr lang="pt-BR" sz="1200" kern="1200">
                        <a:solidFill>
                          <a:schemeClr val="tx1"/>
                        </a:solidFill>
                        <a:latin typeface="Cambria Math" panose="02040503050406030204" pitchFamily="18" charset="0"/>
                        <a:ea typeface="+mn-ea"/>
                        <a:cs typeface="+mn-cs"/>
                      </a:rPr>
                      <m:t>75</m:t>
                    </m:r>
                    <m:r>
                      <a:rPr lang="pt-BR" sz="1200" i="0" kern="1200">
                        <a:solidFill>
                          <a:schemeClr val="tx1"/>
                        </a:solidFill>
                        <a:latin typeface="Cambria Math" panose="02040503050406030204" pitchFamily="18" charset="0"/>
                        <a:ea typeface="+mn-ea"/>
                        <a:cs typeface="+mn-cs"/>
                      </a:rPr>
                      <m:t>%</m:t>
                    </m:r>
                  </m:oMath>
                </a14:m>
                <a:r>
                  <a:rPr lang="pt-BR" dirty="0"/>
                  <a:t>dos canais dá um bom equilíbrio entre custo e desempenho.</a:t>
                </a:r>
              </a:p>
              <a:p>
                <a:endParaRPr lang="pt-BR" dirty="0"/>
              </a:p>
              <a:p>
                <a:r>
                  <a:rPr lang="pt-BR" dirty="0"/>
                  <a:t>Esse é o motivo de ele ser chamado de </a:t>
                </a:r>
                <a:r>
                  <a:rPr lang="pt-BR" b="1" dirty="0" err="1"/>
                  <a:t>atomic</a:t>
                </a:r>
                <a:r>
                  <a:rPr lang="pt-BR" b="1" dirty="0"/>
                  <a:t> </a:t>
                </a:r>
                <a:r>
                  <a:rPr lang="pt-BR" b="1" dirty="0" err="1"/>
                  <a:t>search</a:t>
                </a:r>
                <a:r>
                  <a:rPr lang="pt-BR" b="1" dirty="0"/>
                  <a:t> </a:t>
                </a:r>
                <a:r>
                  <a:rPr lang="pt-BR" b="1" dirty="0" err="1"/>
                  <a:t>component</a:t>
                </a:r>
                <a:r>
                  <a:rPr lang="pt-BR" dirty="0"/>
                  <a:t>.</a:t>
                </a:r>
                <a:br>
                  <a:rPr lang="pt-BR" dirty="0"/>
                </a:br>
                <a:r>
                  <a:rPr lang="pt-BR" dirty="0"/>
                  <a:t>Ele é a menor unidade do </a:t>
                </a:r>
                <a:r>
                  <a:rPr lang="pt-BR" dirty="0" err="1"/>
                  <a:t>supernet</a:t>
                </a:r>
                <a:r>
                  <a:rPr lang="pt-BR" dirty="0"/>
                  <a:t> que já concentra as três decisões principais da arquitetura:</a:t>
                </a:r>
              </a:p>
              <a:p>
                <a:r>
                  <a:rPr lang="pt-BR" b="1" dirty="0"/>
                  <a:t>conexão</a:t>
                </a:r>
                <a:r>
                  <a:rPr lang="pt-BR" dirty="0"/>
                  <a:t> </a:t>
                </a:r>
              </a:p>
              <a:p>
                <a:r>
                  <a:rPr lang="pt-BR" b="1" dirty="0"/>
                  <a:t>operação</a:t>
                </a:r>
                <a:r>
                  <a:rPr lang="pt-BR" dirty="0"/>
                  <a:t> </a:t>
                </a:r>
              </a:p>
              <a:p>
                <a:r>
                  <a:rPr lang="pt-BR" b="1" dirty="0"/>
                  <a:t>largura</a:t>
                </a:r>
                <a:endParaRPr lang="pt-BR" dirty="0"/>
              </a:p>
              <a:p>
                <a:endParaRPr lang="pt-BR" dirty="0"/>
              </a:p>
              <a:p>
                <a:endParaRPr lang="pt-BR" dirty="0"/>
              </a:p>
            </p:txBody>
          </p:sp>
        </mc:Choice>
        <mc:Fallback xmlns="">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dirty="0"/>
                  <a:t>A posição das antenas é variável importante porque, neste </a:t>
                </a:r>
                <a:r>
                  <a:rPr lang="pt-BR" dirty="0" err="1"/>
                  <a:t>paper</a:t>
                </a:r>
                <a:r>
                  <a:rPr lang="pt-BR" dirty="0"/>
                  <a:t>, a BS não é um arranjo fixo tradicional. As </a:t>
                </a:r>
                <a:r>
                  <a:rPr lang="pt-BR" dirty="0" err="1"/>
                  <a:t>fluid</a:t>
                </a:r>
                <a:r>
                  <a:rPr lang="pt-BR" dirty="0"/>
                  <a:t> </a:t>
                </a:r>
                <a:r>
                  <a:rPr lang="pt-BR" dirty="0" err="1"/>
                  <a:t>antennas</a:t>
                </a:r>
                <a:r>
                  <a:rPr lang="pt-BR" dirty="0"/>
                  <a:t> podem se mover dentro de um painel. Isso altera o canal sem fio. Então, diferente de um sistema MIMO convencional em que a geometria é fixa, aqui a geometria da BS é parte do problema de otimização.</a:t>
                </a:r>
              </a:p>
              <a:p>
                <a:pPr marL="171450" indent="-171450">
                  <a:buFont typeface="Arial" panose="020B0604020202020204" pitchFamily="34" charset="0"/>
                  <a:buChar char="•"/>
                </a:pPr>
                <a:r>
                  <a:rPr lang="pt-BR" dirty="0"/>
                  <a:t>Aqui no lado esquerdo do slide estão as definições matemáticas das posições dessas antenas. O vetor </a:t>
                </a:r>
                <a:r>
                  <a:rPr lang="ar-AE" sz="1200" b="1" i="0" kern="1200">
                    <a:solidFill>
                      <a:schemeClr val="tx1"/>
                    </a:solidFill>
                    <a:latin typeface="+mn-lt"/>
                    <a:ea typeface="+mn-ea"/>
                    <a:cs typeface="+mn-cs"/>
                  </a:rPr>
                  <a:t>𝐭_(</a:t>
                </a:r>
                <a:r>
                  <a:rPr lang="ar-AE" sz="1200" b="0" i="0" kern="1200">
                    <a:solidFill>
                      <a:schemeClr val="tx1"/>
                    </a:solidFill>
                    <a:latin typeface="+mn-lt"/>
                    <a:ea typeface="+mn-ea"/>
                    <a:cs typeface="+mn-cs"/>
                  </a:rPr>
                  <a:t>𝑢,𝑎</a:t>
                </a:r>
                <a:r>
                  <a:rPr lang="ar-AE" sz="1200" b="1" i="0" kern="1200">
                    <a:solidFill>
                      <a:schemeClr val="tx1"/>
                    </a:solidFill>
                    <a:latin typeface="+mn-lt"/>
                    <a:ea typeface="+mn-ea"/>
                    <a:cs typeface="+mn-cs"/>
                  </a:rPr>
                  <a:t>)</a:t>
                </a:r>
                <a:r>
                  <a:rPr lang="pt-BR" dirty="0"/>
                  <a:t>representa a posição da antena </a:t>
                </a:r>
                <a:r>
                  <a:rPr lang="pt-BR" sz="1200" i="0" kern="1200">
                    <a:solidFill>
                      <a:schemeClr val="tx1"/>
                    </a:solidFill>
                    <a:latin typeface="+mn-lt"/>
                    <a:ea typeface="+mn-ea"/>
                    <a:cs typeface="+mn-cs"/>
                  </a:rPr>
                  <a:t>𝑎</a:t>
                </a:r>
                <a:r>
                  <a:rPr lang="pt-BR" dirty="0"/>
                  <a:t>do usuário </a:t>
                </a:r>
                <a:r>
                  <a:rPr lang="pt-BR" sz="1200" i="0" kern="1200">
                    <a:solidFill>
                      <a:schemeClr val="tx1"/>
                    </a:solidFill>
                    <a:latin typeface="+mn-lt"/>
                    <a:ea typeface="+mn-ea"/>
                    <a:cs typeface="+mn-cs"/>
                  </a:rPr>
                  <a:t>𝑢</a:t>
                </a:r>
                <a:r>
                  <a:rPr lang="pt-BR" dirty="0"/>
                  <a:t>, com coordenadas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 O </a:t>
                </a:r>
                <a:r>
                  <a:rPr lang="pt-BR" dirty="0" err="1"/>
                  <a:t>paper</a:t>
                </a:r>
                <a:r>
                  <a:rPr lang="pt-BR" dirty="0"/>
                  <a:t> agrupa todas essas posições na matriz </a:t>
                </a:r>
                <a:r>
                  <a:rPr lang="pt-BR" sz="1200" b="1" i="0" kern="1200">
                    <a:solidFill>
                      <a:schemeClr val="tx1"/>
                    </a:solidFill>
                    <a:latin typeface="+mn-lt"/>
                    <a:ea typeface="+mn-ea"/>
                    <a:cs typeface="+mn-cs"/>
                  </a:rPr>
                  <a:t>𝐓</a:t>
                </a:r>
                <a:r>
                  <a:rPr lang="pt-BR" dirty="0"/>
                  <a:t>. Já a posição da </a:t>
                </a:r>
                <a:r>
                  <a:rPr lang="pt-BR" dirty="0" err="1"/>
                  <a:t>fluid</a:t>
                </a:r>
                <a:r>
                  <a:rPr lang="pt-BR" dirty="0"/>
                  <a:t> </a:t>
                </a:r>
                <a:r>
                  <a:rPr lang="pt-BR" dirty="0" err="1"/>
                  <a:t>antenna</a:t>
                </a:r>
                <a:r>
                  <a:rPr lang="pt-BR" dirty="0"/>
                  <a:t> </a:t>
                </a:r>
                <a:r>
                  <a:rPr lang="pt-BR" sz="1200" i="0" kern="1200">
                    <a:solidFill>
                      <a:schemeClr val="tx1"/>
                    </a:solidFill>
                    <a:latin typeface="+mn-lt"/>
                    <a:ea typeface="+mn-ea"/>
                    <a:cs typeface="+mn-cs"/>
                  </a:rPr>
                  <a:t>𝑚</a:t>
                </a:r>
                <a:r>
                  <a:rPr lang="pt-BR" dirty="0"/>
                  <a:t>da BS é representada por </a:t>
                </a:r>
                <a:r>
                  <a:rPr lang="ar-AE" sz="1200" b="1" i="0" kern="1200">
                    <a:solidFill>
                      <a:schemeClr val="tx1"/>
                    </a:solidFill>
                    <a:latin typeface="+mn-lt"/>
                    <a:ea typeface="+mn-ea"/>
                    <a:cs typeface="+mn-cs"/>
                  </a:rPr>
                  <a:t>𝐫_</a:t>
                </a:r>
                <a:r>
                  <a:rPr lang="ar-AE" sz="1200" b="0" i="0" kern="1200">
                    <a:solidFill>
                      <a:schemeClr val="tx1"/>
                    </a:solidFill>
                    <a:latin typeface="+mn-lt"/>
                    <a:ea typeface="+mn-ea"/>
                    <a:cs typeface="+mn-cs"/>
                  </a:rPr>
                  <a:t>𝑚</a:t>
                </a:r>
                <a:r>
                  <a:rPr lang="ar-AE" dirty="0"/>
                  <a:t>, </a:t>
                </a:r>
                <a:r>
                  <a:rPr lang="pt-BR" dirty="0"/>
                  <a:t>e todas as posições da BS são agrupadas na matriz </a:t>
                </a:r>
                <a:r>
                  <a:rPr lang="pt-BR" sz="1200" b="1" i="0" kern="1200">
                    <a:solidFill>
                      <a:schemeClr val="tx1"/>
                    </a:solidFill>
                    <a:latin typeface="+mn-lt"/>
                    <a:ea typeface="+mn-ea"/>
                    <a:cs typeface="+mn-cs"/>
                  </a:rPr>
                  <a:t>𝐑</a:t>
                </a:r>
                <a:r>
                  <a:rPr lang="pt-BR" dirty="0"/>
                  <a:t>.</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Outro ponto importante é que o sistema usa </a:t>
                </a:r>
                <a:r>
                  <a:rPr lang="pt-BR" dirty="0" err="1"/>
                  <a:t>space-division</a:t>
                </a:r>
                <a:r>
                  <a:rPr lang="pt-BR" dirty="0"/>
                  <a:t> </a:t>
                </a:r>
                <a:r>
                  <a:rPr lang="pt-BR" dirty="0" err="1"/>
                  <a:t>multiple</a:t>
                </a:r>
                <a:r>
                  <a:rPr lang="pt-BR" dirty="0"/>
                  <a:t> </a:t>
                </a:r>
                <a:r>
                  <a:rPr lang="pt-BR" dirty="0" err="1"/>
                  <a:t>access</a:t>
                </a:r>
                <a:r>
                  <a:rPr lang="pt-BR" dirty="0"/>
                  <a:t>. Isso significa que vários usuários podem se comunicar com a base </a:t>
                </a:r>
                <a:r>
                  <a:rPr lang="pt-BR" dirty="0" err="1"/>
                  <a:t>station</a:t>
                </a:r>
                <a:r>
                  <a:rPr lang="pt-BR" dirty="0"/>
                  <a:t> ao mesmo tempo, explorando separação espacial.</a:t>
                </a:r>
              </a:p>
              <a:p>
                <a:pPr marL="171450" indent="-171450">
                  <a:buFont typeface="Arial" panose="020B0604020202020204" pitchFamily="34" charset="0"/>
                  <a:buChar char="•"/>
                </a:pPr>
                <a:r>
                  <a:rPr lang="pt-BR" dirty="0"/>
                  <a:t>Além disso, existe um servidor no sistema, e esse servidor é quem executa a parte pesada da inferência do </a:t>
                </a:r>
                <a:r>
                  <a:rPr lang="pt-BR" dirty="0" err="1"/>
                  <a:t>large</a:t>
                </a:r>
                <a:r>
                  <a:rPr lang="pt-BR" dirty="0"/>
                  <a:t> model. A outra parte é executada no cliente.</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Por fim, o </a:t>
                </a:r>
                <a:r>
                  <a:rPr lang="pt-BR" dirty="0" err="1"/>
                  <a:t>paper</a:t>
                </a:r>
                <a:r>
                  <a:rPr lang="pt-BR" dirty="0"/>
                  <a:t> assume que o tempo necessário para ajustar a posição das </a:t>
                </a:r>
                <a:r>
                  <a:rPr lang="pt-BR" dirty="0" err="1"/>
                  <a:t>fluid</a:t>
                </a:r>
                <a:r>
                  <a:rPr lang="pt-BR" dirty="0"/>
                  <a:t> </a:t>
                </a:r>
                <a:r>
                  <a:rPr lang="pt-BR" dirty="0" err="1"/>
                  <a:t>antennas</a:t>
                </a:r>
                <a:r>
                  <a:rPr lang="pt-BR" dirty="0"/>
                  <a:t> é desprezível. Em outras palavras, eles ignoram esse custo mecânico ou físico e consideram apenas o ganho que o reposicionamento traz para o canal e para a taxa de transmissão.</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Pense em um painel retangular na BS, e cada </a:t>
                </a:r>
                <a:r>
                  <a:rPr lang="pt-BR" dirty="0" err="1"/>
                  <a:t>fluid</a:t>
                </a:r>
                <a:r>
                  <a:rPr lang="pt-BR" dirty="0"/>
                  <a:t> </a:t>
                </a:r>
                <a:r>
                  <a:rPr lang="pt-BR" dirty="0" err="1"/>
                  <a:t>antenna</a:t>
                </a:r>
                <a:r>
                  <a:rPr lang="pt-BR" dirty="0"/>
                  <a:t> pode “andar” nesse painel em duas direções,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a:t>
                </a:r>
                <a:br>
                  <a:rPr lang="pt-BR" dirty="0"/>
                </a:br>
                <a:r>
                  <a:rPr lang="pt-BR" dirty="0"/>
                  <a:t>a modelagem não está nesse nível discreto de “</a:t>
                </a:r>
                <a:r>
                  <a:rPr lang="pt-BR" dirty="0" err="1"/>
                  <a:t>port</a:t>
                </a:r>
                <a:r>
                  <a:rPr lang="pt-BR" dirty="0"/>
                  <a:t> 1, </a:t>
                </a:r>
                <a:r>
                  <a:rPr lang="pt-BR" dirty="0" err="1"/>
                  <a:t>port</a:t>
                </a:r>
                <a:r>
                  <a:rPr lang="pt-BR" dirty="0"/>
                  <a:t> 2, </a:t>
                </a:r>
                <a:r>
                  <a:rPr lang="pt-BR" dirty="0" err="1"/>
                  <a:t>port</a:t>
                </a:r>
                <a:r>
                  <a:rPr lang="pt-BR" dirty="0"/>
                  <a:t> 3...”, é como uma antena 2d, porém em termos de x e y</a:t>
                </a:r>
              </a:p>
            </p:txBody>
          </p:sp>
        </mc:Fallback>
      </mc:AlternateContent>
      <p:sp>
        <p:nvSpPr>
          <p:cNvPr id="4" name="Slide Number Placeholder 3">
            <a:extLst>
              <a:ext uri="{FF2B5EF4-FFF2-40B4-BE49-F238E27FC236}">
                <a16:creationId xmlns:a16="http://schemas.microsoft.com/office/drawing/2014/main" id="{0AC3110A-48B5-FE59-26C5-56E8FF2F50A2}"/>
              </a:ext>
            </a:extLst>
          </p:cNvPr>
          <p:cNvSpPr>
            <a:spLocks noGrp="1"/>
          </p:cNvSpPr>
          <p:nvPr>
            <p:ph type="sldNum" sz="quarter" idx="5"/>
          </p:nvPr>
        </p:nvSpPr>
        <p:spPr/>
        <p:txBody>
          <a:bodyPr/>
          <a:lstStyle/>
          <a:p>
            <a:fld id="{6FC8D850-966F-45A6-8DE7-15B891E7D40D}" type="slidenum">
              <a:rPr lang="pt-BR" smtClean="0"/>
              <a:t>12</a:t>
            </a:fld>
            <a:endParaRPr lang="pt-BR"/>
          </a:p>
        </p:txBody>
      </p:sp>
    </p:spTree>
    <p:extLst>
      <p:ext uri="{BB962C8B-B14F-4D97-AF65-F5344CB8AC3E}">
        <p14:creationId xmlns:p14="http://schemas.microsoft.com/office/powerpoint/2010/main" val="25234599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82F08-F53B-7946-BADF-92E5026B78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7265CC-5A68-1877-C39F-96CCEF614C73}"/>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BB53813-C0E2-FE99-ADAC-6E0BE88A6DD7}"/>
                  </a:ext>
                </a:extLst>
              </p:cNvPr>
              <p:cNvSpPr>
                <a:spLocks noGrp="1"/>
              </p:cNvSpPr>
              <p:nvPr>
                <p:ph type="body" idx="1"/>
              </p:nvPr>
            </p:nvSpPr>
            <p:spPr/>
            <p:txBody>
              <a:bodyPr/>
              <a:lstStyle/>
              <a:p>
                <a:r>
                  <a:rPr lang="pt-BR" dirty="0"/>
                  <a:t>Esse slide mostra como o </a:t>
                </a:r>
                <a:r>
                  <a:rPr lang="pt-BR" dirty="0" err="1"/>
                  <a:t>EasyNAS</a:t>
                </a:r>
                <a:r>
                  <a:rPr lang="pt-BR" dirty="0"/>
                  <a:t> representa várias convoluções candidatas usando uma única convolução compartilhada. A ideia central está nessas máscaras </a:t>
                </a:r>
                <a14:m>
                  <m:oMath xmlns:m="http://schemas.openxmlformats.org/officeDocument/2006/math">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𝑀</m:t>
                        </m:r>
                      </m:e>
                      <m:sup>
                        <m:r>
                          <a:rPr lang="ar-AE" sz="1200" i="1" kern="1200">
                            <a:solidFill>
                              <a:schemeClr val="tx1"/>
                            </a:solidFill>
                            <a:latin typeface="Cambria Math" panose="02040503050406030204" pitchFamily="18" charset="0"/>
                            <a:ea typeface="+mn-ea"/>
                            <a:cs typeface="+mn-cs"/>
                          </a:rPr>
                          <m:t>𝑜</m:t>
                        </m:r>
                      </m:sup>
                    </m:sSup>
                  </m:oMath>
                </a14:m>
                <a:r>
                  <a:rPr lang="ar-AE" dirty="0"/>
                  <a:t>. </a:t>
                </a:r>
                <a:r>
                  <a:rPr lang="pt-BR" dirty="0"/>
                  <a:t>Cada operação candidata, como uma </a:t>
                </a:r>
                <a:r>
                  <a:rPr lang="pt-BR" dirty="0" err="1"/>
                  <a:t>conv</a:t>
                </a:r>
                <a:r>
                  <a:rPr lang="pt-BR" dirty="0"/>
                  <a:t> 3 por 3, 5 por 5 ou uma convolução dilatada, é representada por uma máscara que ativa apenas certas posições de um kernel maior compartilhado. Então, em vez de manter uma convolução separada para cada opção, o método usa um único peso compartilhado e aplica uma máscara correspondente à operação.</a:t>
                </a:r>
              </a:p>
              <a:p>
                <a:r>
                  <a:rPr lang="pt-BR" dirty="0"/>
                  <a:t>Na equação, essas máscaras são combinadas pelos pesos arquiteturais </a:t>
                </a:r>
                <a14:m>
                  <m:oMath xmlns:m="http://schemas.openxmlformats.org/officeDocument/2006/math">
                    <m:acc>
                      <m:accPr>
                        <m:chr m:val="̂"/>
                        <m:ctrlPr>
                          <a:rPr lang="ar-AE" sz="1200" i="1" kern="1200">
                            <a:solidFill>
                              <a:schemeClr val="tx1"/>
                            </a:solidFill>
                            <a:latin typeface="Cambria Math" panose="02040503050406030204" pitchFamily="18" charset="0"/>
                            <a:ea typeface="+mn-ea"/>
                            <a:cs typeface="+mn-cs"/>
                          </a:rPr>
                        </m:ctrlPr>
                      </m:accPr>
                      <m:e>
                        <m:r>
                          <a:rPr lang="ar-AE" sz="1200" i="1" kern="1200">
                            <a:solidFill>
                              <a:schemeClr val="tx1"/>
                            </a:solidFill>
                            <a:latin typeface="Cambria Math" panose="02040503050406030204" pitchFamily="18" charset="0"/>
                            <a:ea typeface="+mn-ea"/>
                            <a:cs typeface="+mn-cs"/>
                          </a:rPr>
                          <m:t>𝛼</m:t>
                        </m:r>
                      </m:e>
                    </m:acc>
                  </m:oMath>
                </a14:m>
                <a:r>
                  <a:rPr lang="ar-AE" dirty="0"/>
                  <a:t>. </a:t>
                </a:r>
                <a:r>
                  <a:rPr lang="pt-BR" dirty="0"/>
                  <a:t>Isso gera uma máscara média ponderada, </a:t>
                </a:r>
                <a14:m>
                  <m:oMath xmlns:m="http://schemas.openxmlformats.org/officeDocument/2006/math">
                    <m:acc>
                      <m:accPr>
                        <m:chr m:val="̃"/>
                        <m:ctrlPr>
                          <a:rPr lang="ar-AE" sz="1200" i="1" kern="1200">
                            <a:solidFill>
                              <a:schemeClr val="tx1"/>
                            </a:solidFill>
                            <a:latin typeface="Cambria Math" panose="02040503050406030204" pitchFamily="18" charset="0"/>
                            <a:ea typeface="+mn-ea"/>
                            <a:cs typeface="+mn-cs"/>
                          </a:rPr>
                        </m:ctrlPr>
                      </m:accPr>
                      <m:e>
                        <m:r>
                          <a:rPr lang="ar-AE" sz="1200" i="1" kern="1200">
                            <a:solidFill>
                              <a:schemeClr val="tx1"/>
                            </a:solidFill>
                            <a:latin typeface="Cambria Math" panose="02040503050406030204" pitchFamily="18" charset="0"/>
                            <a:ea typeface="+mn-ea"/>
                            <a:cs typeface="+mn-cs"/>
                          </a:rPr>
                          <m:t>𝑀</m:t>
                        </m:r>
                      </m:e>
                    </m:acc>
                  </m:oMath>
                </a14:m>
                <a:r>
                  <a:rPr lang="ar-AE" dirty="0"/>
                  <a:t>, </a:t>
                </a:r>
                <a:r>
                  <a:rPr lang="pt-BR" dirty="0"/>
                  <a:t>que mistura continuamente as operações candidatas durante o treinamento. Se a busca favorece mais uma </a:t>
                </a:r>
                <a:r>
                  <a:rPr lang="pt-BR" dirty="0" err="1"/>
                  <a:t>conv</a:t>
                </a:r>
                <a:r>
                  <a:rPr lang="pt-BR" dirty="0"/>
                  <a:t> 3 por 3, a região central da máscara recebe mais peso. Se favorece uma </a:t>
                </a:r>
                <a:r>
                  <a:rPr lang="pt-BR" dirty="0" err="1"/>
                  <a:t>conv</a:t>
                </a:r>
                <a:r>
                  <a:rPr lang="pt-BR" dirty="0"/>
                  <a:t> dilatada, passam a ter mais peso as posições espaçadas. Então essa máscara final traduz quais </a:t>
                </a:r>
                <a:r>
                  <a:rPr lang="pt-BR" dirty="0" err="1"/>
                  <a:t>receptive</a:t>
                </a:r>
                <a:r>
                  <a:rPr lang="pt-BR" dirty="0"/>
                  <a:t> </a:t>
                </a:r>
                <a:r>
                  <a:rPr lang="pt-BR" dirty="0" err="1"/>
                  <a:t>fields</a:t>
                </a:r>
                <a:r>
                  <a:rPr lang="pt-BR" dirty="0"/>
                  <a:t> estão sendo priorizados naquele bloco.</a:t>
                </a:r>
              </a:p>
              <a:p>
                <a:r>
                  <a:rPr lang="pt-BR" dirty="0"/>
                  <a:t>O ponto importante é que isso permite substituir várias convoluções separadas por uma única convolução mascarada. É exatamente isso que torna o </a:t>
                </a:r>
                <a:r>
                  <a:rPr lang="pt-BR" dirty="0" err="1"/>
                  <a:t>operator</a:t>
                </a:r>
                <a:r>
                  <a:rPr lang="pt-BR" dirty="0"/>
                  <a:t> </a:t>
                </a:r>
                <a:r>
                  <a:rPr lang="pt-BR" dirty="0" err="1"/>
                  <a:t>merging</a:t>
                </a:r>
                <a:r>
                  <a:rPr lang="pt-BR" dirty="0"/>
                  <a:t> possível e reduz o custo do </a:t>
                </a:r>
                <a:r>
                  <a:rPr lang="pt-BR" dirty="0" err="1"/>
                  <a:t>supernet</a:t>
                </a:r>
                <a:r>
                  <a:rPr lang="pt-BR" dirty="0"/>
                  <a:t>.</a:t>
                </a:r>
              </a:p>
            </p:txBody>
          </p:sp>
        </mc:Choice>
        <mc:Fallback xmlns="">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dirty="0"/>
                  <a:t>A posição das antenas é variável importante porque, neste </a:t>
                </a:r>
                <a:r>
                  <a:rPr lang="pt-BR" dirty="0" err="1"/>
                  <a:t>paper</a:t>
                </a:r>
                <a:r>
                  <a:rPr lang="pt-BR" dirty="0"/>
                  <a:t>, a BS não é um arranjo fixo tradicional. As </a:t>
                </a:r>
                <a:r>
                  <a:rPr lang="pt-BR" dirty="0" err="1"/>
                  <a:t>fluid</a:t>
                </a:r>
                <a:r>
                  <a:rPr lang="pt-BR" dirty="0"/>
                  <a:t> </a:t>
                </a:r>
                <a:r>
                  <a:rPr lang="pt-BR" dirty="0" err="1"/>
                  <a:t>antennas</a:t>
                </a:r>
                <a:r>
                  <a:rPr lang="pt-BR" dirty="0"/>
                  <a:t> podem se mover dentro de um painel. Isso altera o canal sem fio. Então, diferente de um sistema MIMO convencional em que a geometria é fixa, aqui a geometria da BS é parte do problema de otimização.</a:t>
                </a:r>
              </a:p>
              <a:p>
                <a:pPr marL="171450" indent="-171450">
                  <a:buFont typeface="Arial" panose="020B0604020202020204" pitchFamily="34" charset="0"/>
                  <a:buChar char="•"/>
                </a:pPr>
                <a:r>
                  <a:rPr lang="pt-BR" dirty="0"/>
                  <a:t>Aqui no lado esquerdo do slide estão as definições matemáticas das posições dessas antenas. O vetor </a:t>
                </a:r>
                <a:r>
                  <a:rPr lang="ar-AE" sz="1200" b="1" i="0" kern="1200">
                    <a:solidFill>
                      <a:schemeClr val="tx1"/>
                    </a:solidFill>
                    <a:latin typeface="+mn-lt"/>
                    <a:ea typeface="+mn-ea"/>
                    <a:cs typeface="+mn-cs"/>
                  </a:rPr>
                  <a:t>𝐭_(</a:t>
                </a:r>
                <a:r>
                  <a:rPr lang="ar-AE" sz="1200" b="0" i="0" kern="1200">
                    <a:solidFill>
                      <a:schemeClr val="tx1"/>
                    </a:solidFill>
                    <a:latin typeface="+mn-lt"/>
                    <a:ea typeface="+mn-ea"/>
                    <a:cs typeface="+mn-cs"/>
                  </a:rPr>
                  <a:t>𝑢,𝑎</a:t>
                </a:r>
                <a:r>
                  <a:rPr lang="ar-AE" sz="1200" b="1" i="0" kern="1200">
                    <a:solidFill>
                      <a:schemeClr val="tx1"/>
                    </a:solidFill>
                    <a:latin typeface="+mn-lt"/>
                    <a:ea typeface="+mn-ea"/>
                    <a:cs typeface="+mn-cs"/>
                  </a:rPr>
                  <a:t>)</a:t>
                </a:r>
                <a:r>
                  <a:rPr lang="pt-BR" dirty="0"/>
                  <a:t>representa a posição da antena </a:t>
                </a:r>
                <a:r>
                  <a:rPr lang="pt-BR" sz="1200" i="0" kern="1200">
                    <a:solidFill>
                      <a:schemeClr val="tx1"/>
                    </a:solidFill>
                    <a:latin typeface="+mn-lt"/>
                    <a:ea typeface="+mn-ea"/>
                    <a:cs typeface="+mn-cs"/>
                  </a:rPr>
                  <a:t>𝑎</a:t>
                </a:r>
                <a:r>
                  <a:rPr lang="pt-BR" dirty="0"/>
                  <a:t>do usuário </a:t>
                </a:r>
                <a:r>
                  <a:rPr lang="pt-BR" sz="1200" i="0" kern="1200">
                    <a:solidFill>
                      <a:schemeClr val="tx1"/>
                    </a:solidFill>
                    <a:latin typeface="+mn-lt"/>
                    <a:ea typeface="+mn-ea"/>
                    <a:cs typeface="+mn-cs"/>
                  </a:rPr>
                  <a:t>𝑢</a:t>
                </a:r>
                <a:r>
                  <a:rPr lang="pt-BR" dirty="0"/>
                  <a:t>, com coordenadas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 O </a:t>
                </a:r>
                <a:r>
                  <a:rPr lang="pt-BR" dirty="0" err="1"/>
                  <a:t>paper</a:t>
                </a:r>
                <a:r>
                  <a:rPr lang="pt-BR" dirty="0"/>
                  <a:t> agrupa todas essas posições na matriz </a:t>
                </a:r>
                <a:r>
                  <a:rPr lang="pt-BR" sz="1200" b="1" i="0" kern="1200">
                    <a:solidFill>
                      <a:schemeClr val="tx1"/>
                    </a:solidFill>
                    <a:latin typeface="+mn-lt"/>
                    <a:ea typeface="+mn-ea"/>
                    <a:cs typeface="+mn-cs"/>
                  </a:rPr>
                  <a:t>𝐓</a:t>
                </a:r>
                <a:r>
                  <a:rPr lang="pt-BR" dirty="0"/>
                  <a:t>. Já a posição da </a:t>
                </a:r>
                <a:r>
                  <a:rPr lang="pt-BR" dirty="0" err="1"/>
                  <a:t>fluid</a:t>
                </a:r>
                <a:r>
                  <a:rPr lang="pt-BR" dirty="0"/>
                  <a:t> </a:t>
                </a:r>
                <a:r>
                  <a:rPr lang="pt-BR" dirty="0" err="1"/>
                  <a:t>antenna</a:t>
                </a:r>
                <a:r>
                  <a:rPr lang="pt-BR" dirty="0"/>
                  <a:t> </a:t>
                </a:r>
                <a:r>
                  <a:rPr lang="pt-BR" sz="1200" i="0" kern="1200">
                    <a:solidFill>
                      <a:schemeClr val="tx1"/>
                    </a:solidFill>
                    <a:latin typeface="+mn-lt"/>
                    <a:ea typeface="+mn-ea"/>
                    <a:cs typeface="+mn-cs"/>
                  </a:rPr>
                  <a:t>𝑚</a:t>
                </a:r>
                <a:r>
                  <a:rPr lang="pt-BR" dirty="0"/>
                  <a:t>da BS é representada por </a:t>
                </a:r>
                <a:r>
                  <a:rPr lang="ar-AE" sz="1200" b="1" i="0" kern="1200">
                    <a:solidFill>
                      <a:schemeClr val="tx1"/>
                    </a:solidFill>
                    <a:latin typeface="+mn-lt"/>
                    <a:ea typeface="+mn-ea"/>
                    <a:cs typeface="+mn-cs"/>
                  </a:rPr>
                  <a:t>𝐫_</a:t>
                </a:r>
                <a:r>
                  <a:rPr lang="ar-AE" sz="1200" b="0" i="0" kern="1200">
                    <a:solidFill>
                      <a:schemeClr val="tx1"/>
                    </a:solidFill>
                    <a:latin typeface="+mn-lt"/>
                    <a:ea typeface="+mn-ea"/>
                    <a:cs typeface="+mn-cs"/>
                  </a:rPr>
                  <a:t>𝑚</a:t>
                </a:r>
                <a:r>
                  <a:rPr lang="ar-AE" dirty="0"/>
                  <a:t>, </a:t>
                </a:r>
                <a:r>
                  <a:rPr lang="pt-BR" dirty="0"/>
                  <a:t>e todas as posições da BS são agrupadas na matriz </a:t>
                </a:r>
                <a:r>
                  <a:rPr lang="pt-BR" sz="1200" b="1" i="0" kern="1200">
                    <a:solidFill>
                      <a:schemeClr val="tx1"/>
                    </a:solidFill>
                    <a:latin typeface="+mn-lt"/>
                    <a:ea typeface="+mn-ea"/>
                    <a:cs typeface="+mn-cs"/>
                  </a:rPr>
                  <a:t>𝐑</a:t>
                </a:r>
                <a:r>
                  <a:rPr lang="pt-BR" dirty="0"/>
                  <a:t>.</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Outro ponto importante é que o sistema usa </a:t>
                </a:r>
                <a:r>
                  <a:rPr lang="pt-BR" dirty="0" err="1"/>
                  <a:t>space-division</a:t>
                </a:r>
                <a:r>
                  <a:rPr lang="pt-BR" dirty="0"/>
                  <a:t> </a:t>
                </a:r>
                <a:r>
                  <a:rPr lang="pt-BR" dirty="0" err="1"/>
                  <a:t>multiple</a:t>
                </a:r>
                <a:r>
                  <a:rPr lang="pt-BR" dirty="0"/>
                  <a:t> </a:t>
                </a:r>
                <a:r>
                  <a:rPr lang="pt-BR" dirty="0" err="1"/>
                  <a:t>access</a:t>
                </a:r>
                <a:r>
                  <a:rPr lang="pt-BR" dirty="0"/>
                  <a:t>. Isso significa que vários usuários podem se comunicar com a base </a:t>
                </a:r>
                <a:r>
                  <a:rPr lang="pt-BR" dirty="0" err="1"/>
                  <a:t>station</a:t>
                </a:r>
                <a:r>
                  <a:rPr lang="pt-BR" dirty="0"/>
                  <a:t> ao mesmo tempo, explorando separação espacial.</a:t>
                </a:r>
              </a:p>
              <a:p>
                <a:pPr marL="171450" indent="-171450">
                  <a:buFont typeface="Arial" panose="020B0604020202020204" pitchFamily="34" charset="0"/>
                  <a:buChar char="•"/>
                </a:pPr>
                <a:r>
                  <a:rPr lang="pt-BR" dirty="0"/>
                  <a:t>Além disso, existe um servidor no sistema, e esse servidor é quem executa a parte pesada da inferência do </a:t>
                </a:r>
                <a:r>
                  <a:rPr lang="pt-BR" dirty="0" err="1"/>
                  <a:t>large</a:t>
                </a:r>
                <a:r>
                  <a:rPr lang="pt-BR" dirty="0"/>
                  <a:t> model. A outra parte é executada no cliente.</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Por fim, o </a:t>
                </a:r>
                <a:r>
                  <a:rPr lang="pt-BR" dirty="0" err="1"/>
                  <a:t>paper</a:t>
                </a:r>
                <a:r>
                  <a:rPr lang="pt-BR" dirty="0"/>
                  <a:t> assume que o tempo necessário para ajustar a posição das </a:t>
                </a:r>
                <a:r>
                  <a:rPr lang="pt-BR" dirty="0" err="1"/>
                  <a:t>fluid</a:t>
                </a:r>
                <a:r>
                  <a:rPr lang="pt-BR" dirty="0"/>
                  <a:t> </a:t>
                </a:r>
                <a:r>
                  <a:rPr lang="pt-BR" dirty="0" err="1"/>
                  <a:t>antennas</a:t>
                </a:r>
                <a:r>
                  <a:rPr lang="pt-BR" dirty="0"/>
                  <a:t> é desprezível. Em outras palavras, eles ignoram esse custo mecânico ou físico e consideram apenas o ganho que o reposicionamento traz para o canal e para a taxa de transmissão.</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Pense em um painel retangular na BS, e cada </a:t>
                </a:r>
                <a:r>
                  <a:rPr lang="pt-BR" dirty="0" err="1"/>
                  <a:t>fluid</a:t>
                </a:r>
                <a:r>
                  <a:rPr lang="pt-BR" dirty="0"/>
                  <a:t> </a:t>
                </a:r>
                <a:r>
                  <a:rPr lang="pt-BR" dirty="0" err="1"/>
                  <a:t>antenna</a:t>
                </a:r>
                <a:r>
                  <a:rPr lang="pt-BR" dirty="0"/>
                  <a:t> pode “andar” nesse painel em duas direções,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a:t>
                </a:r>
                <a:br>
                  <a:rPr lang="pt-BR" dirty="0"/>
                </a:br>
                <a:r>
                  <a:rPr lang="pt-BR" dirty="0"/>
                  <a:t>a modelagem não está nesse nível discreto de “</a:t>
                </a:r>
                <a:r>
                  <a:rPr lang="pt-BR" dirty="0" err="1"/>
                  <a:t>port</a:t>
                </a:r>
                <a:r>
                  <a:rPr lang="pt-BR" dirty="0"/>
                  <a:t> 1, </a:t>
                </a:r>
                <a:r>
                  <a:rPr lang="pt-BR" dirty="0" err="1"/>
                  <a:t>port</a:t>
                </a:r>
                <a:r>
                  <a:rPr lang="pt-BR" dirty="0"/>
                  <a:t> 2, </a:t>
                </a:r>
                <a:r>
                  <a:rPr lang="pt-BR" dirty="0" err="1"/>
                  <a:t>port</a:t>
                </a:r>
                <a:r>
                  <a:rPr lang="pt-BR" dirty="0"/>
                  <a:t> 3...”, é como uma antena 2d, porém em termos de x e y</a:t>
                </a:r>
              </a:p>
            </p:txBody>
          </p:sp>
        </mc:Fallback>
      </mc:AlternateContent>
      <p:sp>
        <p:nvSpPr>
          <p:cNvPr id="4" name="Slide Number Placeholder 3">
            <a:extLst>
              <a:ext uri="{FF2B5EF4-FFF2-40B4-BE49-F238E27FC236}">
                <a16:creationId xmlns:a16="http://schemas.microsoft.com/office/drawing/2014/main" id="{13B3C40E-88B8-FA98-E2DB-36F4FF1DCCC5}"/>
              </a:ext>
            </a:extLst>
          </p:cNvPr>
          <p:cNvSpPr>
            <a:spLocks noGrp="1"/>
          </p:cNvSpPr>
          <p:nvPr>
            <p:ph type="sldNum" sz="quarter" idx="5"/>
          </p:nvPr>
        </p:nvSpPr>
        <p:spPr/>
        <p:txBody>
          <a:bodyPr/>
          <a:lstStyle/>
          <a:p>
            <a:fld id="{6FC8D850-966F-45A6-8DE7-15B891E7D40D}" type="slidenum">
              <a:rPr lang="pt-BR" smtClean="0"/>
              <a:t>13</a:t>
            </a:fld>
            <a:endParaRPr lang="pt-BR"/>
          </a:p>
        </p:txBody>
      </p:sp>
    </p:spTree>
    <p:extLst>
      <p:ext uri="{BB962C8B-B14F-4D97-AF65-F5344CB8AC3E}">
        <p14:creationId xmlns:p14="http://schemas.microsoft.com/office/powerpoint/2010/main" val="382593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17AFE-C6A8-029C-FE91-67BFD4C5B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DD3683-3A8B-ED94-C274-CC343A775A5F}"/>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F1C1A03-B09F-DB15-4CB4-0D3E2DE65AA6}"/>
                  </a:ext>
                </a:extLst>
              </p:cNvPr>
              <p:cNvSpPr>
                <a:spLocks noGrp="1"/>
              </p:cNvSpPr>
              <p:nvPr>
                <p:ph type="body" idx="1"/>
              </p:nvPr>
            </p:nvSpPr>
            <p:spPr/>
            <p:txBody>
              <a:bodyPr/>
              <a:lstStyle/>
              <a:p>
                <a:r>
                  <a:rPr lang="pt-BR" dirty="0"/>
                  <a:t>Agora falta explicar o papel do </a:t>
                </a:r>
                <a14:m>
                  <m:oMath xmlns:m="http://schemas.openxmlformats.org/officeDocument/2006/math">
                    <m:r>
                      <a:rPr lang="pt-BR" sz="1200" i="1" kern="1200">
                        <a:solidFill>
                          <a:schemeClr val="tx1"/>
                        </a:solidFill>
                        <a:latin typeface="Cambria Math" panose="02040503050406030204" pitchFamily="18" charset="0"/>
                        <a:ea typeface="+mn-ea"/>
                        <a:cs typeface="+mn-cs"/>
                      </a:rPr>
                      <m:t>𝑊</m:t>
                    </m:r>
                  </m:oMath>
                </a14:m>
                <a:r>
                  <a:rPr lang="pt-BR" dirty="0"/>
                  <a:t>, que aparece em toda a formulação do artigo. O </a:t>
                </a:r>
                <a14:m>
                  <m:oMath xmlns:m="http://schemas.openxmlformats.org/officeDocument/2006/math">
                    <m:r>
                      <a:rPr lang="pt-BR" sz="1200" i="1" kern="1200">
                        <a:solidFill>
                          <a:schemeClr val="tx1"/>
                        </a:solidFill>
                        <a:latin typeface="Cambria Math" panose="02040503050406030204" pitchFamily="18" charset="0"/>
                        <a:ea typeface="+mn-ea"/>
                        <a:cs typeface="+mn-cs"/>
                      </a:rPr>
                      <m:t>𝑊</m:t>
                    </m:r>
                  </m:oMath>
                </a14:m>
                <a:r>
                  <a:rPr lang="pt-BR" dirty="0"/>
                  <a:t>representa os pesos treináveis das convoluções do </a:t>
                </a:r>
                <a:r>
                  <a:rPr lang="pt-BR" dirty="0" err="1"/>
                  <a:t>supernet</a:t>
                </a:r>
                <a:r>
                  <a:rPr lang="pt-BR" dirty="0"/>
                  <a:t>. A diferença é que, no </a:t>
                </a:r>
                <a:r>
                  <a:rPr lang="pt-BR" dirty="0" err="1"/>
                  <a:t>EasyNAS</a:t>
                </a:r>
                <a:r>
                  <a:rPr lang="pt-BR" dirty="0"/>
                  <a:t>, esses pesos são compartilhados entre várias operações candidatas. Então, em vez de ter uma convolução completa para cada opção, o método mantém um único peso compartilhado </a:t>
                </a:r>
                <a14:m>
                  <m:oMath xmlns:m="http://schemas.openxmlformats.org/officeDocument/2006/math">
                    <m:r>
                      <a:rPr lang="pt-BR" sz="1200" i="1" kern="1200">
                        <a:solidFill>
                          <a:schemeClr val="tx1"/>
                        </a:solidFill>
                        <a:latin typeface="Cambria Math" panose="02040503050406030204" pitchFamily="18" charset="0"/>
                        <a:ea typeface="+mn-ea"/>
                        <a:cs typeface="+mn-cs"/>
                      </a:rPr>
                      <m:t>𝑊</m:t>
                    </m:r>
                  </m:oMath>
                </a14:m>
                <a:r>
                  <a:rPr lang="pt-BR" dirty="0"/>
                  <a:t>, e a operação efetiva é definida pela máscara ponderada </a:t>
                </a:r>
                <a14:m>
                  <m:oMath xmlns:m="http://schemas.openxmlformats.org/officeDocument/2006/math">
                    <m:acc>
                      <m:accPr>
                        <m:chr m:val="̃"/>
                        <m:ctrlPr>
                          <a:rPr lang="ar-AE" sz="1200" i="1" kern="1200">
                            <a:solidFill>
                              <a:schemeClr val="tx1"/>
                            </a:solidFill>
                            <a:latin typeface="Cambria Math" panose="02040503050406030204" pitchFamily="18" charset="0"/>
                            <a:ea typeface="+mn-ea"/>
                            <a:cs typeface="+mn-cs"/>
                          </a:rPr>
                        </m:ctrlPr>
                      </m:accPr>
                      <m:e>
                        <m:r>
                          <a:rPr lang="ar-AE" sz="1200" i="1" kern="1200">
                            <a:solidFill>
                              <a:schemeClr val="tx1"/>
                            </a:solidFill>
                            <a:latin typeface="Cambria Math" panose="02040503050406030204" pitchFamily="18" charset="0"/>
                            <a:ea typeface="+mn-ea"/>
                            <a:cs typeface="+mn-cs"/>
                          </a:rPr>
                          <m:t>𝑀</m:t>
                        </m:r>
                      </m:e>
                    </m:acc>
                  </m:oMath>
                </a14:m>
                <a:r>
                  <a:rPr lang="ar-AE" dirty="0"/>
                  <a:t>, </a:t>
                </a:r>
                <a:r>
                  <a:rPr lang="pt-BR" dirty="0"/>
                  <a:t>construída a partir dos pesos arquiteturais </a:t>
                </a:r>
                <a14:m>
                  <m:oMath xmlns:m="http://schemas.openxmlformats.org/officeDocument/2006/math">
                    <m:acc>
                      <m:accPr>
                        <m:chr m:val="̂"/>
                        <m:ctrlPr>
                          <a:rPr lang="ar-AE" sz="1200" i="1" kern="1200">
                            <a:solidFill>
                              <a:schemeClr val="tx1"/>
                            </a:solidFill>
                            <a:latin typeface="Cambria Math" panose="02040503050406030204" pitchFamily="18" charset="0"/>
                            <a:ea typeface="+mn-ea"/>
                            <a:cs typeface="+mn-cs"/>
                          </a:rPr>
                        </m:ctrlPr>
                      </m:accPr>
                      <m:e>
                        <m:r>
                          <a:rPr lang="ar-AE" sz="1200" i="1" kern="1200">
                            <a:solidFill>
                              <a:schemeClr val="tx1"/>
                            </a:solidFill>
                            <a:latin typeface="Cambria Math" panose="02040503050406030204" pitchFamily="18" charset="0"/>
                            <a:ea typeface="+mn-ea"/>
                            <a:cs typeface="+mn-cs"/>
                          </a:rPr>
                          <m:t>𝛼</m:t>
                        </m:r>
                      </m:e>
                    </m:acc>
                  </m:oMath>
                </a14:m>
                <a:r>
                  <a:rPr lang="ar-AE" dirty="0"/>
                  <a:t>.</a:t>
                </a:r>
              </a:p>
              <a:p>
                <a:r>
                  <a:rPr lang="pt-BR" dirty="0"/>
                  <a:t>Além disso, o método não busca apenas a operação, ele também busca a largura do bloco. Para isso, cada nó </a:t>
                </a:r>
                <a14:m>
                  <m:oMath xmlns:m="http://schemas.openxmlformats.org/officeDocument/2006/math">
                    <m:r>
                      <a:rPr lang="pt-BR" sz="1200" i="1" kern="1200">
                        <a:solidFill>
                          <a:schemeClr val="tx1"/>
                        </a:solidFill>
                        <a:latin typeface="Cambria Math" panose="02040503050406030204" pitchFamily="18" charset="0"/>
                        <a:ea typeface="+mn-ea"/>
                        <a:cs typeface="+mn-cs"/>
                      </a:rPr>
                      <m:t>𝑗</m:t>
                    </m:r>
                  </m:oMath>
                </a14:m>
                <a:r>
                  <a:rPr lang="pt-BR" dirty="0"/>
                  <a:t>amostra uma taxa de redução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1" kern="1200">
                            <a:solidFill>
                              <a:schemeClr val="tx1"/>
                            </a:solidFill>
                            <a:latin typeface="Cambria Math" panose="02040503050406030204" pitchFamily="18" charset="0"/>
                            <a:ea typeface="+mn-ea"/>
                            <a:cs typeface="+mn-cs"/>
                          </a:rPr>
                          <m:t>𝑗</m:t>
                        </m:r>
                      </m:sub>
                    </m:sSub>
                  </m:oMath>
                </a14:m>
                <a:r>
                  <a:rPr lang="ar-AE" dirty="0"/>
                  <a:t>, </a:t>
                </a:r>
                <a:r>
                  <a:rPr lang="pt-BR" dirty="0"/>
                  <a:t>e passa a manter apenas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𝐶</m:t>
                        </m:r>
                      </m:e>
                      <m:sub>
                        <m:r>
                          <a:rPr lang="ar-AE" sz="1200" i="1" kern="1200">
                            <a:solidFill>
                              <a:schemeClr val="tx1"/>
                            </a:solidFill>
                            <a:latin typeface="Cambria Math" panose="02040503050406030204" pitchFamily="18" charset="0"/>
                            <a:ea typeface="+mn-ea"/>
                            <a:cs typeface="+mn-cs"/>
                          </a:rPr>
                          <m:t>𝑗</m:t>
                        </m:r>
                      </m:sub>
                    </m:sSub>
                  </m:oMath>
                </a14:m>
                <a:r>
                  <a:rPr lang="pt-BR" dirty="0"/>
                  <a:t>canais ativos.</a:t>
                </a:r>
              </a:p>
              <a:p>
                <a:r>
                  <a:rPr lang="pt-BR" dirty="0"/>
                  <a:t>É isso que a Figura 5 mostra. Se o nó intermediário </a:t>
                </a:r>
                <a14:m>
                  <m:oMath xmlns:m="http://schemas.openxmlformats.org/officeDocument/2006/math">
                    <m:r>
                      <a:rPr lang="pt-BR" sz="1200" i="1" kern="1200">
                        <a:solidFill>
                          <a:schemeClr val="tx1"/>
                        </a:solidFill>
                        <a:latin typeface="Cambria Math" panose="02040503050406030204" pitchFamily="18" charset="0"/>
                        <a:ea typeface="+mn-ea"/>
                        <a:cs typeface="+mn-cs"/>
                      </a:rPr>
                      <m:t>𝑗</m:t>
                    </m:r>
                  </m:oMath>
                </a14:m>
                <a:r>
                  <a:rPr lang="pt-BR" dirty="0"/>
                  <a:t>usa menos canais, então a convolução anterior, de </a:t>
                </a:r>
                <a14:m>
                  <m:oMath xmlns:m="http://schemas.openxmlformats.org/officeDocument/2006/math">
                    <m:r>
                      <a:rPr lang="pt-BR" sz="1200" i="1" kern="1200">
                        <a:solidFill>
                          <a:schemeClr val="tx1"/>
                        </a:solidFill>
                        <a:latin typeface="Cambria Math" panose="02040503050406030204" pitchFamily="18" charset="0"/>
                        <a:ea typeface="+mn-ea"/>
                        <a:cs typeface="+mn-cs"/>
                      </a:rPr>
                      <m:t>𝑔</m:t>
                    </m:r>
                  </m:oMath>
                </a14:m>
                <a:r>
                  <a:rPr lang="pt-BR" dirty="0"/>
                  <a:t>para </a:t>
                </a:r>
                <a14:m>
                  <m:oMath xmlns:m="http://schemas.openxmlformats.org/officeDocument/2006/math">
                    <m:r>
                      <a:rPr lang="pt-BR" sz="1200" i="1" kern="1200">
                        <a:solidFill>
                          <a:schemeClr val="tx1"/>
                        </a:solidFill>
                        <a:latin typeface="Cambria Math" panose="02040503050406030204" pitchFamily="18" charset="0"/>
                        <a:ea typeface="+mn-ea"/>
                        <a:cs typeface="+mn-cs"/>
                      </a:rPr>
                      <m:t>𝑗</m:t>
                    </m:r>
                  </m:oMath>
                </a14:m>
                <a:r>
                  <a:rPr lang="pt-BR" dirty="0"/>
                  <a:t>, não precisa mais produzir todos os canais originais, ela produz apenas os canais ativos. E a convolução seguinte, de </a:t>
                </a:r>
                <a14:m>
                  <m:oMath xmlns:m="http://schemas.openxmlformats.org/officeDocument/2006/math">
                    <m:r>
                      <a:rPr lang="pt-BR" sz="1200" i="1" kern="1200">
                        <a:solidFill>
                          <a:schemeClr val="tx1"/>
                        </a:solidFill>
                        <a:latin typeface="Cambria Math" panose="02040503050406030204" pitchFamily="18" charset="0"/>
                        <a:ea typeface="+mn-ea"/>
                        <a:cs typeface="+mn-cs"/>
                      </a:rPr>
                      <m:t>𝑗</m:t>
                    </m:r>
                  </m:oMath>
                </a14:m>
                <a:r>
                  <a:rPr lang="pt-BR" dirty="0"/>
                  <a:t>para </a:t>
                </a:r>
                <a14:m>
                  <m:oMath xmlns:m="http://schemas.openxmlformats.org/officeDocument/2006/math">
                    <m:r>
                      <a:rPr lang="pt-BR" sz="1200" i="1" kern="1200">
                        <a:solidFill>
                          <a:schemeClr val="tx1"/>
                        </a:solidFill>
                        <a:latin typeface="Cambria Math" panose="02040503050406030204" pitchFamily="18" charset="0"/>
                        <a:ea typeface="+mn-ea"/>
                        <a:cs typeface="+mn-cs"/>
                      </a:rPr>
                      <m:t>𝑝</m:t>
                    </m:r>
                  </m:oMath>
                </a14:m>
                <a:r>
                  <a:rPr lang="pt-BR" dirty="0"/>
                  <a:t>, também não precisa mais receber todos os canais antigos como entrada, ela recebe apenas os canais ativos. Esse ajuste aparece no termo </a:t>
                </a:r>
                <a14:m>
                  <m:oMath xmlns:m="http://schemas.openxmlformats.org/officeDocument/2006/math">
                    <m:sSubSup>
                      <m:sSubSupPr>
                        <m:ctrlPr>
                          <a:rPr lang="ar-AE" sz="1200" i="1" kern="1200">
                            <a:solidFill>
                              <a:schemeClr val="tx1"/>
                            </a:solidFill>
                            <a:latin typeface="Cambria Math" panose="02040503050406030204" pitchFamily="18" charset="0"/>
                            <a:ea typeface="+mn-ea"/>
                            <a:cs typeface="+mn-cs"/>
                          </a:rPr>
                        </m:ctrlPr>
                      </m:sSubSupPr>
                      <m:e>
                        <m:r>
                          <a:rPr lang="ar-AE" sz="1200" i="1" kern="1200">
                            <a:solidFill>
                              <a:schemeClr val="tx1"/>
                            </a:solidFill>
                            <a:latin typeface="Cambria Math" panose="02040503050406030204" pitchFamily="18" charset="0"/>
                            <a:ea typeface="+mn-ea"/>
                            <a:cs typeface="+mn-cs"/>
                          </a:rPr>
                          <m:t>𝑊</m:t>
                        </m:r>
                      </m:e>
                      <m:sub>
                        <m:r>
                          <a:rPr lang="ar-AE" sz="1200" i="1" kern="1200">
                            <a:solidFill>
                              <a:schemeClr val="tx1"/>
                            </a:solidFill>
                            <a:latin typeface="Cambria Math" panose="02040503050406030204" pitchFamily="18" charset="0"/>
                            <a:ea typeface="+mn-ea"/>
                            <a:cs typeface="+mn-cs"/>
                          </a:rPr>
                          <m:t>𝑔𝑗</m:t>
                        </m:r>
                      </m:sub>
                      <m:sup>
                        <m:d>
                          <m:dPr>
                            <m:sepChr m:val=","/>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1" kern="1200">
                                    <a:solidFill>
                                      <a:schemeClr val="tx1"/>
                                    </a:solidFill>
                                    <a:latin typeface="Cambria Math" panose="02040503050406030204" pitchFamily="18" charset="0"/>
                                    <a:ea typeface="+mn-ea"/>
                                    <a:cs typeface="+mn-cs"/>
                                  </a:rPr>
                                  <m:t>𝑔</m:t>
                                </m:r>
                              </m:sub>
                            </m:sSub>
                          </m:e>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1" kern="1200">
                                    <a:solidFill>
                                      <a:schemeClr val="tx1"/>
                                    </a:solidFill>
                                    <a:latin typeface="Cambria Math" panose="02040503050406030204" pitchFamily="18" charset="0"/>
                                    <a:ea typeface="+mn-ea"/>
                                    <a:cs typeface="+mn-cs"/>
                                  </a:rPr>
                                  <m:t>𝑗</m:t>
                                </m:r>
                              </m:sub>
                            </m:sSub>
                          </m:e>
                        </m:d>
                      </m:sup>
                    </m:sSubSup>
                  </m:oMath>
                </a14:m>
                <a:r>
                  <a:rPr lang="ar-AE" dirty="0"/>
                  <a:t>, </a:t>
                </a:r>
                <a:r>
                  <a:rPr lang="pt-BR" dirty="0"/>
                  <a:t>que é justamente o peso da convolução já refinado para os canais ativos de entrada e saída.</a:t>
                </a:r>
              </a:p>
              <a:p>
                <a:r>
                  <a:rPr lang="pt-BR" dirty="0"/>
                  <a:t>O ponto principal é que o </a:t>
                </a:r>
                <a:r>
                  <a:rPr lang="pt-BR" dirty="0" err="1"/>
                  <a:t>EasyNAS</a:t>
                </a:r>
                <a:r>
                  <a:rPr lang="pt-BR" dirty="0"/>
                  <a:t> não mantém canais inativos com zero-</a:t>
                </a:r>
                <a:r>
                  <a:rPr lang="pt-BR" dirty="0" err="1"/>
                  <a:t>padding</a:t>
                </a:r>
                <a:r>
                  <a:rPr lang="pt-BR" dirty="0"/>
                  <a:t>. Ele refina dinamicamente os pesos </a:t>
                </a:r>
                <a14:m>
                  <m:oMath xmlns:m="http://schemas.openxmlformats.org/officeDocument/2006/math">
                    <m:r>
                      <a:rPr lang="pt-BR" sz="1200" i="1" kern="1200">
                        <a:solidFill>
                          <a:schemeClr val="tx1"/>
                        </a:solidFill>
                        <a:latin typeface="Cambria Math" panose="02040503050406030204" pitchFamily="18" charset="0"/>
                        <a:ea typeface="+mn-ea"/>
                        <a:cs typeface="+mn-cs"/>
                      </a:rPr>
                      <m:t>𝑊</m:t>
                    </m:r>
                  </m:oMath>
                </a14:m>
                <a:r>
                  <a:rPr lang="pt-BR" dirty="0"/>
                  <a:t>das camadas adjacentes, o que reduz custo computacional durante a busca.</a:t>
                </a:r>
              </a:p>
            </p:txBody>
          </p:sp>
        </mc:Choice>
        <mc:Fallback xmlns="">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dirty="0"/>
                  <a:t>A posição das antenas é variável importante porque, neste </a:t>
                </a:r>
                <a:r>
                  <a:rPr lang="pt-BR" dirty="0" err="1"/>
                  <a:t>paper</a:t>
                </a:r>
                <a:r>
                  <a:rPr lang="pt-BR" dirty="0"/>
                  <a:t>, a BS não é um arranjo fixo tradicional. As </a:t>
                </a:r>
                <a:r>
                  <a:rPr lang="pt-BR" dirty="0" err="1"/>
                  <a:t>fluid</a:t>
                </a:r>
                <a:r>
                  <a:rPr lang="pt-BR" dirty="0"/>
                  <a:t> </a:t>
                </a:r>
                <a:r>
                  <a:rPr lang="pt-BR" dirty="0" err="1"/>
                  <a:t>antennas</a:t>
                </a:r>
                <a:r>
                  <a:rPr lang="pt-BR" dirty="0"/>
                  <a:t> podem se mover dentro de um painel. Isso altera o canal sem fio. Então, diferente de um sistema MIMO convencional em que a geometria é fixa, aqui a geometria da BS é parte do problema de otimização.</a:t>
                </a:r>
              </a:p>
              <a:p>
                <a:pPr marL="171450" indent="-171450">
                  <a:buFont typeface="Arial" panose="020B0604020202020204" pitchFamily="34" charset="0"/>
                  <a:buChar char="•"/>
                </a:pPr>
                <a:r>
                  <a:rPr lang="pt-BR" dirty="0"/>
                  <a:t>Aqui no lado esquerdo do slide estão as definições matemáticas das posições dessas antenas. O vetor </a:t>
                </a:r>
                <a:r>
                  <a:rPr lang="ar-AE" sz="1200" b="1" i="0" kern="1200">
                    <a:solidFill>
                      <a:schemeClr val="tx1"/>
                    </a:solidFill>
                    <a:latin typeface="+mn-lt"/>
                    <a:ea typeface="+mn-ea"/>
                    <a:cs typeface="+mn-cs"/>
                  </a:rPr>
                  <a:t>𝐭_(</a:t>
                </a:r>
                <a:r>
                  <a:rPr lang="ar-AE" sz="1200" b="0" i="0" kern="1200">
                    <a:solidFill>
                      <a:schemeClr val="tx1"/>
                    </a:solidFill>
                    <a:latin typeface="+mn-lt"/>
                    <a:ea typeface="+mn-ea"/>
                    <a:cs typeface="+mn-cs"/>
                  </a:rPr>
                  <a:t>𝑢,𝑎</a:t>
                </a:r>
                <a:r>
                  <a:rPr lang="ar-AE" sz="1200" b="1" i="0" kern="1200">
                    <a:solidFill>
                      <a:schemeClr val="tx1"/>
                    </a:solidFill>
                    <a:latin typeface="+mn-lt"/>
                    <a:ea typeface="+mn-ea"/>
                    <a:cs typeface="+mn-cs"/>
                  </a:rPr>
                  <a:t>)</a:t>
                </a:r>
                <a:r>
                  <a:rPr lang="pt-BR" dirty="0"/>
                  <a:t>representa a posição da antena </a:t>
                </a:r>
                <a:r>
                  <a:rPr lang="pt-BR" sz="1200" i="0" kern="1200">
                    <a:solidFill>
                      <a:schemeClr val="tx1"/>
                    </a:solidFill>
                    <a:latin typeface="+mn-lt"/>
                    <a:ea typeface="+mn-ea"/>
                    <a:cs typeface="+mn-cs"/>
                  </a:rPr>
                  <a:t>𝑎</a:t>
                </a:r>
                <a:r>
                  <a:rPr lang="pt-BR" dirty="0"/>
                  <a:t>do usuário </a:t>
                </a:r>
                <a:r>
                  <a:rPr lang="pt-BR" sz="1200" i="0" kern="1200">
                    <a:solidFill>
                      <a:schemeClr val="tx1"/>
                    </a:solidFill>
                    <a:latin typeface="+mn-lt"/>
                    <a:ea typeface="+mn-ea"/>
                    <a:cs typeface="+mn-cs"/>
                  </a:rPr>
                  <a:t>𝑢</a:t>
                </a:r>
                <a:r>
                  <a:rPr lang="pt-BR" dirty="0"/>
                  <a:t>, com coordenadas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 O </a:t>
                </a:r>
                <a:r>
                  <a:rPr lang="pt-BR" dirty="0" err="1"/>
                  <a:t>paper</a:t>
                </a:r>
                <a:r>
                  <a:rPr lang="pt-BR" dirty="0"/>
                  <a:t> agrupa todas essas posições na matriz </a:t>
                </a:r>
                <a:r>
                  <a:rPr lang="pt-BR" sz="1200" b="1" i="0" kern="1200">
                    <a:solidFill>
                      <a:schemeClr val="tx1"/>
                    </a:solidFill>
                    <a:latin typeface="+mn-lt"/>
                    <a:ea typeface="+mn-ea"/>
                    <a:cs typeface="+mn-cs"/>
                  </a:rPr>
                  <a:t>𝐓</a:t>
                </a:r>
                <a:r>
                  <a:rPr lang="pt-BR" dirty="0"/>
                  <a:t>. Já a posição da </a:t>
                </a:r>
                <a:r>
                  <a:rPr lang="pt-BR" dirty="0" err="1"/>
                  <a:t>fluid</a:t>
                </a:r>
                <a:r>
                  <a:rPr lang="pt-BR" dirty="0"/>
                  <a:t> </a:t>
                </a:r>
                <a:r>
                  <a:rPr lang="pt-BR" dirty="0" err="1"/>
                  <a:t>antenna</a:t>
                </a:r>
                <a:r>
                  <a:rPr lang="pt-BR" dirty="0"/>
                  <a:t> </a:t>
                </a:r>
                <a:r>
                  <a:rPr lang="pt-BR" sz="1200" i="0" kern="1200">
                    <a:solidFill>
                      <a:schemeClr val="tx1"/>
                    </a:solidFill>
                    <a:latin typeface="+mn-lt"/>
                    <a:ea typeface="+mn-ea"/>
                    <a:cs typeface="+mn-cs"/>
                  </a:rPr>
                  <a:t>𝑚</a:t>
                </a:r>
                <a:r>
                  <a:rPr lang="pt-BR" dirty="0"/>
                  <a:t>da BS é representada por </a:t>
                </a:r>
                <a:r>
                  <a:rPr lang="ar-AE" sz="1200" b="1" i="0" kern="1200">
                    <a:solidFill>
                      <a:schemeClr val="tx1"/>
                    </a:solidFill>
                    <a:latin typeface="+mn-lt"/>
                    <a:ea typeface="+mn-ea"/>
                    <a:cs typeface="+mn-cs"/>
                  </a:rPr>
                  <a:t>𝐫_</a:t>
                </a:r>
                <a:r>
                  <a:rPr lang="ar-AE" sz="1200" b="0" i="0" kern="1200">
                    <a:solidFill>
                      <a:schemeClr val="tx1"/>
                    </a:solidFill>
                    <a:latin typeface="+mn-lt"/>
                    <a:ea typeface="+mn-ea"/>
                    <a:cs typeface="+mn-cs"/>
                  </a:rPr>
                  <a:t>𝑚</a:t>
                </a:r>
                <a:r>
                  <a:rPr lang="ar-AE" dirty="0"/>
                  <a:t>, </a:t>
                </a:r>
                <a:r>
                  <a:rPr lang="pt-BR" dirty="0"/>
                  <a:t>e todas as posições da BS são agrupadas na matriz </a:t>
                </a:r>
                <a:r>
                  <a:rPr lang="pt-BR" sz="1200" b="1" i="0" kern="1200">
                    <a:solidFill>
                      <a:schemeClr val="tx1"/>
                    </a:solidFill>
                    <a:latin typeface="+mn-lt"/>
                    <a:ea typeface="+mn-ea"/>
                    <a:cs typeface="+mn-cs"/>
                  </a:rPr>
                  <a:t>𝐑</a:t>
                </a:r>
                <a:r>
                  <a:rPr lang="pt-BR" dirty="0"/>
                  <a:t>.</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Outro ponto importante é que o sistema usa </a:t>
                </a:r>
                <a:r>
                  <a:rPr lang="pt-BR" dirty="0" err="1"/>
                  <a:t>space-division</a:t>
                </a:r>
                <a:r>
                  <a:rPr lang="pt-BR" dirty="0"/>
                  <a:t> </a:t>
                </a:r>
                <a:r>
                  <a:rPr lang="pt-BR" dirty="0" err="1"/>
                  <a:t>multiple</a:t>
                </a:r>
                <a:r>
                  <a:rPr lang="pt-BR" dirty="0"/>
                  <a:t> </a:t>
                </a:r>
                <a:r>
                  <a:rPr lang="pt-BR" dirty="0" err="1"/>
                  <a:t>access</a:t>
                </a:r>
                <a:r>
                  <a:rPr lang="pt-BR" dirty="0"/>
                  <a:t>. Isso significa que vários usuários podem se comunicar com a base </a:t>
                </a:r>
                <a:r>
                  <a:rPr lang="pt-BR" dirty="0" err="1"/>
                  <a:t>station</a:t>
                </a:r>
                <a:r>
                  <a:rPr lang="pt-BR" dirty="0"/>
                  <a:t> ao mesmo tempo, explorando separação espacial.</a:t>
                </a:r>
              </a:p>
              <a:p>
                <a:pPr marL="171450" indent="-171450">
                  <a:buFont typeface="Arial" panose="020B0604020202020204" pitchFamily="34" charset="0"/>
                  <a:buChar char="•"/>
                </a:pPr>
                <a:r>
                  <a:rPr lang="pt-BR" dirty="0"/>
                  <a:t>Além disso, existe um servidor no sistema, e esse servidor é quem executa a parte pesada da inferência do </a:t>
                </a:r>
                <a:r>
                  <a:rPr lang="pt-BR" dirty="0" err="1"/>
                  <a:t>large</a:t>
                </a:r>
                <a:r>
                  <a:rPr lang="pt-BR" dirty="0"/>
                  <a:t> model. A outra parte é executada no cliente.</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Por fim, o </a:t>
                </a:r>
                <a:r>
                  <a:rPr lang="pt-BR" dirty="0" err="1"/>
                  <a:t>paper</a:t>
                </a:r>
                <a:r>
                  <a:rPr lang="pt-BR" dirty="0"/>
                  <a:t> assume que o tempo necessário para ajustar a posição das </a:t>
                </a:r>
                <a:r>
                  <a:rPr lang="pt-BR" dirty="0" err="1"/>
                  <a:t>fluid</a:t>
                </a:r>
                <a:r>
                  <a:rPr lang="pt-BR" dirty="0"/>
                  <a:t> </a:t>
                </a:r>
                <a:r>
                  <a:rPr lang="pt-BR" dirty="0" err="1"/>
                  <a:t>antennas</a:t>
                </a:r>
                <a:r>
                  <a:rPr lang="pt-BR" dirty="0"/>
                  <a:t> é desprezível. Em outras palavras, eles ignoram esse custo mecânico ou físico e consideram apenas o ganho que o reposicionamento traz para o canal e para a taxa de transmissão.</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Pense em um painel retangular na BS, e cada </a:t>
                </a:r>
                <a:r>
                  <a:rPr lang="pt-BR" dirty="0" err="1"/>
                  <a:t>fluid</a:t>
                </a:r>
                <a:r>
                  <a:rPr lang="pt-BR" dirty="0"/>
                  <a:t> </a:t>
                </a:r>
                <a:r>
                  <a:rPr lang="pt-BR" dirty="0" err="1"/>
                  <a:t>antenna</a:t>
                </a:r>
                <a:r>
                  <a:rPr lang="pt-BR" dirty="0"/>
                  <a:t> pode “andar” nesse painel em duas direções,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a:t>
                </a:r>
                <a:br>
                  <a:rPr lang="pt-BR" dirty="0"/>
                </a:br>
                <a:r>
                  <a:rPr lang="pt-BR" dirty="0"/>
                  <a:t>a modelagem não está nesse nível discreto de “</a:t>
                </a:r>
                <a:r>
                  <a:rPr lang="pt-BR" dirty="0" err="1"/>
                  <a:t>port</a:t>
                </a:r>
                <a:r>
                  <a:rPr lang="pt-BR" dirty="0"/>
                  <a:t> 1, </a:t>
                </a:r>
                <a:r>
                  <a:rPr lang="pt-BR" dirty="0" err="1"/>
                  <a:t>port</a:t>
                </a:r>
                <a:r>
                  <a:rPr lang="pt-BR" dirty="0"/>
                  <a:t> 2, </a:t>
                </a:r>
                <a:r>
                  <a:rPr lang="pt-BR" dirty="0" err="1"/>
                  <a:t>port</a:t>
                </a:r>
                <a:r>
                  <a:rPr lang="pt-BR" dirty="0"/>
                  <a:t> 3...”, é como uma antena 2d, porém em termos de x e y</a:t>
                </a:r>
              </a:p>
            </p:txBody>
          </p:sp>
        </mc:Fallback>
      </mc:AlternateContent>
      <p:sp>
        <p:nvSpPr>
          <p:cNvPr id="4" name="Slide Number Placeholder 3">
            <a:extLst>
              <a:ext uri="{FF2B5EF4-FFF2-40B4-BE49-F238E27FC236}">
                <a16:creationId xmlns:a16="http://schemas.microsoft.com/office/drawing/2014/main" id="{6E6DEA67-A284-D2CE-0D7E-242676648423}"/>
              </a:ext>
            </a:extLst>
          </p:cNvPr>
          <p:cNvSpPr>
            <a:spLocks noGrp="1"/>
          </p:cNvSpPr>
          <p:nvPr>
            <p:ph type="sldNum" sz="quarter" idx="5"/>
          </p:nvPr>
        </p:nvSpPr>
        <p:spPr/>
        <p:txBody>
          <a:bodyPr/>
          <a:lstStyle/>
          <a:p>
            <a:fld id="{6FC8D850-966F-45A6-8DE7-15B891E7D40D}" type="slidenum">
              <a:rPr lang="pt-BR" smtClean="0"/>
              <a:t>14</a:t>
            </a:fld>
            <a:endParaRPr lang="pt-BR"/>
          </a:p>
        </p:txBody>
      </p:sp>
    </p:spTree>
    <p:extLst>
      <p:ext uri="{BB962C8B-B14F-4D97-AF65-F5344CB8AC3E}">
        <p14:creationId xmlns:p14="http://schemas.microsoft.com/office/powerpoint/2010/main" val="3017872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2180B-0EB7-5E3B-7ABA-618B6F926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CBA082-792E-46EF-BDFC-392AA6FE13A5}"/>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DF6524F-E527-A43A-2D8D-D94EB4E535C1}"/>
                  </a:ext>
                </a:extLst>
              </p:cNvPr>
              <p:cNvSpPr>
                <a:spLocks noGrp="1"/>
              </p:cNvSpPr>
              <p:nvPr>
                <p:ph type="body" idx="1"/>
              </p:nvPr>
            </p:nvSpPr>
            <p:spPr/>
            <p:txBody>
              <a:bodyPr/>
              <a:lstStyle/>
              <a:p>
                <a:r>
                  <a:rPr lang="pt-BR" dirty="0"/>
                  <a:t>Esse slide resume o treinamento do </a:t>
                </a:r>
                <a:r>
                  <a:rPr lang="pt-BR" dirty="0" err="1"/>
                  <a:t>EasyNAS</a:t>
                </a:r>
                <a:r>
                  <a:rPr lang="pt-BR" dirty="0"/>
                  <a:t>. Primeiro, o </a:t>
                </a:r>
                <a:r>
                  <a:rPr lang="pt-BR" dirty="0" err="1"/>
                  <a:t>search</a:t>
                </a:r>
                <a:r>
                  <a:rPr lang="pt-BR" dirty="0"/>
                  <a:t> </a:t>
                </a:r>
                <a:r>
                  <a:rPr lang="pt-BR" dirty="0" err="1"/>
                  <a:t>space</a:t>
                </a:r>
                <a:r>
                  <a:rPr lang="pt-BR" dirty="0"/>
                  <a:t> definido pelo usuário é convertido em um </a:t>
                </a:r>
                <a:r>
                  <a:rPr lang="pt-BR" dirty="0" err="1"/>
                  <a:t>supernet</a:t>
                </a:r>
                <a:r>
                  <a:rPr lang="pt-BR" dirty="0"/>
                  <a:t> composto pelos </a:t>
                </a:r>
                <a:r>
                  <a:rPr lang="pt-BR" dirty="0" err="1"/>
                  <a:t>atomic</a:t>
                </a:r>
                <a:r>
                  <a:rPr lang="pt-BR" dirty="0"/>
                  <a:t> </a:t>
                </a:r>
                <a:r>
                  <a:rPr lang="pt-BR" dirty="0" err="1"/>
                  <a:t>search</a:t>
                </a:r>
                <a:r>
                  <a:rPr lang="pt-BR" dirty="0"/>
                  <a:t> </a:t>
                </a:r>
                <a:r>
                  <a:rPr lang="pt-BR" dirty="0" err="1"/>
                  <a:t>components</a:t>
                </a:r>
                <a:r>
                  <a:rPr lang="pt-BR" dirty="0"/>
                  <a:t>. Depois, são inicializados dois grupos de variáveis: de um lado, os pesos compartilhados da rede, representados por </a:t>
                </a:r>
                <a14:m>
                  <m:oMath xmlns:m="http://schemas.openxmlformats.org/officeDocument/2006/math">
                    <m:r>
                      <a:rPr lang="pt-BR" sz="1200" i="1" kern="1200">
                        <a:solidFill>
                          <a:schemeClr val="tx1"/>
                        </a:solidFill>
                        <a:latin typeface="Cambria Math" panose="02040503050406030204" pitchFamily="18" charset="0"/>
                        <a:ea typeface="+mn-ea"/>
                        <a:cs typeface="+mn-cs"/>
                      </a:rPr>
                      <m:t>𝑊</m:t>
                    </m:r>
                  </m:oMath>
                </a14:m>
                <a:r>
                  <a:rPr lang="pt-BR" dirty="0"/>
                  <a:t>, e de outro os parâmetros arquiteturais, </a:t>
                </a:r>
                <a14:m>
                  <m:oMath xmlns:m="http://schemas.openxmlformats.org/officeDocument/2006/math">
                    <m:r>
                      <a:rPr lang="pt-BR" sz="1200" i="1" kern="1200">
                        <a:solidFill>
                          <a:schemeClr val="tx1"/>
                        </a:solidFill>
                        <a:latin typeface="Cambria Math" panose="02040503050406030204" pitchFamily="18" charset="0"/>
                        <a:ea typeface="+mn-ea"/>
                        <a:cs typeface="+mn-cs"/>
                      </a:rPr>
                      <m:t>𝛼</m:t>
                    </m:r>
                  </m:oMath>
                </a14:m>
                <a:r>
                  <a:rPr lang="pt-BR" dirty="0"/>
                  <a:t>, </a:t>
                </a:r>
                <a14:m>
                  <m:oMath xmlns:m="http://schemas.openxmlformats.org/officeDocument/2006/math">
                    <m:r>
                      <a:rPr lang="pt-BR" sz="1200" i="1" kern="1200">
                        <a:solidFill>
                          <a:schemeClr val="tx1"/>
                        </a:solidFill>
                        <a:latin typeface="Cambria Math" panose="02040503050406030204" pitchFamily="18" charset="0"/>
                        <a:ea typeface="+mn-ea"/>
                        <a:cs typeface="+mn-cs"/>
                      </a:rPr>
                      <m:t>𝛽</m:t>
                    </m:r>
                  </m:oMath>
                </a14:m>
                <a:r>
                  <a:rPr lang="pt-BR" dirty="0"/>
                  <a:t>e </a:t>
                </a:r>
                <a14:m>
                  <m:oMath xmlns:m="http://schemas.openxmlformats.org/officeDocument/2006/math">
                    <m:r>
                      <a:rPr lang="pt-BR" sz="1200" i="1" kern="1200">
                        <a:solidFill>
                          <a:schemeClr val="tx1"/>
                        </a:solidFill>
                        <a:latin typeface="Cambria Math" panose="02040503050406030204" pitchFamily="18" charset="0"/>
                        <a:ea typeface="+mn-ea"/>
                        <a:cs typeface="+mn-cs"/>
                      </a:rPr>
                      <m:t>𝛾</m:t>
                    </m:r>
                  </m:oMath>
                </a14:m>
                <a:r>
                  <a:rPr lang="pt-BR" dirty="0"/>
                  <a:t>, que controlam operação, conexão e redução de canais.</a:t>
                </a:r>
              </a:p>
              <a:p>
                <a:r>
                  <a:rPr lang="pt-BR" dirty="0"/>
                  <a:t>Durante a busca, o primeiro passo de cada iteração é normalizar esses parâmetros arquiteturais. Em seguida, o método amostra as taxas de redução de canais usando </a:t>
                </a:r>
                <a:r>
                  <a:rPr lang="pt-BR" dirty="0" err="1"/>
                  <a:t>Gumbel-Softmax</a:t>
                </a:r>
                <a:r>
                  <a:rPr lang="pt-BR" dirty="0"/>
                  <a:t> ou </a:t>
                </a:r>
                <a:r>
                  <a:rPr lang="pt-BR" dirty="0" err="1"/>
                  <a:t>Gumbel-Argmax</a:t>
                </a:r>
                <a:r>
                  <a:rPr lang="pt-BR" dirty="0"/>
                  <a:t>. Com essas taxas amostradas, os pesos das convoluções adjacentes são refinados para operar apenas com os canais ativos.</a:t>
                </a:r>
              </a:p>
              <a:p>
                <a:r>
                  <a:rPr lang="pt-BR" dirty="0"/>
                  <a:t>Depois disso, o método forma a operação efetiva por </a:t>
                </a:r>
                <a:r>
                  <a:rPr lang="pt-BR" dirty="0" err="1"/>
                  <a:t>operator</a:t>
                </a:r>
                <a:r>
                  <a:rPr lang="pt-BR" dirty="0"/>
                  <a:t> </a:t>
                </a:r>
                <a:r>
                  <a:rPr lang="pt-BR" dirty="0" err="1"/>
                  <a:t>merging</a:t>
                </a:r>
                <a:r>
                  <a:rPr lang="pt-BR" dirty="0"/>
                  <a:t>, combinando as máscaras das operações candidatas com os pesos </a:t>
                </a:r>
                <a14:m>
                  <m:oMath xmlns:m="http://schemas.openxmlformats.org/officeDocument/2006/math">
                    <m:acc>
                      <m:accPr>
                        <m:chr m:val="̂"/>
                        <m:ctrlPr>
                          <a:rPr lang="ar-AE" sz="1200" i="1" kern="1200">
                            <a:solidFill>
                              <a:schemeClr val="tx1"/>
                            </a:solidFill>
                            <a:latin typeface="Cambria Math" panose="02040503050406030204" pitchFamily="18" charset="0"/>
                            <a:ea typeface="+mn-ea"/>
                            <a:cs typeface="+mn-cs"/>
                          </a:rPr>
                        </m:ctrlPr>
                      </m:accPr>
                      <m:e>
                        <m:r>
                          <a:rPr lang="ar-AE" sz="1200" i="1" kern="1200">
                            <a:solidFill>
                              <a:schemeClr val="tx1"/>
                            </a:solidFill>
                            <a:latin typeface="Cambria Math" panose="02040503050406030204" pitchFamily="18" charset="0"/>
                            <a:ea typeface="+mn-ea"/>
                            <a:cs typeface="+mn-cs"/>
                          </a:rPr>
                          <m:t>𝛼</m:t>
                        </m:r>
                      </m:e>
                    </m:acc>
                  </m:oMath>
                </a14:m>
                <a:r>
                  <a:rPr lang="ar-AE" dirty="0"/>
                  <a:t>. </a:t>
                </a:r>
                <a:r>
                  <a:rPr lang="pt-BR" dirty="0"/>
                  <a:t>A partir daí, executa o </a:t>
                </a:r>
                <a:r>
                  <a:rPr lang="pt-BR" dirty="0" err="1"/>
                  <a:t>forward</a:t>
                </a:r>
                <a:r>
                  <a:rPr lang="pt-BR" dirty="0"/>
                  <a:t> do </a:t>
                </a:r>
                <a:r>
                  <a:rPr lang="pt-BR" dirty="0" err="1"/>
                  <a:t>supernet</a:t>
                </a:r>
                <a:r>
                  <a:rPr lang="pt-BR" dirty="0"/>
                  <a:t> já com as operações mescladas e com os canais refinados.</a:t>
                </a:r>
              </a:p>
              <a:p>
                <a:r>
                  <a:rPr lang="pt-BR" dirty="0"/>
                  <a:t>A otimização é alternada. Os pesos da rede </a:t>
                </a:r>
                <a14:m>
                  <m:oMath xmlns:m="http://schemas.openxmlformats.org/officeDocument/2006/math">
                    <m:r>
                      <a:rPr lang="pt-BR" sz="1200" i="1" kern="1200">
                        <a:solidFill>
                          <a:schemeClr val="tx1"/>
                        </a:solidFill>
                        <a:latin typeface="Cambria Math" panose="02040503050406030204" pitchFamily="18" charset="0"/>
                        <a:ea typeface="+mn-ea"/>
                        <a:cs typeface="+mn-cs"/>
                      </a:rPr>
                      <m:t>𝑊</m:t>
                    </m:r>
                  </m:oMath>
                </a14:m>
                <a:r>
                  <a:rPr lang="pt-BR" dirty="0"/>
                  <a:t>são atualizados com os dados de treino, enquanto os parâmetros arquiteturais </a:t>
                </a:r>
                <a14:m>
                  <m:oMath xmlns:m="http://schemas.openxmlformats.org/officeDocument/2006/math">
                    <m:r>
                      <a:rPr lang="pt-BR" sz="1200" i="1" kern="1200">
                        <a:solidFill>
                          <a:schemeClr val="tx1"/>
                        </a:solidFill>
                        <a:latin typeface="Cambria Math" panose="02040503050406030204" pitchFamily="18" charset="0"/>
                        <a:ea typeface="+mn-ea"/>
                        <a:cs typeface="+mn-cs"/>
                      </a:rPr>
                      <m:t>𝛼</m:t>
                    </m:r>
                  </m:oMath>
                </a14:m>
                <a:r>
                  <a:rPr lang="pt-BR" dirty="0"/>
                  <a:t>, </a:t>
                </a:r>
                <a14:m>
                  <m:oMath xmlns:m="http://schemas.openxmlformats.org/officeDocument/2006/math">
                    <m:r>
                      <a:rPr lang="pt-BR" sz="1200" i="1" kern="1200">
                        <a:solidFill>
                          <a:schemeClr val="tx1"/>
                        </a:solidFill>
                        <a:latin typeface="Cambria Math" panose="02040503050406030204" pitchFamily="18" charset="0"/>
                        <a:ea typeface="+mn-ea"/>
                        <a:cs typeface="+mn-cs"/>
                      </a:rPr>
                      <m:t>𝛽</m:t>
                    </m:r>
                  </m:oMath>
                </a14:m>
                <a:r>
                  <a:rPr lang="pt-BR" dirty="0"/>
                  <a:t>e </a:t>
                </a:r>
                <a14:m>
                  <m:oMath xmlns:m="http://schemas.openxmlformats.org/officeDocument/2006/math">
                    <m:r>
                      <a:rPr lang="pt-BR" sz="1200" i="1" kern="1200">
                        <a:solidFill>
                          <a:schemeClr val="tx1"/>
                        </a:solidFill>
                        <a:latin typeface="Cambria Math" panose="02040503050406030204" pitchFamily="18" charset="0"/>
                        <a:ea typeface="+mn-ea"/>
                        <a:cs typeface="+mn-cs"/>
                      </a:rPr>
                      <m:t>𝛾</m:t>
                    </m:r>
                  </m:oMath>
                </a14:m>
                <a:r>
                  <a:rPr lang="pt-BR" dirty="0"/>
                  <a:t>são atualizados com os dados de validação. No final da busca, a arquitetura contínua do </a:t>
                </a:r>
                <a:r>
                  <a:rPr lang="pt-BR" dirty="0" err="1"/>
                  <a:t>supernet</a:t>
                </a:r>
                <a:r>
                  <a:rPr lang="pt-BR" dirty="0"/>
                  <a:t> é discretizada, escolhendo as conexões, operações e reduções de canais mais relevantes. Isso gera a arquitetura final.</a:t>
                </a:r>
              </a:p>
            </p:txBody>
          </p:sp>
        </mc:Choice>
        <mc:Fallback xmlns="">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dirty="0"/>
                  <a:t>A posição das antenas é variável importante porque, neste </a:t>
                </a:r>
                <a:r>
                  <a:rPr lang="pt-BR" dirty="0" err="1"/>
                  <a:t>paper</a:t>
                </a:r>
                <a:r>
                  <a:rPr lang="pt-BR" dirty="0"/>
                  <a:t>, a BS não é um arranjo fixo tradicional. As </a:t>
                </a:r>
                <a:r>
                  <a:rPr lang="pt-BR" dirty="0" err="1"/>
                  <a:t>fluid</a:t>
                </a:r>
                <a:r>
                  <a:rPr lang="pt-BR" dirty="0"/>
                  <a:t> </a:t>
                </a:r>
                <a:r>
                  <a:rPr lang="pt-BR" dirty="0" err="1"/>
                  <a:t>antennas</a:t>
                </a:r>
                <a:r>
                  <a:rPr lang="pt-BR" dirty="0"/>
                  <a:t> podem se mover dentro de um painel. Isso altera o canal sem fio. Então, diferente de um sistema MIMO convencional em que a geometria é fixa, aqui a geometria da BS é parte do problema de otimização.</a:t>
                </a:r>
              </a:p>
              <a:p>
                <a:pPr marL="171450" indent="-171450">
                  <a:buFont typeface="Arial" panose="020B0604020202020204" pitchFamily="34" charset="0"/>
                  <a:buChar char="•"/>
                </a:pPr>
                <a:r>
                  <a:rPr lang="pt-BR" dirty="0"/>
                  <a:t>Aqui no lado esquerdo do slide estão as definições matemáticas das posições dessas antenas. O vetor </a:t>
                </a:r>
                <a:r>
                  <a:rPr lang="ar-AE" sz="1200" b="1" i="0" kern="1200">
                    <a:solidFill>
                      <a:schemeClr val="tx1"/>
                    </a:solidFill>
                    <a:latin typeface="+mn-lt"/>
                    <a:ea typeface="+mn-ea"/>
                    <a:cs typeface="+mn-cs"/>
                  </a:rPr>
                  <a:t>𝐭_(</a:t>
                </a:r>
                <a:r>
                  <a:rPr lang="ar-AE" sz="1200" b="0" i="0" kern="1200">
                    <a:solidFill>
                      <a:schemeClr val="tx1"/>
                    </a:solidFill>
                    <a:latin typeface="+mn-lt"/>
                    <a:ea typeface="+mn-ea"/>
                    <a:cs typeface="+mn-cs"/>
                  </a:rPr>
                  <a:t>𝑢,𝑎</a:t>
                </a:r>
                <a:r>
                  <a:rPr lang="ar-AE" sz="1200" b="1" i="0" kern="1200">
                    <a:solidFill>
                      <a:schemeClr val="tx1"/>
                    </a:solidFill>
                    <a:latin typeface="+mn-lt"/>
                    <a:ea typeface="+mn-ea"/>
                    <a:cs typeface="+mn-cs"/>
                  </a:rPr>
                  <a:t>)</a:t>
                </a:r>
                <a:r>
                  <a:rPr lang="pt-BR" dirty="0"/>
                  <a:t>representa a posição da antena </a:t>
                </a:r>
                <a:r>
                  <a:rPr lang="pt-BR" sz="1200" i="0" kern="1200">
                    <a:solidFill>
                      <a:schemeClr val="tx1"/>
                    </a:solidFill>
                    <a:latin typeface="+mn-lt"/>
                    <a:ea typeface="+mn-ea"/>
                    <a:cs typeface="+mn-cs"/>
                  </a:rPr>
                  <a:t>𝑎</a:t>
                </a:r>
                <a:r>
                  <a:rPr lang="pt-BR" dirty="0"/>
                  <a:t>do usuário </a:t>
                </a:r>
                <a:r>
                  <a:rPr lang="pt-BR" sz="1200" i="0" kern="1200">
                    <a:solidFill>
                      <a:schemeClr val="tx1"/>
                    </a:solidFill>
                    <a:latin typeface="+mn-lt"/>
                    <a:ea typeface="+mn-ea"/>
                    <a:cs typeface="+mn-cs"/>
                  </a:rPr>
                  <a:t>𝑢</a:t>
                </a:r>
                <a:r>
                  <a:rPr lang="pt-BR" dirty="0"/>
                  <a:t>, com coordenadas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 O </a:t>
                </a:r>
                <a:r>
                  <a:rPr lang="pt-BR" dirty="0" err="1"/>
                  <a:t>paper</a:t>
                </a:r>
                <a:r>
                  <a:rPr lang="pt-BR" dirty="0"/>
                  <a:t> agrupa todas essas posições na matriz </a:t>
                </a:r>
                <a:r>
                  <a:rPr lang="pt-BR" sz="1200" b="1" i="0" kern="1200">
                    <a:solidFill>
                      <a:schemeClr val="tx1"/>
                    </a:solidFill>
                    <a:latin typeface="+mn-lt"/>
                    <a:ea typeface="+mn-ea"/>
                    <a:cs typeface="+mn-cs"/>
                  </a:rPr>
                  <a:t>𝐓</a:t>
                </a:r>
                <a:r>
                  <a:rPr lang="pt-BR" dirty="0"/>
                  <a:t>. Já a posição da </a:t>
                </a:r>
                <a:r>
                  <a:rPr lang="pt-BR" dirty="0" err="1"/>
                  <a:t>fluid</a:t>
                </a:r>
                <a:r>
                  <a:rPr lang="pt-BR" dirty="0"/>
                  <a:t> </a:t>
                </a:r>
                <a:r>
                  <a:rPr lang="pt-BR" dirty="0" err="1"/>
                  <a:t>antenna</a:t>
                </a:r>
                <a:r>
                  <a:rPr lang="pt-BR" dirty="0"/>
                  <a:t> </a:t>
                </a:r>
                <a:r>
                  <a:rPr lang="pt-BR" sz="1200" i="0" kern="1200">
                    <a:solidFill>
                      <a:schemeClr val="tx1"/>
                    </a:solidFill>
                    <a:latin typeface="+mn-lt"/>
                    <a:ea typeface="+mn-ea"/>
                    <a:cs typeface="+mn-cs"/>
                  </a:rPr>
                  <a:t>𝑚</a:t>
                </a:r>
                <a:r>
                  <a:rPr lang="pt-BR" dirty="0"/>
                  <a:t>da BS é representada por </a:t>
                </a:r>
                <a:r>
                  <a:rPr lang="ar-AE" sz="1200" b="1" i="0" kern="1200">
                    <a:solidFill>
                      <a:schemeClr val="tx1"/>
                    </a:solidFill>
                    <a:latin typeface="+mn-lt"/>
                    <a:ea typeface="+mn-ea"/>
                    <a:cs typeface="+mn-cs"/>
                  </a:rPr>
                  <a:t>𝐫_</a:t>
                </a:r>
                <a:r>
                  <a:rPr lang="ar-AE" sz="1200" b="0" i="0" kern="1200">
                    <a:solidFill>
                      <a:schemeClr val="tx1"/>
                    </a:solidFill>
                    <a:latin typeface="+mn-lt"/>
                    <a:ea typeface="+mn-ea"/>
                    <a:cs typeface="+mn-cs"/>
                  </a:rPr>
                  <a:t>𝑚</a:t>
                </a:r>
                <a:r>
                  <a:rPr lang="ar-AE" dirty="0"/>
                  <a:t>, </a:t>
                </a:r>
                <a:r>
                  <a:rPr lang="pt-BR" dirty="0"/>
                  <a:t>e todas as posições da BS são agrupadas na matriz </a:t>
                </a:r>
                <a:r>
                  <a:rPr lang="pt-BR" sz="1200" b="1" i="0" kern="1200">
                    <a:solidFill>
                      <a:schemeClr val="tx1"/>
                    </a:solidFill>
                    <a:latin typeface="+mn-lt"/>
                    <a:ea typeface="+mn-ea"/>
                    <a:cs typeface="+mn-cs"/>
                  </a:rPr>
                  <a:t>𝐑</a:t>
                </a:r>
                <a:r>
                  <a:rPr lang="pt-BR" dirty="0"/>
                  <a:t>.</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Outro ponto importante é que o sistema usa </a:t>
                </a:r>
                <a:r>
                  <a:rPr lang="pt-BR" dirty="0" err="1"/>
                  <a:t>space-division</a:t>
                </a:r>
                <a:r>
                  <a:rPr lang="pt-BR" dirty="0"/>
                  <a:t> </a:t>
                </a:r>
                <a:r>
                  <a:rPr lang="pt-BR" dirty="0" err="1"/>
                  <a:t>multiple</a:t>
                </a:r>
                <a:r>
                  <a:rPr lang="pt-BR" dirty="0"/>
                  <a:t> </a:t>
                </a:r>
                <a:r>
                  <a:rPr lang="pt-BR" dirty="0" err="1"/>
                  <a:t>access</a:t>
                </a:r>
                <a:r>
                  <a:rPr lang="pt-BR" dirty="0"/>
                  <a:t>. Isso significa que vários usuários podem se comunicar com a base </a:t>
                </a:r>
                <a:r>
                  <a:rPr lang="pt-BR" dirty="0" err="1"/>
                  <a:t>station</a:t>
                </a:r>
                <a:r>
                  <a:rPr lang="pt-BR" dirty="0"/>
                  <a:t> ao mesmo tempo, explorando separação espacial.</a:t>
                </a:r>
              </a:p>
              <a:p>
                <a:pPr marL="171450" indent="-171450">
                  <a:buFont typeface="Arial" panose="020B0604020202020204" pitchFamily="34" charset="0"/>
                  <a:buChar char="•"/>
                </a:pPr>
                <a:r>
                  <a:rPr lang="pt-BR" dirty="0"/>
                  <a:t>Além disso, existe um servidor no sistema, e esse servidor é quem executa a parte pesada da inferência do </a:t>
                </a:r>
                <a:r>
                  <a:rPr lang="pt-BR" dirty="0" err="1"/>
                  <a:t>large</a:t>
                </a:r>
                <a:r>
                  <a:rPr lang="pt-BR" dirty="0"/>
                  <a:t> model. A outra parte é executada no cliente.</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Por fim, o </a:t>
                </a:r>
                <a:r>
                  <a:rPr lang="pt-BR" dirty="0" err="1"/>
                  <a:t>paper</a:t>
                </a:r>
                <a:r>
                  <a:rPr lang="pt-BR" dirty="0"/>
                  <a:t> assume que o tempo necessário para ajustar a posição das </a:t>
                </a:r>
                <a:r>
                  <a:rPr lang="pt-BR" dirty="0" err="1"/>
                  <a:t>fluid</a:t>
                </a:r>
                <a:r>
                  <a:rPr lang="pt-BR" dirty="0"/>
                  <a:t> </a:t>
                </a:r>
                <a:r>
                  <a:rPr lang="pt-BR" dirty="0" err="1"/>
                  <a:t>antennas</a:t>
                </a:r>
                <a:r>
                  <a:rPr lang="pt-BR" dirty="0"/>
                  <a:t> é desprezível. Em outras palavras, eles ignoram esse custo mecânico ou físico e consideram apenas o ganho que o reposicionamento traz para o canal e para a taxa de transmissão.</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Pense em um painel retangular na BS, e cada </a:t>
                </a:r>
                <a:r>
                  <a:rPr lang="pt-BR" dirty="0" err="1"/>
                  <a:t>fluid</a:t>
                </a:r>
                <a:r>
                  <a:rPr lang="pt-BR" dirty="0"/>
                  <a:t> </a:t>
                </a:r>
                <a:r>
                  <a:rPr lang="pt-BR" dirty="0" err="1"/>
                  <a:t>antenna</a:t>
                </a:r>
                <a:r>
                  <a:rPr lang="pt-BR" dirty="0"/>
                  <a:t> pode “andar” nesse painel em duas direções,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a:t>
                </a:r>
                <a:br>
                  <a:rPr lang="pt-BR" dirty="0"/>
                </a:br>
                <a:r>
                  <a:rPr lang="pt-BR" dirty="0"/>
                  <a:t>a modelagem não está nesse nível discreto de “</a:t>
                </a:r>
                <a:r>
                  <a:rPr lang="pt-BR" dirty="0" err="1"/>
                  <a:t>port</a:t>
                </a:r>
                <a:r>
                  <a:rPr lang="pt-BR" dirty="0"/>
                  <a:t> 1, </a:t>
                </a:r>
                <a:r>
                  <a:rPr lang="pt-BR" dirty="0" err="1"/>
                  <a:t>port</a:t>
                </a:r>
                <a:r>
                  <a:rPr lang="pt-BR" dirty="0"/>
                  <a:t> 2, </a:t>
                </a:r>
                <a:r>
                  <a:rPr lang="pt-BR" dirty="0" err="1"/>
                  <a:t>port</a:t>
                </a:r>
                <a:r>
                  <a:rPr lang="pt-BR" dirty="0"/>
                  <a:t> 3...”, é como uma antena 2d, porém em termos de x e y</a:t>
                </a:r>
              </a:p>
            </p:txBody>
          </p:sp>
        </mc:Fallback>
      </mc:AlternateContent>
      <p:sp>
        <p:nvSpPr>
          <p:cNvPr id="4" name="Slide Number Placeholder 3">
            <a:extLst>
              <a:ext uri="{FF2B5EF4-FFF2-40B4-BE49-F238E27FC236}">
                <a16:creationId xmlns:a16="http://schemas.microsoft.com/office/drawing/2014/main" id="{8C3D55B6-0C9B-DC7B-B599-2365A8FCC0A7}"/>
              </a:ext>
            </a:extLst>
          </p:cNvPr>
          <p:cNvSpPr>
            <a:spLocks noGrp="1"/>
          </p:cNvSpPr>
          <p:nvPr>
            <p:ph type="sldNum" sz="quarter" idx="5"/>
          </p:nvPr>
        </p:nvSpPr>
        <p:spPr/>
        <p:txBody>
          <a:bodyPr/>
          <a:lstStyle/>
          <a:p>
            <a:fld id="{6FC8D850-966F-45A6-8DE7-15B891E7D40D}" type="slidenum">
              <a:rPr lang="pt-BR" smtClean="0"/>
              <a:t>15</a:t>
            </a:fld>
            <a:endParaRPr lang="pt-BR"/>
          </a:p>
        </p:txBody>
      </p:sp>
    </p:spTree>
    <p:extLst>
      <p:ext uri="{BB962C8B-B14F-4D97-AF65-F5344CB8AC3E}">
        <p14:creationId xmlns:p14="http://schemas.microsoft.com/office/powerpoint/2010/main" val="542095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FB9CC-7845-8CDF-A603-2CDEF2A95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E5EE72-4EB1-BBE8-CF6A-7E1BD0B2912C}"/>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891EA59-BA72-AF8F-A797-B4E715B6CB2E}"/>
                  </a:ext>
                </a:extLst>
              </p:cNvPr>
              <p:cNvSpPr>
                <a:spLocks noGrp="1"/>
              </p:cNvSpPr>
              <p:nvPr>
                <p:ph type="body" idx="1"/>
              </p:nvPr>
            </p:nvSpPr>
            <p:spPr/>
            <p:txBody>
              <a:bodyPr/>
              <a:lstStyle/>
              <a:p>
                <a:endParaRPr lang="pt-BR" dirty="0"/>
              </a:p>
            </p:txBody>
          </p:sp>
        </mc:Choice>
        <mc:Fallback xmlns="">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dirty="0"/>
                  <a:t>A posição das antenas é variável importante porque, neste </a:t>
                </a:r>
                <a:r>
                  <a:rPr lang="pt-BR" dirty="0" err="1"/>
                  <a:t>paper</a:t>
                </a:r>
                <a:r>
                  <a:rPr lang="pt-BR" dirty="0"/>
                  <a:t>, a BS não é um arranjo fixo tradicional. As </a:t>
                </a:r>
                <a:r>
                  <a:rPr lang="pt-BR" dirty="0" err="1"/>
                  <a:t>fluid</a:t>
                </a:r>
                <a:r>
                  <a:rPr lang="pt-BR" dirty="0"/>
                  <a:t> </a:t>
                </a:r>
                <a:r>
                  <a:rPr lang="pt-BR" dirty="0" err="1"/>
                  <a:t>antennas</a:t>
                </a:r>
                <a:r>
                  <a:rPr lang="pt-BR" dirty="0"/>
                  <a:t> podem se mover dentro de um painel. Isso altera o canal sem fio. Então, diferente de um sistema MIMO convencional em que a geometria é fixa, aqui a geometria da BS é parte do problema de otimização.</a:t>
                </a:r>
              </a:p>
              <a:p>
                <a:pPr marL="171450" indent="-171450">
                  <a:buFont typeface="Arial" panose="020B0604020202020204" pitchFamily="34" charset="0"/>
                  <a:buChar char="•"/>
                </a:pPr>
                <a:r>
                  <a:rPr lang="pt-BR" dirty="0"/>
                  <a:t>Aqui no lado esquerdo do slide estão as definições matemáticas das posições dessas antenas. O vetor </a:t>
                </a:r>
                <a:r>
                  <a:rPr lang="ar-AE" sz="1200" b="1" i="0" kern="1200">
                    <a:solidFill>
                      <a:schemeClr val="tx1"/>
                    </a:solidFill>
                    <a:latin typeface="+mn-lt"/>
                    <a:ea typeface="+mn-ea"/>
                    <a:cs typeface="+mn-cs"/>
                  </a:rPr>
                  <a:t>𝐭_(</a:t>
                </a:r>
                <a:r>
                  <a:rPr lang="ar-AE" sz="1200" b="0" i="0" kern="1200">
                    <a:solidFill>
                      <a:schemeClr val="tx1"/>
                    </a:solidFill>
                    <a:latin typeface="+mn-lt"/>
                    <a:ea typeface="+mn-ea"/>
                    <a:cs typeface="+mn-cs"/>
                  </a:rPr>
                  <a:t>𝑢,𝑎</a:t>
                </a:r>
                <a:r>
                  <a:rPr lang="ar-AE" sz="1200" b="1" i="0" kern="1200">
                    <a:solidFill>
                      <a:schemeClr val="tx1"/>
                    </a:solidFill>
                    <a:latin typeface="+mn-lt"/>
                    <a:ea typeface="+mn-ea"/>
                    <a:cs typeface="+mn-cs"/>
                  </a:rPr>
                  <a:t>)</a:t>
                </a:r>
                <a:r>
                  <a:rPr lang="pt-BR" dirty="0"/>
                  <a:t>representa a posição da antena </a:t>
                </a:r>
                <a:r>
                  <a:rPr lang="pt-BR" sz="1200" i="0" kern="1200">
                    <a:solidFill>
                      <a:schemeClr val="tx1"/>
                    </a:solidFill>
                    <a:latin typeface="+mn-lt"/>
                    <a:ea typeface="+mn-ea"/>
                    <a:cs typeface="+mn-cs"/>
                  </a:rPr>
                  <a:t>𝑎</a:t>
                </a:r>
                <a:r>
                  <a:rPr lang="pt-BR" dirty="0"/>
                  <a:t>do usuário </a:t>
                </a:r>
                <a:r>
                  <a:rPr lang="pt-BR" sz="1200" i="0" kern="1200">
                    <a:solidFill>
                      <a:schemeClr val="tx1"/>
                    </a:solidFill>
                    <a:latin typeface="+mn-lt"/>
                    <a:ea typeface="+mn-ea"/>
                    <a:cs typeface="+mn-cs"/>
                  </a:rPr>
                  <a:t>𝑢</a:t>
                </a:r>
                <a:r>
                  <a:rPr lang="pt-BR" dirty="0"/>
                  <a:t>, com coordenadas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 O </a:t>
                </a:r>
                <a:r>
                  <a:rPr lang="pt-BR" dirty="0" err="1"/>
                  <a:t>paper</a:t>
                </a:r>
                <a:r>
                  <a:rPr lang="pt-BR" dirty="0"/>
                  <a:t> agrupa todas essas posições na matriz </a:t>
                </a:r>
                <a:r>
                  <a:rPr lang="pt-BR" sz="1200" b="1" i="0" kern="1200">
                    <a:solidFill>
                      <a:schemeClr val="tx1"/>
                    </a:solidFill>
                    <a:latin typeface="+mn-lt"/>
                    <a:ea typeface="+mn-ea"/>
                    <a:cs typeface="+mn-cs"/>
                  </a:rPr>
                  <a:t>𝐓</a:t>
                </a:r>
                <a:r>
                  <a:rPr lang="pt-BR" dirty="0"/>
                  <a:t>. Já a posição da </a:t>
                </a:r>
                <a:r>
                  <a:rPr lang="pt-BR" dirty="0" err="1"/>
                  <a:t>fluid</a:t>
                </a:r>
                <a:r>
                  <a:rPr lang="pt-BR" dirty="0"/>
                  <a:t> </a:t>
                </a:r>
                <a:r>
                  <a:rPr lang="pt-BR" dirty="0" err="1"/>
                  <a:t>antenna</a:t>
                </a:r>
                <a:r>
                  <a:rPr lang="pt-BR" dirty="0"/>
                  <a:t> </a:t>
                </a:r>
                <a:r>
                  <a:rPr lang="pt-BR" sz="1200" i="0" kern="1200">
                    <a:solidFill>
                      <a:schemeClr val="tx1"/>
                    </a:solidFill>
                    <a:latin typeface="+mn-lt"/>
                    <a:ea typeface="+mn-ea"/>
                    <a:cs typeface="+mn-cs"/>
                  </a:rPr>
                  <a:t>𝑚</a:t>
                </a:r>
                <a:r>
                  <a:rPr lang="pt-BR" dirty="0"/>
                  <a:t>da BS é representada por </a:t>
                </a:r>
                <a:r>
                  <a:rPr lang="ar-AE" sz="1200" b="1" i="0" kern="1200">
                    <a:solidFill>
                      <a:schemeClr val="tx1"/>
                    </a:solidFill>
                    <a:latin typeface="+mn-lt"/>
                    <a:ea typeface="+mn-ea"/>
                    <a:cs typeface="+mn-cs"/>
                  </a:rPr>
                  <a:t>𝐫_</a:t>
                </a:r>
                <a:r>
                  <a:rPr lang="ar-AE" sz="1200" b="0" i="0" kern="1200">
                    <a:solidFill>
                      <a:schemeClr val="tx1"/>
                    </a:solidFill>
                    <a:latin typeface="+mn-lt"/>
                    <a:ea typeface="+mn-ea"/>
                    <a:cs typeface="+mn-cs"/>
                  </a:rPr>
                  <a:t>𝑚</a:t>
                </a:r>
                <a:r>
                  <a:rPr lang="ar-AE" dirty="0"/>
                  <a:t>, </a:t>
                </a:r>
                <a:r>
                  <a:rPr lang="pt-BR" dirty="0"/>
                  <a:t>e todas as posições da BS são agrupadas na matriz </a:t>
                </a:r>
                <a:r>
                  <a:rPr lang="pt-BR" sz="1200" b="1" i="0" kern="1200">
                    <a:solidFill>
                      <a:schemeClr val="tx1"/>
                    </a:solidFill>
                    <a:latin typeface="+mn-lt"/>
                    <a:ea typeface="+mn-ea"/>
                    <a:cs typeface="+mn-cs"/>
                  </a:rPr>
                  <a:t>𝐑</a:t>
                </a:r>
                <a:r>
                  <a:rPr lang="pt-BR" dirty="0"/>
                  <a:t>.</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Outro ponto importante é que o sistema usa </a:t>
                </a:r>
                <a:r>
                  <a:rPr lang="pt-BR" dirty="0" err="1"/>
                  <a:t>space-division</a:t>
                </a:r>
                <a:r>
                  <a:rPr lang="pt-BR" dirty="0"/>
                  <a:t> </a:t>
                </a:r>
                <a:r>
                  <a:rPr lang="pt-BR" dirty="0" err="1"/>
                  <a:t>multiple</a:t>
                </a:r>
                <a:r>
                  <a:rPr lang="pt-BR" dirty="0"/>
                  <a:t> </a:t>
                </a:r>
                <a:r>
                  <a:rPr lang="pt-BR" dirty="0" err="1"/>
                  <a:t>access</a:t>
                </a:r>
                <a:r>
                  <a:rPr lang="pt-BR" dirty="0"/>
                  <a:t>. Isso significa que vários usuários podem se comunicar com a base </a:t>
                </a:r>
                <a:r>
                  <a:rPr lang="pt-BR" dirty="0" err="1"/>
                  <a:t>station</a:t>
                </a:r>
                <a:r>
                  <a:rPr lang="pt-BR" dirty="0"/>
                  <a:t> ao mesmo tempo, explorando separação espacial.</a:t>
                </a:r>
              </a:p>
              <a:p>
                <a:pPr marL="171450" indent="-171450">
                  <a:buFont typeface="Arial" panose="020B0604020202020204" pitchFamily="34" charset="0"/>
                  <a:buChar char="•"/>
                </a:pPr>
                <a:r>
                  <a:rPr lang="pt-BR" dirty="0"/>
                  <a:t>Além disso, existe um servidor no sistema, e esse servidor é quem executa a parte pesada da inferência do </a:t>
                </a:r>
                <a:r>
                  <a:rPr lang="pt-BR" dirty="0" err="1"/>
                  <a:t>large</a:t>
                </a:r>
                <a:r>
                  <a:rPr lang="pt-BR" dirty="0"/>
                  <a:t> model. A outra parte é executada no cliente.</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Por fim, o </a:t>
                </a:r>
                <a:r>
                  <a:rPr lang="pt-BR" dirty="0" err="1"/>
                  <a:t>paper</a:t>
                </a:r>
                <a:r>
                  <a:rPr lang="pt-BR" dirty="0"/>
                  <a:t> assume que o tempo necessário para ajustar a posição das </a:t>
                </a:r>
                <a:r>
                  <a:rPr lang="pt-BR" dirty="0" err="1"/>
                  <a:t>fluid</a:t>
                </a:r>
                <a:r>
                  <a:rPr lang="pt-BR" dirty="0"/>
                  <a:t> </a:t>
                </a:r>
                <a:r>
                  <a:rPr lang="pt-BR" dirty="0" err="1"/>
                  <a:t>antennas</a:t>
                </a:r>
                <a:r>
                  <a:rPr lang="pt-BR" dirty="0"/>
                  <a:t> é desprezível. Em outras palavras, eles ignoram esse custo mecânico ou físico e consideram apenas o ganho que o reposicionamento traz para o canal e para a taxa de transmissão.</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Pense em um painel retangular na BS, e cada </a:t>
                </a:r>
                <a:r>
                  <a:rPr lang="pt-BR" dirty="0" err="1"/>
                  <a:t>fluid</a:t>
                </a:r>
                <a:r>
                  <a:rPr lang="pt-BR" dirty="0"/>
                  <a:t> </a:t>
                </a:r>
                <a:r>
                  <a:rPr lang="pt-BR" dirty="0" err="1"/>
                  <a:t>antenna</a:t>
                </a:r>
                <a:r>
                  <a:rPr lang="pt-BR" dirty="0"/>
                  <a:t> pode “andar” nesse painel em duas direções,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a:t>
                </a:r>
                <a:br>
                  <a:rPr lang="pt-BR" dirty="0"/>
                </a:br>
                <a:r>
                  <a:rPr lang="pt-BR" dirty="0"/>
                  <a:t>a modelagem não está nesse nível discreto de “</a:t>
                </a:r>
                <a:r>
                  <a:rPr lang="pt-BR" dirty="0" err="1"/>
                  <a:t>port</a:t>
                </a:r>
                <a:r>
                  <a:rPr lang="pt-BR" dirty="0"/>
                  <a:t> 1, </a:t>
                </a:r>
                <a:r>
                  <a:rPr lang="pt-BR" dirty="0" err="1"/>
                  <a:t>port</a:t>
                </a:r>
                <a:r>
                  <a:rPr lang="pt-BR" dirty="0"/>
                  <a:t> 2, </a:t>
                </a:r>
                <a:r>
                  <a:rPr lang="pt-BR" dirty="0" err="1"/>
                  <a:t>port</a:t>
                </a:r>
                <a:r>
                  <a:rPr lang="pt-BR" dirty="0"/>
                  <a:t> 3...”, é como uma antena 2d, porém em termos de x e y</a:t>
                </a:r>
              </a:p>
            </p:txBody>
          </p:sp>
        </mc:Fallback>
      </mc:AlternateContent>
      <p:sp>
        <p:nvSpPr>
          <p:cNvPr id="4" name="Slide Number Placeholder 3">
            <a:extLst>
              <a:ext uri="{FF2B5EF4-FFF2-40B4-BE49-F238E27FC236}">
                <a16:creationId xmlns:a16="http://schemas.microsoft.com/office/drawing/2014/main" id="{E763B632-CD0C-CA8F-C896-40B5C622C946}"/>
              </a:ext>
            </a:extLst>
          </p:cNvPr>
          <p:cNvSpPr>
            <a:spLocks noGrp="1"/>
          </p:cNvSpPr>
          <p:nvPr>
            <p:ph type="sldNum" sz="quarter" idx="5"/>
          </p:nvPr>
        </p:nvSpPr>
        <p:spPr/>
        <p:txBody>
          <a:bodyPr/>
          <a:lstStyle/>
          <a:p>
            <a:fld id="{6FC8D850-966F-45A6-8DE7-15B891E7D40D}" type="slidenum">
              <a:rPr lang="pt-BR" smtClean="0"/>
              <a:t>16</a:t>
            </a:fld>
            <a:endParaRPr lang="pt-BR"/>
          </a:p>
        </p:txBody>
      </p:sp>
    </p:spTree>
    <p:extLst>
      <p:ext uri="{BB962C8B-B14F-4D97-AF65-F5344CB8AC3E}">
        <p14:creationId xmlns:p14="http://schemas.microsoft.com/office/powerpoint/2010/main" val="26397217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25C9A-B2EA-FC73-E187-7425D8A172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7C98DD-2D26-728F-4B29-876D84F27242}"/>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107D345-BF66-E331-99BA-C20647B6100E}"/>
                  </a:ext>
                </a:extLst>
              </p:cNvPr>
              <p:cNvSpPr>
                <a:spLocks noGrp="1"/>
              </p:cNvSpPr>
              <p:nvPr>
                <p:ph type="body" idx="1"/>
              </p:nvPr>
            </p:nvSpPr>
            <p:spPr/>
            <p:txBody>
              <a:bodyPr/>
              <a:lstStyle/>
              <a:p>
                <a:r>
                  <a:rPr lang="pt-BR" dirty="0"/>
                  <a:t>O que ela quer mostrar é que o </a:t>
                </a:r>
                <a:r>
                  <a:rPr lang="pt-BR" dirty="0" err="1"/>
                  <a:t>EasyNAS</a:t>
                </a:r>
                <a:r>
                  <a:rPr lang="pt-BR" dirty="0"/>
                  <a:t> não fica preso a uma célula pequena, como no caso da classificação. Ele também consegue montar uma arquitetura de detecção completa, com vários estágios e várias escalas.</a:t>
                </a:r>
              </a:p>
              <a:p>
                <a:r>
                  <a:rPr lang="pt-BR" dirty="0"/>
                  <a:t>Nessa figura, os Atomic Search </a:t>
                </a:r>
                <a:r>
                  <a:rPr lang="pt-BR" dirty="0" err="1"/>
                  <a:t>Components</a:t>
                </a:r>
                <a:r>
                  <a:rPr lang="pt-BR" dirty="0"/>
                  <a:t> aparecem em vários pontos da arquitetura, e os parênteses </a:t>
                </a:r>
                <a14:m>
                  <m:oMath xmlns:m="http://schemas.openxmlformats.org/officeDocument/2006/math">
                    <m:d>
                      <m:dPr>
                        <m:sep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𝑘</m:t>
                        </m:r>
                      </m:e>
                      <m:e>
                        <m:r>
                          <a:rPr lang="ar-AE" sz="1200" i="1" kern="1200">
                            <a:solidFill>
                              <a:schemeClr val="tx1"/>
                            </a:solidFill>
                            <a:latin typeface="Cambria Math" panose="02040503050406030204" pitchFamily="18" charset="0"/>
                            <a:ea typeface="+mn-ea"/>
                            <a:cs typeface="+mn-cs"/>
                          </a:rPr>
                          <m:t>𝑑</m:t>
                        </m:r>
                      </m:e>
                      <m:e>
                        <m:r>
                          <a:rPr lang="ar-AE" sz="1200" i="1" kern="1200">
                            <a:solidFill>
                              <a:schemeClr val="tx1"/>
                            </a:solidFill>
                            <a:latin typeface="Cambria Math" panose="02040503050406030204" pitchFamily="18" charset="0"/>
                            <a:ea typeface="+mn-ea"/>
                            <a:cs typeface="+mn-cs"/>
                          </a:rPr>
                          <m:t>𝑒</m:t>
                        </m:r>
                      </m:e>
                    </m:d>
                  </m:oMath>
                </a14:m>
                <a:r>
                  <a:rPr lang="pt-BR" dirty="0"/>
                  <a:t>indicam que, nesses blocos, o método está buscando:</a:t>
                </a:r>
              </a:p>
              <a:p>
                <a:r>
                  <a:rPr lang="pt-BR" b="1" dirty="0"/>
                  <a:t>k</a:t>
                </a:r>
                <a:r>
                  <a:rPr lang="pt-BR" dirty="0"/>
                  <a:t>, tamanho do kernel </a:t>
                </a:r>
              </a:p>
              <a:p>
                <a:r>
                  <a:rPr lang="pt-BR" b="1" dirty="0"/>
                  <a:t>d</a:t>
                </a:r>
                <a:r>
                  <a:rPr lang="pt-BR" dirty="0"/>
                  <a:t>, taxa de dilatação </a:t>
                </a:r>
              </a:p>
              <a:p>
                <a:r>
                  <a:rPr lang="pt-BR" b="1" dirty="0"/>
                  <a:t>e</a:t>
                </a:r>
                <a:r>
                  <a:rPr lang="pt-BR" dirty="0"/>
                  <a:t>, taxa de redução dos canais de saída </a:t>
                </a:r>
              </a:p>
              <a:p>
                <a:r>
                  <a:rPr lang="pt-BR" dirty="0"/>
                  <a:t>Então a Figura 7 serve para mostrar:</a:t>
                </a:r>
              </a:p>
              <a:p>
                <a:r>
                  <a:rPr lang="pt-BR" dirty="0"/>
                  <a:t>o </a:t>
                </a:r>
                <a:r>
                  <a:rPr lang="pt-BR" dirty="0" err="1"/>
                  <a:t>EasyNAS</a:t>
                </a:r>
                <a:r>
                  <a:rPr lang="pt-BR" dirty="0"/>
                  <a:t> consegue construir um </a:t>
                </a:r>
                <a:r>
                  <a:rPr lang="pt-BR" dirty="0" err="1"/>
                  <a:t>supernet</a:t>
                </a:r>
                <a:r>
                  <a:rPr lang="pt-BR" dirty="0"/>
                  <a:t> de detecção completo, buscando não só operação e conexão, mas também largura de canais em vários blocos da rede.</a:t>
                </a:r>
              </a:p>
            </p:txBody>
          </p:sp>
        </mc:Choice>
        <mc:Fallback xmlns="">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dirty="0"/>
                  <a:t>A posição das antenas é variável importante porque, neste </a:t>
                </a:r>
                <a:r>
                  <a:rPr lang="pt-BR" dirty="0" err="1"/>
                  <a:t>paper</a:t>
                </a:r>
                <a:r>
                  <a:rPr lang="pt-BR" dirty="0"/>
                  <a:t>, a BS não é um arranjo fixo tradicional. As </a:t>
                </a:r>
                <a:r>
                  <a:rPr lang="pt-BR" dirty="0" err="1"/>
                  <a:t>fluid</a:t>
                </a:r>
                <a:r>
                  <a:rPr lang="pt-BR" dirty="0"/>
                  <a:t> </a:t>
                </a:r>
                <a:r>
                  <a:rPr lang="pt-BR" dirty="0" err="1"/>
                  <a:t>antennas</a:t>
                </a:r>
                <a:r>
                  <a:rPr lang="pt-BR" dirty="0"/>
                  <a:t> podem se mover dentro de um painel. Isso altera o canal sem fio. Então, diferente de um sistema MIMO convencional em que a geometria é fixa, aqui a geometria da BS é parte do problema de otimização.</a:t>
                </a:r>
              </a:p>
              <a:p>
                <a:pPr marL="171450" indent="-171450">
                  <a:buFont typeface="Arial" panose="020B0604020202020204" pitchFamily="34" charset="0"/>
                  <a:buChar char="•"/>
                </a:pPr>
                <a:r>
                  <a:rPr lang="pt-BR" dirty="0"/>
                  <a:t>Aqui no lado esquerdo do slide estão as definições matemáticas das posições dessas antenas. O vetor </a:t>
                </a:r>
                <a:r>
                  <a:rPr lang="ar-AE" sz="1200" b="1" i="0" kern="1200">
                    <a:solidFill>
                      <a:schemeClr val="tx1"/>
                    </a:solidFill>
                    <a:latin typeface="+mn-lt"/>
                    <a:ea typeface="+mn-ea"/>
                    <a:cs typeface="+mn-cs"/>
                  </a:rPr>
                  <a:t>𝐭_(</a:t>
                </a:r>
                <a:r>
                  <a:rPr lang="ar-AE" sz="1200" b="0" i="0" kern="1200">
                    <a:solidFill>
                      <a:schemeClr val="tx1"/>
                    </a:solidFill>
                    <a:latin typeface="+mn-lt"/>
                    <a:ea typeface="+mn-ea"/>
                    <a:cs typeface="+mn-cs"/>
                  </a:rPr>
                  <a:t>𝑢,𝑎</a:t>
                </a:r>
                <a:r>
                  <a:rPr lang="ar-AE" sz="1200" b="1" i="0" kern="1200">
                    <a:solidFill>
                      <a:schemeClr val="tx1"/>
                    </a:solidFill>
                    <a:latin typeface="+mn-lt"/>
                    <a:ea typeface="+mn-ea"/>
                    <a:cs typeface="+mn-cs"/>
                  </a:rPr>
                  <a:t>)</a:t>
                </a:r>
                <a:r>
                  <a:rPr lang="pt-BR" dirty="0"/>
                  <a:t>representa a posição da antena </a:t>
                </a:r>
                <a:r>
                  <a:rPr lang="pt-BR" sz="1200" i="0" kern="1200">
                    <a:solidFill>
                      <a:schemeClr val="tx1"/>
                    </a:solidFill>
                    <a:latin typeface="+mn-lt"/>
                    <a:ea typeface="+mn-ea"/>
                    <a:cs typeface="+mn-cs"/>
                  </a:rPr>
                  <a:t>𝑎</a:t>
                </a:r>
                <a:r>
                  <a:rPr lang="pt-BR" dirty="0"/>
                  <a:t>do usuário </a:t>
                </a:r>
                <a:r>
                  <a:rPr lang="pt-BR" sz="1200" i="0" kern="1200">
                    <a:solidFill>
                      <a:schemeClr val="tx1"/>
                    </a:solidFill>
                    <a:latin typeface="+mn-lt"/>
                    <a:ea typeface="+mn-ea"/>
                    <a:cs typeface="+mn-cs"/>
                  </a:rPr>
                  <a:t>𝑢</a:t>
                </a:r>
                <a:r>
                  <a:rPr lang="pt-BR" dirty="0"/>
                  <a:t>, com coordenadas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 O </a:t>
                </a:r>
                <a:r>
                  <a:rPr lang="pt-BR" dirty="0" err="1"/>
                  <a:t>paper</a:t>
                </a:r>
                <a:r>
                  <a:rPr lang="pt-BR" dirty="0"/>
                  <a:t> agrupa todas essas posições na matriz </a:t>
                </a:r>
                <a:r>
                  <a:rPr lang="pt-BR" sz="1200" b="1" i="0" kern="1200">
                    <a:solidFill>
                      <a:schemeClr val="tx1"/>
                    </a:solidFill>
                    <a:latin typeface="+mn-lt"/>
                    <a:ea typeface="+mn-ea"/>
                    <a:cs typeface="+mn-cs"/>
                  </a:rPr>
                  <a:t>𝐓</a:t>
                </a:r>
                <a:r>
                  <a:rPr lang="pt-BR" dirty="0"/>
                  <a:t>. Já a posição da </a:t>
                </a:r>
                <a:r>
                  <a:rPr lang="pt-BR" dirty="0" err="1"/>
                  <a:t>fluid</a:t>
                </a:r>
                <a:r>
                  <a:rPr lang="pt-BR" dirty="0"/>
                  <a:t> </a:t>
                </a:r>
                <a:r>
                  <a:rPr lang="pt-BR" dirty="0" err="1"/>
                  <a:t>antenna</a:t>
                </a:r>
                <a:r>
                  <a:rPr lang="pt-BR" dirty="0"/>
                  <a:t> </a:t>
                </a:r>
                <a:r>
                  <a:rPr lang="pt-BR" sz="1200" i="0" kern="1200">
                    <a:solidFill>
                      <a:schemeClr val="tx1"/>
                    </a:solidFill>
                    <a:latin typeface="+mn-lt"/>
                    <a:ea typeface="+mn-ea"/>
                    <a:cs typeface="+mn-cs"/>
                  </a:rPr>
                  <a:t>𝑚</a:t>
                </a:r>
                <a:r>
                  <a:rPr lang="pt-BR" dirty="0"/>
                  <a:t>da BS é representada por </a:t>
                </a:r>
                <a:r>
                  <a:rPr lang="ar-AE" sz="1200" b="1" i="0" kern="1200">
                    <a:solidFill>
                      <a:schemeClr val="tx1"/>
                    </a:solidFill>
                    <a:latin typeface="+mn-lt"/>
                    <a:ea typeface="+mn-ea"/>
                    <a:cs typeface="+mn-cs"/>
                  </a:rPr>
                  <a:t>𝐫_</a:t>
                </a:r>
                <a:r>
                  <a:rPr lang="ar-AE" sz="1200" b="0" i="0" kern="1200">
                    <a:solidFill>
                      <a:schemeClr val="tx1"/>
                    </a:solidFill>
                    <a:latin typeface="+mn-lt"/>
                    <a:ea typeface="+mn-ea"/>
                    <a:cs typeface="+mn-cs"/>
                  </a:rPr>
                  <a:t>𝑚</a:t>
                </a:r>
                <a:r>
                  <a:rPr lang="ar-AE" dirty="0"/>
                  <a:t>, </a:t>
                </a:r>
                <a:r>
                  <a:rPr lang="pt-BR" dirty="0"/>
                  <a:t>e todas as posições da BS são agrupadas na matriz </a:t>
                </a:r>
                <a:r>
                  <a:rPr lang="pt-BR" sz="1200" b="1" i="0" kern="1200">
                    <a:solidFill>
                      <a:schemeClr val="tx1"/>
                    </a:solidFill>
                    <a:latin typeface="+mn-lt"/>
                    <a:ea typeface="+mn-ea"/>
                    <a:cs typeface="+mn-cs"/>
                  </a:rPr>
                  <a:t>𝐑</a:t>
                </a:r>
                <a:r>
                  <a:rPr lang="pt-BR" dirty="0"/>
                  <a:t>.</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Outro ponto importante é que o sistema usa </a:t>
                </a:r>
                <a:r>
                  <a:rPr lang="pt-BR" dirty="0" err="1"/>
                  <a:t>space-division</a:t>
                </a:r>
                <a:r>
                  <a:rPr lang="pt-BR" dirty="0"/>
                  <a:t> </a:t>
                </a:r>
                <a:r>
                  <a:rPr lang="pt-BR" dirty="0" err="1"/>
                  <a:t>multiple</a:t>
                </a:r>
                <a:r>
                  <a:rPr lang="pt-BR" dirty="0"/>
                  <a:t> </a:t>
                </a:r>
                <a:r>
                  <a:rPr lang="pt-BR" dirty="0" err="1"/>
                  <a:t>access</a:t>
                </a:r>
                <a:r>
                  <a:rPr lang="pt-BR" dirty="0"/>
                  <a:t>. Isso significa que vários usuários podem se comunicar com a base </a:t>
                </a:r>
                <a:r>
                  <a:rPr lang="pt-BR" dirty="0" err="1"/>
                  <a:t>station</a:t>
                </a:r>
                <a:r>
                  <a:rPr lang="pt-BR" dirty="0"/>
                  <a:t> ao mesmo tempo, explorando separação espacial.</a:t>
                </a:r>
              </a:p>
              <a:p>
                <a:pPr marL="171450" indent="-171450">
                  <a:buFont typeface="Arial" panose="020B0604020202020204" pitchFamily="34" charset="0"/>
                  <a:buChar char="•"/>
                </a:pPr>
                <a:r>
                  <a:rPr lang="pt-BR" dirty="0"/>
                  <a:t>Além disso, existe um servidor no sistema, e esse servidor é quem executa a parte pesada da inferência do </a:t>
                </a:r>
                <a:r>
                  <a:rPr lang="pt-BR" dirty="0" err="1"/>
                  <a:t>large</a:t>
                </a:r>
                <a:r>
                  <a:rPr lang="pt-BR" dirty="0"/>
                  <a:t> model. A outra parte é executada no cliente.</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Por fim, o </a:t>
                </a:r>
                <a:r>
                  <a:rPr lang="pt-BR" dirty="0" err="1"/>
                  <a:t>paper</a:t>
                </a:r>
                <a:r>
                  <a:rPr lang="pt-BR" dirty="0"/>
                  <a:t> assume que o tempo necessário para ajustar a posição das </a:t>
                </a:r>
                <a:r>
                  <a:rPr lang="pt-BR" dirty="0" err="1"/>
                  <a:t>fluid</a:t>
                </a:r>
                <a:r>
                  <a:rPr lang="pt-BR" dirty="0"/>
                  <a:t> </a:t>
                </a:r>
                <a:r>
                  <a:rPr lang="pt-BR" dirty="0" err="1"/>
                  <a:t>antennas</a:t>
                </a:r>
                <a:r>
                  <a:rPr lang="pt-BR" dirty="0"/>
                  <a:t> é desprezível. Em outras palavras, eles ignoram esse custo mecânico ou físico e consideram apenas o ganho que o reposicionamento traz para o canal e para a taxa de transmissão.</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Pense em um painel retangular na BS, e cada </a:t>
                </a:r>
                <a:r>
                  <a:rPr lang="pt-BR" dirty="0" err="1"/>
                  <a:t>fluid</a:t>
                </a:r>
                <a:r>
                  <a:rPr lang="pt-BR" dirty="0"/>
                  <a:t> </a:t>
                </a:r>
                <a:r>
                  <a:rPr lang="pt-BR" dirty="0" err="1"/>
                  <a:t>antenna</a:t>
                </a:r>
                <a:r>
                  <a:rPr lang="pt-BR" dirty="0"/>
                  <a:t> pode “andar” nesse painel em duas direções,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a:t>
                </a:r>
                <a:br>
                  <a:rPr lang="pt-BR" dirty="0"/>
                </a:br>
                <a:r>
                  <a:rPr lang="pt-BR" dirty="0"/>
                  <a:t>a modelagem não está nesse nível discreto de “</a:t>
                </a:r>
                <a:r>
                  <a:rPr lang="pt-BR" dirty="0" err="1"/>
                  <a:t>port</a:t>
                </a:r>
                <a:r>
                  <a:rPr lang="pt-BR" dirty="0"/>
                  <a:t> 1, </a:t>
                </a:r>
                <a:r>
                  <a:rPr lang="pt-BR" dirty="0" err="1"/>
                  <a:t>port</a:t>
                </a:r>
                <a:r>
                  <a:rPr lang="pt-BR" dirty="0"/>
                  <a:t> 2, </a:t>
                </a:r>
                <a:r>
                  <a:rPr lang="pt-BR" dirty="0" err="1"/>
                  <a:t>port</a:t>
                </a:r>
                <a:r>
                  <a:rPr lang="pt-BR" dirty="0"/>
                  <a:t> 3...”, é como uma antena 2d, porém em termos de x e y</a:t>
                </a:r>
              </a:p>
            </p:txBody>
          </p:sp>
        </mc:Fallback>
      </mc:AlternateContent>
      <p:sp>
        <p:nvSpPr>
          <p:cNvPr id="4" name="Slide Number Placeholder 3">
            <a:extLst>
              <a:ext uri="{FF2B5EF4-FFF2-40B4-BE49-F238E27FC236}">
                <a16:creationId xmlns:a16="http://schemas.microsoft.com/office/drawing/2014/main" id="{654308EA-6964-ADE3-7276-6666E31E23DC}"/>
              </a:ext>
            </a:extLst>
          </p:cNvPr>
          <p:cNvSpPr>
            <a:spLocks noGrp="1"/>
          </p:cNvSpPr>
          <p:nvPr>
            <p:ph type="sldNum" sz="quarter" idx="5"/>
          </p:nvPr>
        </p:nvSpPr>
        <p:spPr/>
        <p:txBody>
          <a:bodyPr/>
          <a:lstStyle/>
          <a:p>
            <a:fld id="{6FC8D850-966F-45A6-8DE7-15B891E7D40D}" type="slidenum">
              <a:rPr lang="pt-BR" smtClean="0"/>
              <a:t>17</a:t>
            </a:fld>
            <a:endParaRPr lang="pt-BR"/>
          </a:p>
        </p:txBody>
      </p:sp>
    </p:spTree>
    <p:extLst>
      <p:ext uri="{BB962C8B-B14F-4D97-AF65-F5344CB8AC3E}">
        <p14:creationId xmlns:p14="http://schemas.microsoft.com/office/powerpoint/2010/main" val="27737183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B373F-B1D8-E23B-6F10-6732B4553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EEA190-59D7-C741-288B-A76562D696B3}"/>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00DD4F7-17DC-7B69-6FFC-C4249EC1DAAC}"/>
                  </a:ext>
                </a:extLst>
              </p:cNvPr>
              <p:cNvSpPr>
                <a:spLocks noGrp="1"/>
              </p:cNvSpPr>
              <p:nvPr>
                <p:ph type="body" idx="1"/>
              </p:nvPr>
            </p:nvSpPr>
            <p:spPr/>
            <p:txBody>
              <a:bodyPr/>
              <a:lstStyle/>
              <a:p>
                <a:r>
                  <a:rPr lang="pt-BR" dirty="0"/>
                  <a:t>A estrutura aqui muda de novo, porque segmentação exige:</a:t>
                </a:r>
              </a:p>
              <a:p>
                <a:r>
                  <a:rPr lang="pt-BR" dirty="0"/>
                  <a:t>processamento em múltiplas escalas </a:t>
                </a:r>
              </a:p>
              <a:p>
                <a:r>
                  <a:rPr lang="pt-BR" dirty="0"/>
                  <a:t>fusão de features de diferentes resoluções </a:t>
                </a:r>
              </a:p>
              <a:p>
                <a:r>
                  <a:rPr lang="pt-BR" dirty="0"/>
                  <a:t>blocos finais voltados para predição densa por pixel </a:t>
                </a:r>
              </a:p>
              <a:p>
                <a:r>
                  <a:rPr lang="pt-BR" dirty="0"/>
                  <a:t>Na figura aparecem:</a:t>
                </a:r>
              </a:p>
              <a:p>
                <a:r>
                  <a:rPr lang="pt-BR" dirty="0"/>
                  <a:t>vários estágios de processamento </a:t>
                </a:r>
              </a:p>
              <a:p>
                <a:r>
                  <a:rPr lang="pt-BR" dirty="0"/>
                  <a:t>Atomic Search </a:t>
                </a:r>
                <a:r>
                  <a:rPr lang="pt-BR" dirty="0" err="1"/>
                  <a:t>Components</a:t>
                </a:r>
                <a:r>
                  <a:rPr lang="pt-BR" dirty="0"/>
                  <a:t> em diferentes resoluções </a:t>
                </a:r>
              </a:p>
              <a:p>
                <a:r>
                  <a:rPr lang="pt-BR" dirty="0"/>
                  <a:t>blocos de </a:t>
                </a:r>
                <a:r>
                  <a:rPr lang="pt-BR" b="1" dirty="0" err="1"/>
                  <a:t>multi-scale</a:t>
                </a:r>
                <a:r>
                  <a:rPr lang="pt-BR" b="1" dirty="0"/>
                  <a:t> merge</a:t>
                </a:r>
                <a:r>
                  <a:rPr lang="pt-BR" dirty="0"/>
                  <a:t> </a:t>
                </a:r>
              </a:p>
              <a:p>
                <a:r>
                  <a:rPr lang="pt-BR" dirty="0"/>
                  <a:t>cabeças de segmentação </a:t>
                </a:r>
              </a:p>
              <a:p>
                <a:r>
                  <a:rPr lang="pt-BR" dirty="0"/>
                  <a:t>A ideia central é a mesma da Figura 7, mas agora aplicada à segmentação:</a:t>
                </a:r>
              </a:p>
              <a:p>
                <a:r>
                  <a:rPr lang="pt-BR" dirty="0"/>
                  <a:t>o mesmo mecanismo de construção de </a:t>
                </a:r>
                <a:r>
                  <a:rPr lang="pt-BR" dirty="0" err="1"/>
                  <a:t>supernet</a:t>
                </a:r>
                <a:r>
                  <a:rPr lang="pt-BR" dirty="0"/>
                  <a:t> também funciona em uma arquitetura de segmentação, que tem organização bem diferente da classificação e da detecção.</a:t>
                </a:r>
              </a:p>
            </p:txBody>
          </p:sp>
        </mc:Choice>
        <mc:Fallback xmlns="">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dirty="0"/>
                  <a:t>A posição das antenas é variável importante porque, neste </a:t>
                </a:r>
                <a:r>
                  <a:rPr lang="pt-BR" dirty="0" err="1"/>
                  <a:t>paper</a:t>
                </a:r>
                <a:r>
                  <a:rPr lang="pt-BR" dirty="0"/>
                  <a:t>, a BS não é um arranjo fixo tradicional. As </a:t>
                </a:r>
                <a:r>
                  <a:rPr lang="pt-BR" dirty="0" err="1"/>
                  <a:t>fluid</a:t>
                </a:r>
                <a:r>
                  <a:rPr lang="pt-BR" dirty="0"/>
                  <a:t> </a:t>
                </a:r>
                <a:r>
                  <a:rPr lang="pt-BR" dirty="0" err="1"/>
                  <a:t>antennas</a:t>
                </a:r>
                <a:r>
                  <a:rPr lang="pt-BR" dirty="0"/>
                  <a:t> podem se mover dentro de um painel. Isso altera o canal sem fio. Então, diferente de um sistema MIMO convencional em que a geometria é fixa, aqui a geometria da BS é parte do problema de otimização.</a:t>
                </a:r>
              </a:p>
              <a:p>
                <a:pPr marL="171450" indent="-171450">
                  <a:buFont typeface="Arial" panose="020B0604020202020204" pitchFamily="34" charset="0"/>
                  <a:buChar char="•"/>
                </a:pPr>
                <a:r>
                  <a:rPr lang="pt-BR" dirty="0"/>
                  <a:t>Aqui no lado esquerdo do slide estão as definições matemáticas das posições dessas antenas. O vetor </a:t>
                </a:r>
                <a:r>
                  <a:rPr lang="ar-AE" sz="1200" b="1" i="0" kern="1200">
                    <a:solidFill>
                      <a:schemeClr val="tx1"/>
                    </a:solidFill>
                    <a:latin typeface="+mn-lt"/>
                    <a:ea typeface="+mn-ea"/>
                    <a:cs typeface="+mn-cs"/>
                  </a:rPr>
                  <a:t>𝐭_(</a:t>
                </a:r>
                <a:r>
                  <a:rPr lang="ar-AE" sz="1200" b="0" i="0" kern="1200">
                    <a:solidFill>
                      <a:schemeClr val="tx1"/>
                    </a:solidFill>
                    <a:latin typeface="+mn-lt"/>
                    <a:ea typeface="+mn-ea"/>
                    <a:cs typeface="+mn-cs"/>
                  </a:rPr>
                  <a:t>𝑢,𝑎</a:t>
                </a:r>
                <a:r>
                  <a:rPr lang="ar-AE" sz="1200" b="1" i="0" kern="1200">
                    <a:solidFill>
                      <a:schemeClr val="tx1"/>
                    </a:solidFill>
                    <a:latin typeface="+mn-lt"/>
                    <a:ea typeface="+mn-ea"/>
                    <a:cs typeface="+mn-cs"/>
                  </a:rPr>
                  <a:t>)</a:t>
                </a:r>
                <a:r>
                  <a:rPr lang="pt-BR" dirty="0"/>
                  <a:t>representa a posição da antena </a:t>
                </a:r>
                <a:r>
                  <a:rPr lang="pt-BR" sz="1200" i="0" kern="1200">
                    <a:solidFill>
                      <a:schemeClr val="tx1"/>
                    </a:solidFill>
                    <a:latin typeface="+mn-lt"/>
                    <a:ea typeface="+mn-ea"/>
                    <a:cs typeface="+mn-cs"/>
                  </a:rPr>
                  <a:t>𝑎</a:t>
                </a:r>
                <a:r>
                  <a:rPr lang="pt-BR" dirty="0"/>
                  <a:t>do usuário </a:t>
                </a:r>
                <a:r>
                  <a:rPr lang="pt-BR" sz="1200" i="0" kern="1200">
                    <a:solidFill>
                      <a:schemeClr val="tx1"/>
                    </a:solidFill>
                    <a:latin typeface="+mn-lt"/>
                    <a:ea typeface="+mn-ea"/>
                    <a:cs typeface="+mn-cs"/>
                  </a:rPr>
                  <a:t>𝑢</a:t>
                </a:r>
                <a:r>
                  <a:rPr lang="pt-BR" dirty="0"/>
                  <a:t>, com coordenadas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 O </a:t>
                </a:r>
                <a:r>
                  <a:rPr lang="pt-BR" dirty="0" err="1"/>
                  <a:t>paper</a:t>
                </a:r>
                <a:r>
                  <a:rPr lang="pt-BR" dirty="0"/>
                  <a:t> agrupa todas essas posições na matriz </a:t>
                </a:r>
                <a:r>
                  <a:rPr lang="pt-BR" sz="1200" b="1" i="0" kern="1200">
                    <a:solidFill>
                      <a:schemeClr val="tx1"/>
                    </a:solidFill>
                    <a:latin typeface="+mn-lt"/>
                    <a:ea typeface="+mn-ea"/>
                    <a:cs typeface="+mn-cs"/>
                  </a:rPr>
                  <a:t>𝐓</a:t>
                </a:r>
                <a:r>
                  <a:rPr lang="pt-BR" dirty="0"/>
                  <a:t>. Já a posição da </a:t>
                </a:r>
                <a:r>
                  <a:rPr lang="pt-BR" dirty="0" err="1"/>
                  <a:t>fluid</a:t>
                </a:r>
                <a:r>
                  <a:rPr lang="pt-BR" dirty="0"/>
                  <a:t> </a:t>
                </a:r>
                <a:r>
                  <a:rPr lang="pt-BR" dirty="0" err="1"/>
                  <a:t>antenna</a:t>
                </a:r>
                <a:r>
                  <a:rPr lang="pt-BR" dirty="0"/>
                  <a:t> </a:t>
                </a:r>
                <a:r>
                  <a:rPr lang="pt-BR" sz="1200" i="0" kern="1200">
                    <a:solidFill>
                      <a:schemeClr val="tx1"/>
                    </a:solidFill>
                    <a:latin typeface="+mn-lt"/>
                    <a:ea typeface="+mn-ea"/>
                    <a:cs typeface="+mn-cs"/>
                  </a:rPr>
                  <a:t>𝑚</a:t>
                </a:r>
                <a:r>
                  <a:rPr lang="pt-BR" dirty="0"/>
                  <a:t>da BS é representada por </a:t>
                </a:r>
                <a:r>
                  <a:rPr lang="ar-AE" sz="1200" b="1" i="0" kern="1200">
                    <a:solidFill>
                      <a:schemeClr val="tx1"/>
                    </a:solidFill>
                    <a:latin typeface="+mn-lt"/>
                    <a:ea typeface="+mn-ea"/>
                    <a:cs typeface="+mn-cs"/>
                  </a:rPr>
                  <a:t>𝐫_</a:t>
                </a:r>
                <a:r>
                  <a:rPr lang="ar-AE" sz="1200" b="0" i="0" kern="1200">
                    <a:solidFill>
                      <a:schemeClr val="tx1"/>
                    </a:solidFill>
                    <a:latin typeface="+mn-lt"/>
                    <a:ea typeface="+mn-ea"/>
                    <a:cs typeface="+mn-cs"/>
                  </a:rPr>
                  <a:t>𝑚</a:t>
                </a:r>
                <a:r>
                  <a:rPr lang="ar-AE" dirty="0"/>
                  <a:t>, </a:t>
                </a:r>
                <a:r>
                  <a:rPr lang="pt-BR" dirty="0"/>
                  <a:t>e todas as posições da BS são agrupadas na matriz </a:t>
                </a:r>
                <a:r>
                  <a:rPr lang="pt-BR" sz="1200" b="1" i="0" kern="1200">
                    <a:solidFill>
                      <a:schemeClr val="tx1"/>
                    </a:solidFill>
                    <a:latin typeface="+mn-lt"/>
                    <a:ea typeface="+mn-ea"/>
                    <a:cs typeface="+mn-cs"/>
                  </a:rPr>
                  <a:t>𝐑</a:t>
                </a:r>
                <a:r>
                  <a:rPr lang="pt-BR" dirty="0"/>
                  <a:t>.</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Outro ponto importante é que o sistema usa </a:t>
                </a:r>
                <a:r>
                  <a:rPr lang="pt-BR" dirty="0" err="1"/>
                  <a:t>space-division</a:t>
                </a:r>
                <a:r>
                  <a:rPr lang="pt-BR" dirty="0"/>
                  <a:t> </a:t>
                </a:r>
                <a:r>
                  <a:rPr lang="pt-BR" dirty="0" err="1"/>
                  <a:t>multiple</a:t>
                </a:r>
                <a:r>
                  <a:rPr lang="pt-BR" dirty="0"/>
                  <a:t> </a:t>
                </a:r>
                <a:r>
                  <a:rPr lang="pt-BR" dirty="0" err="1"/>
                  <a:t>access</a:t>
                </a:r>
                <a:r>
                  <a:rPr lang="pt-BR" dirty="0"/>
                  <a:t>. Isso significa que vários usuários podem se comunicar com a base </a:t>
                </a:r>
                <a:r>
                  <a:rPr lang="pt-BR" dirty="0" err="1"/>
                  <a:t>station</a:t>
                </a:r>
                <a:r>
                  <a:rPr lang="pt-BR" dirty="0"/>
                  <a:t> ao mesmo tempo, explorando separação espacial.</a:t>
                </a:r>
              </a:p>
              <a:p>
                <a:pPr marL="171450" indent="-171450">
                  <a:buFont typeface="Arial" panose="020B0604020202020204" pitchFamily="34" charset="0"/>
                  <a:buChar char="•"/>
                </a:pPr>
                <a:r>
                  <a:rPr lang="pt-BR" dirty="0"/>
                  <a:t>Além disso, existe um servidor no sistema, e esse servidor é quem executa a parte pesada da inferência do </a:t>
                </a:r>
                <a:r>
                  <a:rPr lang="pt-BR" dirty="0" err="1"/>
                  <a:t>large</a:t>
                </a:r>
                <a:r>
                  <a:rPr lang="pt-BR" dirty="0"/>
                  <a:t> model. A outra parte é executada no cliente.</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Por fim, o </a:t>
                </a:r>
                <a:r>
                  <a:rPr lang="pt-BR" dirty="0" err="1"/>
                  <a:t>paper</a:t>
                </a:r>
                <a:r>
                  <a:rPr lang="pt-BR" dirty="0"/>
                  <a:t> assume que o tempo necessário para ajustar a posição das </a:t>
                </a:r>
                <a:r>
                  <a:rPr lang="pt-BR" dirty="0" err="1"/>
                  <a:t>fluid</a:t>
                </a:r>
                <a:r>
                  <a:rPr lang="pt-BR" dirty="0"/>
                  <a:t> </a:t>
                </a:r>
                <a:r>
                  <a:rPr lang="pt-BR" dirty="0" err="1"/>
                  <a:t>antennas</a:t>
                </a:r>
                <a:r>
                  <a:rPr lang="pt-BR" dirty="0"/>
                  <a:t> é desprezível. Em outras palavras, eles ignoram esse custo mecânico ou físico e consideram apenas o ganho que o reposicionamento traz para o canal e para a taxa de transmissão.</a:t>
                </a:r>
              </a:p>
              <a:p>
                <a:pPr marL="171450" indent="-171450">
                  <a:buFont typeface="Arial" panose="020B0604020202020204" pitchFamily="34" charset="0"/>
                  <a:buChar char="•"/>
                </a:pPr>
                <a:endParaRPr lang="pt-BR" dirty="0"/>
              </a:p>
              <a:p>
                <a:pPr marL="171450" indent="-171450">
                  <a:buFont typeface="Arial" panose="020B0604020202020204" pitchFamily="34" charset="0"/>
                  <a:buChar char="•"/>
                </a:pPr>
                <a:r>
                  <a:rPr lang="pt-BR" dirty="0"/>
                  <a:t>Pense em um painel retangular na BS, e cada </a:t>
                </a:r>
                <a:r>
                  <a:rPr lang="pt-BR" dirty="0" err="1"/>
                  <a:t>fluid</a:t>
                </a:r>
                <a:r>
                  <a:rPr lang="pt-BR" dirty="0"/>
                  <a:t> </a:t>
                </a:r>
                <a:r>
                  <a:rPr lang="pt-BR" dirty="0" err="1"/>
                  <a:t>antenna</a:t>
                </a:r>
                <a:r>
                  <a:rPr lang="pt-BR" dirty="0"/>
                  <a:t> pode “andar” nesse painel em duas direções, </a:t>
                </a:r>
                <a:r>
                  <a:rPr lang="pt-BR" sz="1200" i="0" kern="1200">
                    <a:solidFill>
                      <a:schemeClr val="tx1"/>
                    </a:solidFill>
                    <a:latin typeface="+mn-lt"/>
                    <a:ea typeface="+mn-ea"/>
                    <a:cs typeface="+mn-cs"/>
                  </a:rPr>
                  <a:t>𝑥</a:t>
                </a:r>
                <a:r>
                  <a:rPr lang="pt-BR" dirty="0"/>
                  <a:t>e </a:t>
                </a:r>
                <a:r>
                  <a:rPr lang="pt-BR" sz="1200" i="0" kern="1200">
                    <a:solidFill>
                      <a:schemeClr val="tx1"/>
                    </a:solidFill>
                    <a:latin typeface="+mn-lt"/>
                    <a:ea typeface="+mn-ea"/>
                    <a:cs typeface="+mn-cs"/>
                  </a:rPr>
                  <a:t>𝑦</a:t>
                </a:r>
                <a:r>
                  <a:rPr lang="pt-BR" dirty="0"/>
                  <a:t>.</a:t>
                </a:r>
                <a:br>
                  <a:rPr lang="pt-BR" dirty="0"/>
                </a:br>
                <a:r>
                  <a:rPr lang="pt-BR" dirty="0"/>
                  <a:t>a modelagem não está nesse nível discreto de “</a:t>
                </a:r>
                <a:r>
                  <a:rPr lang="pt-BR" dirty="0" err="1"/>
                  <a:t>port</a:t>
                </a:r>
                <a:r>
                  <a:rPr lang="pt-BR" dirty="0"/>
                  <a:t> 1, </a:t>
                </a:r>
                <a:r>
                  <a:rPr lang="pt-BR" dirty="0" err="1"/>
                  <a:t>port</a:t>
                </a:r>
                <a:r>
                  <a:rPr lang="pt-BR" dirty="0"/>
                  <a:t> 2, </a:t>
                </a:r>
                <a:r>
                  <a:rPr lang="pt-BR" dirty="0" err="1"/>
                  <a:t>port</a:t>
                </a:r>
                <a:r>
                  <a:rPr lang="pt-BR" dirty="0"/>
                  <a:t> 3...”, é como uma antena 2d, porém em termos de x e y</a:t>
                </a:r>
              </a:p>
            </p:txBody>
          </p:sp>
        </mc:Fallback>
      </mc:AlternateContent>
      <p:sp>
        <p:nvSpPr>
          <p:cNvPr id="4" name="Slide Number Placeholder 3">
            <a:extLst>
              <a:ext uri="{FF2B5EF4-FFF2-40B4-BE49-F238E27FC236}">
                <a16:creationId xmlns:a16="http://schemas.microsoft.com/office/drawing/2014/main" id="{E69C6397-21EA-971F-6E20-855626FADF0D}"/>
              </a:ext>
            </a:extLst>
          </p:cNvPr>
          <p:cNvSpPr>
            <a:spLocks noGrp="1"/>
          </p:cNvSpPr>
          <p:nvPr>
            <p:ph type="sldNum" sz="quarter" idx="5"/>
          </p:nvPr>
        </p:nvSpPr>
        <p:spPr/>
        <p:txBody>
          <a:bodyPr/>
          <a:lstStyle/>
          <a:p>
            <a:fld id="{6FC8D850-966F-45A6-8DE7-15B891E7D40D}" type="slidenum">
              <a:rPr lang="pt-BR" smtClean="0"/>
              <a:t>18</a:t>
            </a:fld>
            <a:endParaRPr lang="pt-BR"/>
          </a:p>
        </p:txBody>
      </p:sp>
    </p:spTree>
    <p:extLst>
      <p:ext uri="{BB962C8B-B14F-4D97-AF65-F5344CB8AC3E}">
        <p14:creationId xmlns:p14="http://schemas.microsoft.com/office/powerpoint/2010/main" val="16387949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D271E-5DD4-C38F-504E-63260FDC31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FE3152-A307-B5A2-094D-5B51993E8C0A}"/>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3FB61B8B-97C1-BD07-2B22-6A10443148CB}"/>
                  </a:ext>
                </a:extLst>
              </p:cNvPr>
              <p:cNvSpPr>
                <a:spLocks noGrp="1"/>
              </p:cNvSpPr>
              <p:nvPr>
                <p:ph type="body" idx="1"/>
              </p:nvPr>
            </p:nvSpPr>
            <p:spPr/>
            <p:txBody>
              <a:bodyPr/>
              <a:lstStyle/>
              <a:p>
                <a:r>
                  <a:rPr lang="pt-BR" dirty="0"/>
                  <a:t>Antes de entrar nas tabelas, este slide resume como os autores conduziram os experimentos. O </a:t>
                </a:r>
                <a:r>
                  <a:rPr lang="pt-BR" dirty="0" err="1"/>
                  <a:t>paper</a:t>
                </a:r>
                <a:r>
                  <a:rPr lang="pt-BR" dirty="0"/>
                  <a:t> avalia o </a:t>
                </a:r>
                <a:r>
                  <a:rPr lang="pt-BR" dirty="0" err="1"/>
                  <a:t>EasyNAS</a:t>
                </a:r>
                <a:r>
                  <a:rPr lang="pt-BR" dirty="0"/>
                  <a:t> em três frentes, classificação, detecção e segmentação. Em todos os casos, a lógica geral é a mesma: dividir o conjunto de treino em duas partes, usar uma para atualizar os pesos da rede e outra para atualizar os parâmetros arquiteturais, e realizar uma busca com otimização alternada por 50 épocas. No final, a arquitetura é discretizada, escolhendo as conexões, operações e reduções de canais mais relevantes.</a:t>
                </a:r>
              </a:p>
            </p:txBody>
          </p:sp>
        </mc:Choice>
        <mc:Fallback xmlns="">
          <p:sp>
            <p:nvSpPr>
              <p:cNvPr id="3" name="Notes Placeholder 2">
                <a:extLst>
                  <a:ext uri="{FF2B5EF4-FFF2-40B4-BE49-F238E27FC236}">
                    <a16:creationId xmlns:a16="http://schemas.microsoft.com/office/drawing/2014/main" id="{BC4A4DA6-AAD5-7B9F-C6CD-1BF515A984C5}"/>
                  </a:ext>
                </a:extLst>
              </p:cNvPr>
              <p:cNvSpPr>
                <a:spLocks noGrp="1"/>
              </p:cNvSpPr>
              <p:nvPr>
                <p:ph type="body" idx="1"/>
              </p:nvPr>
            </p:nvSpPr>
            <p:spPr/>
            <p:txBody>
              <a:bodyPr/>
              <a:lstStyle/>
              <a:p>
                <a:r>
                  <a:rPr lang="pt-BR" dirty="0"/>
                  <a:t>Este slide resume os quatro subproblemas usados na solução. A Seção III do </a:t>
                </a:r>
                <a:r>
                  <a:rPr lang="pt-BR" dirty="0" err="1"/>
                  <a:t>paper</a:t>
                </a:r>
                <a:r>
                  <a:rPr lang="pt-BR" dirty="0"/>
                  <a:t> é bem carregada de matemática, com vários lemas, reformulações e atualizações iterativas. Então, em vez de entrar em todas as equações, eu preferi traduzir a lógica prática do que cada bloco faz.</a:t>
                </a:r>
              </a:p>
              <a:p>
                <a:endParaRPr lang="pt-BR" dirty="0"/>
              </a:p>
              <a:p>
                <a:r>
                  <a:rPr lang="pt-BR" dirty="0"/>
                  <a:t>No primeiro subproblema, da frequência do servidor, a solução é relativamente simples. Como o problema é convexo, os autores conseguem obter uma solução fechada usando as condições </a:t>
                </a:r>
                <a:r>
                  <a:rPr lang="pt-BR" b="1" dirty="0"/>
                  <a:t>KKT</a:t>
                </a:r>
                <a:r>
                  <a:rPr lang="pt-BR" dirty="0"/>
                  <a:t>, que No primeiro subproblema, da frequência do servidor, a solução é relativamente simples. Como o problema é convexo, os autores conseguem obter uma solução fechada usando as condições KKT. Em termos práticos, isso quer dizer que eles não precisam iterar muito nem testar várias divisões possíveis de recurso. Eles já têm uma expressão direta que calcula quanto de processamento cada usuário deve receber com base na carga computacional associada a ele. Um exemplo simples seria este: imagine que o servidor tem 100 unidades de processamento para distribuir entre 3 usuários. O método não divide isso igualmente. Ele calcula uma divisão mais inteligente, dando mais recurso para quem tem tarefa mais pesada. Por isso, esse bloco é barato e tem complexidade linear no número de usuários</a:t>
                </a:r>
              </a:p>
              <a:p>
                <a:endParaRPr lang="pt-BR" dirty="0"/>
              </a:p>
              <a:p>
                <a:endParaRPr lang="pt-BR" dirty="0"/>
              </a:p>
              <a:p>
                <a:r>
                  <a:rPr lang="pt-BR" dirty="0"/>
                  <a:t>No segundo subproblema, da quantização, a lógica é a seguinte. O problema original é discreto, porque os bits permitidos são só 4, 8, 16 ou 32. Resolver isso diretamente seria mais difícil. Então eles fazem primeiro uma </a:t>
                </a:r>
                <a:r>
                  <a:rPr lang="pt-BR" b="1" dirty="0"/>
                  <a:t>relaxação contínua</a:t>
                </a:r>
                <a:r>
                  <a:rPr lang="pt-BR" dirty="0"/>
                  <a:t>, isto é, fingem temporariamente que o número de bits pode assumir qualquer valor real positivo. Depois disso, analisam a função do subproblema e mostram que ela é estritamente convexa. Isso é importante porque significa que existe um único ponto ótimo contínuo. A partir daí, eles derivam a condição de ótimo desse problema relaxado e obtêm diretamente o valor contínuo ótimo de </a:t>
                </a:r>
                <a:r>
                  <a:rPr lang="ar-AE" sz="1200" i="0" kern="1200">
                    <a:solidFill>
                      <a:schemeClr val="tx1"/>
                    </a:solidFill>
                    <a:latin typeface="+mn-lt"/>
                    <a:ea typeface="+mn-ea"/>
                    <a:cs typeface="+mn-cs"/>
                  </a:rPr>
                  <a:t>𝑞_𝑢</a:t>
                </a:r>
                <a:r>
                  <a:rPr lang="pt-BR" dirty="0"/>
                  <a:t>para cada usuário. Em seguida, como esse valor contínuo não é necessariamente permitido na prática, eles fazem uma </a:t>
                </a:r>
                <a:r>
                  <a:rPr lang="pt-BR" b="1" dirty="0"/>
                  <a:t>projeção para o conjunto discreto viável</a:t>
                </a:r>
                <a:r>
                  <a:rPr lang="pt-BR" dirty="0"/>
                  <a:t>, escolhendo o valor mais próximo entre 4, 8, 16 e 32. Um exemplo simples seria este: suponha que o valor ótimo contínuo calculado fosse 15.5 bits. Como esse valor não é permitido, eles projetam para o conjunto viável e escolhem o mais próximo: 16.</a:t>
                </a:r>
              </a:p>
              <a:p>
                <a:endParaRPr lang="pt-BR" dirty="0"/>
              </a:p>
              <a:p>
                <a:r>
                  <a:rPr lang="pt-BR" dirty="0"/>
                  <a:t>No terceiro subproblema, do </a:t>
                </a:r>
                <a:r>
                  <a:rPr lang="pt-BR" dirty="0" err="1"/>
                  <a:t>beamforming</a:t>
                </a:r>
                <a:r>
                  <a:rPr lang="pt-BR" dirty="0"/>
                  <a:t>, a dificuldade aumenta bastante. Aqui eles usam RADMM, que é uma forma de resolver o problema separando a variável em partes auxiliares e atualizando essas partes de maneira alternada. Em termos simples, o algoritmo faz o seguinte: primeiro ele atualiza uma versão do </a:t>
                </a:r>
                <a:r>
                  <a:rPr lang="pt-BR" dirty="0" err="1"/>
                  <a:t>beamforming</a:t>
                </a:r>
                <a:r>
                  <a:rPr lang="pt-BR" dirty="0"/>
                  <a:t> tentando melhorar a taxa </a:t>
                </a:r>
                <a:r>
                  <a:rPr lang="pt-BR" dirty="0" err="1"/>
                  <a:t>uplink</a:t>
                </a:r>
                <a:r>
                  <a:rPr lang="pt-BR" dirty="0"/>
                  <a:t>. Depois ele corrige essa solução para que ela continue respeitando a restrição geométrica de norma unitária. Em seguida, ele atualiza um termo auxiliar que força consistência entre essas duas representações. Então, na prática, esse subproblema roda como um pequeno laço interno com três etapas repetidas: melhorar a solução, projetar ou ajustar para o conjunto válido, e corrigir o acoplamento entre as variáveis auxiliares. Um exemplo intuitivo seria: imagine que a BS tenta ajustar o filtro de recepção para separar melhor dois usuários, mas toda vez que faz isso precisa garantir que esse filtro continue dentro da estrutura geométrica exigida. Então o algoritmo alterna entre melhorar o desempenho e reimpor a validade da solução. É por isso que esse é um dos blocos mais caros do algoritmo.</a:t>
                </a:r>
              </a:p>
              <a:p>
                <a:endParaRPr lang="pt-BR" dirty="0"/>
              </a:p>
              <a:p>
                <a:r>
                  <a:rPr lang="pt-BR" dirty="0"/>
                  <a:t>No quarto subproblema, das </a:t>
                </a:r>
                <a:r>
                  <a:rPr lang="pt-BR" dirty="0" err="1"/>
                  <a:t>fluid</a:t>
                </a:r>
                <a:r>
                  <a:rPr lang="pt-BR" dirty="0"/>
                  <a:t> </a:t>
                </a:r>
                <a:r>
                  <a:rPr lang="pt-BR" dirty="0" err="1"/>
                  <a:t>antennas</a:t>
                </a:r>
                <a:r>
                  <a:rPr lang="pt-BR" dirty="0"/>
                  <a:t>, eles também evitam uma solução conjunta completa. Em vez de tentar mover todas as antenas ao mesmo tempo, o algoritmo faz uma atualização </a:t>
                </a:r>
                <a:r>
                  <a:rPr lang="pt-BR" b="1" dirty="0"/>
                  <a:t>sequencial</a:t>
                </a:r>
                <a:r>
                  <a:rPr lang="pt-BR" dirty="0"/>
                  <a:t>. Ele escolhe uma antena, otimiza a posição dela mantendo as demais fixas, depois passa para a próxima, e assim por diante. Cada atualização leva em conta duas restrições físicas: a antena precisa permanecer dentro da área do painel e não pode ficar perto demais das outras. Então, em termos práticos, esse bloco funciona como uma varredura antena por antena. </a:t>
                </a:r>
              </a:p>
              <a:p>
                <a:endParaRPr lang="pt-BR" dirty="0"/>
              </a:p>
              <a:p>
                <a:r>
                  <a:rPr lang="pt-BR" dirty="0"/>
                  <a:t>Então, resumindo a complexidade, P1 e P2 são leves, porque têm solução direta ou quase direta. Já P3 e P4 concentram o custo real do algoritmo, porque envolvem iterações internas e restrições geométricas mais difíceis. E, como tudo roda em sequência dentro do BCD, o resultado atualizado de um bloco influencia o comportamento do próximo.</a:t>
                </a:r>
              </a:p>
              <a:p>
                <a:endParaRPr lang="pt-BR" dirty="0"/>
              </a:p>
              <a:p>
                <a:endParaRPr lang="pt-BR" dirty="0"/>
              </a:p>
              <a:p>
                <a:r>
                  <a:rPr lang="pt-BR" dirty="0"/>
                  <a:t>Os autores só dão explicitamente a complexidade de </a:t>
                </a:r>
                <a:r>
                  <a:rPr lang="pt-BR" b="1" dirty="0"/>
                  <a:t>dois</a:t>
                </a:r>
                <a:r>
                  <a:rPr lang="pt-BR" dirty="0"/>
                  <a:t> subproblemas. Eles afirmam que a complexidade de </a:t>
                </a:r>
                <a:r>
                  <a:rPr lang="pt-BR" sz="1200" i="0" kern="1200">
                    <a:solidFill>
                      <a:schemeClr val="tx1"/>
                    </a:solidFill>
                    <a:latin typeface="+mn-lt"/>
                    <a:ea typeface="+mn-ea"/>
                    <a:cs typeface="+mn-cs"/>
                  </a:rPr>
                  <a:t>𝑃1</a:t>
                </a:r>
                <a:r>
                  <a:rPr lang="pt-BR" dirty="0"/>
                  <a:t>e </a:t>
                </a:r>
                <a:r>
                  <a:rPr lang="pt-BR" sz="1200" i="0" kern="1200">
                    <a:solidFill>
                      <a:schemeClr val="tx1"/>
                    </a:solidFill>
                    <a:latin typeface="+mn-lt"/>
                    <a:ea typeface="+mn-ea"/>
                    <a:cs typeface="+mn-cs"/>
                  </a:rPr>
                  <a:t>𝑃2</a:t>
                </a:r>
                <a:r>
                  <a:rPr lang="pt-BR" dirty="0"/>
                  <a:t>é </a:t>
                </a:r>
                <a:r>
                  <a:rPr lang="pt-BR" sz="1200" i="0" kern="1200">
                    <a:solidFill>
                      <a:schemeClr val="tx1"/>
                    </a:solidFill>
                    <a:latin typeface="+mn-lt"/>
                    <a:ea typeface="+mn-ea"/>
                    <a:cs typeface="+mn-cs"/>
                  </a:rPr>
                  <a:t>𝑂</a:t>
                </a:r>
                <a:r>
                  <a:rPr lang="ar-AE" sz="1200" i="0" kern="1200">
                    <a:solidFill>
                      <a:schemeClr val="tx1"/>
                    </a:solidFill>
                    <a:latin typeface="+mn-lt"/>
                    <a:ea typeface="+mn-ea"/>
                    <a:cs typeface="+mn-cs"/>
                  </a:rPr>
                  <a:t>(𝑈)</a:t>
                </a:r>
                <a:r>
                  <a:rPr lang="ar-AE" dirty="0"/>
                  <a:t>, </a:t>
                </a:r>
                <a:r>
                  <a:rPr lang="pt-BR" dirty="0"/>
                  <a:t>isto é, linear no número de usuários. Depois disso, eles </a:t>
                </a:r>
                <a:r>
                  <a:rPr lang="pt-BR" b="1" dirty="0"/>
                  <a:t>não expandem</a:t>
                </a:r>
                <a:r>
                  <a:rPr lang="pt-BR" dirty="0"/>
                  <a:t> a complexidade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dentro deste </a:t>
                </a:r>
                <a:r>
                  <a:rPr lang="pt-BR" dirty="0" err="1"/>
                  <a:t>paper</a:t>
                </a:r>
                <a:r>
                  <a:rPr lang="pt-BR" dirty="0"/>
                  <a:t>. Em vez disso, dizem que as complexidades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são dadas nas referências </a:t>
                </a:r>
                <a:r>
                  <a:rPr lang="pt-BR" b="1" dirty="0"/>
                  <a:t>[7]</a:t>
                </a:r>
                <a:r>
                  <a:rPr lang="pt-BR" dirty="0"/>
                  <a:t> e </a:t>
                </a:r>
                <a:r>
                  <a:rPr lang="pt-BR" b="1" dirty="0"/>
                  <a:t>[4]</a:t>
                </a:r>
                <a:r>
                  <a:rPr lang="pt-BR" dirty="0"/>
                  <a:t>, respectivamente.</a:t>
                </a:r>
              </a:p>
            </p:txBody>
          </p:sp>
        </mc:Fallback>
      </mc:AlternateContent>
      <p:sp>
        <p:nvSpPr>
          <p:cNvPr id="4" name="Slide Number Placeholder 3">
            <a:extLst>
              <a:ext uri="{FF2B5EF4-FFF2-40B4-BE49-F238E27FC236}">
                <a16:creationId xmlns:a16="http://schemas.microsoft.com/office/drawing/2014/main" id="{F0FD6C59-C008-E72E-BB45-B2FCFD93D49E}"/>
              </a:ext>
            </a:extLst>
          </p:cNvPr>
          <p:cNvSpPr>
            <a:spLocks noGrp="1"/>
          </p:cNvSpPr>
          <p:nvPr>
            <p:ph type="sldNum" sz="quarter" idx="5"/>
          </p:nvPr>
        </p:nvSpPr>
        <p:spPr/>
        <p:txBody>
          <a:bodyPr/>
          <a:lstStyle/>
          <a:p>
            <a:fld id="{6FC8D850-966F-45A6-8DE7-15B891E7D40D}" type="slidenum">
              <a:rPr lang="pt-BR" smtClean="0"/>
              <a:t>19</a:t>
            </a:fld>
            <a:endParaRPr lang="pt-BR"/>
          </a:p>
        </p:txBody>
      </p:sp>
    </p:spTree>
    <p:extLst>
      <p:ext uri="{BB962C8B-B14F-4D97-AF65-F5344CB8AC3E}">
        <p14:creationId xmlns:p14="http://schemas.microsoft.com/office/powerpoint/2010/main" val="21664371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20289-DD16-66DA-221D-B397A7C574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8416E4-27B4-4136-F9BF-44FDF3BACDC3}"/>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E490C18-8D85-0BC6-B0D8-9E11B7DD36B9}"/>
                  </a:ext>
                </a:extLst>
              </p:cNvPr>
              <p:cNvSpPr>
                <a:spLocks noGrp="1"/>
              </p:cNvSpPr>
              <p:nvPr>
                <p:ph type="body" idx="1"/>
              </p:nvPr>
            </p:nvSpPr>
            <p:spPr/>
            <p:txBody>
              <a:bodyPr/>
              <a:lstStyle/>
              <a:p>
                <a:r>
                  <a:rPr lang="pt-BR" dirty="0"/>
                  <a:t>Eles fizeram uma distinção entre </a:t>
                </a:r>
                <a:r>
                  <a:rPr lang="pt-BR" b="1" dirty="0"/>
                  <a:t>fase de busca</a:t>
                </a:r>
                <a:r>
                  <a:rPr lang="pt-BR" dirty="0"/>
                  <a:t> e </a:t>
                </a:r>
                <a:r>
                  <a:rPr lang="pt-BR" b="1" dirty="0"/>
                  <a:t>fase de avaliação final</a:t>
                </a:r>
                <a:r>
                  <a:rPr lang="pt-BR" dirty="0"/>
                  <a:t>.</a:t>
                </a:r>
              </a:p>
              <a:p>
                <a:r>
                  <a:rPr lang="pt-BR" dirty="0"/>
                  <a:t>Na </a:t>
                </a:r>
                <a:r>
                  <a:rPr lang="pt-BR" b="1" dirty="0"/>
                  <a:t>fase de busca</a:t>
                </a:r>
                <a:r>
                  <a:rPr lang="pt-BR" dirty="0"/>
                  <a:t>, eles usam uma rede menor, com </a:t>
                </a:r>
                <a:r>
                  <a:rPr lang="pt-BR" b="1" dirty="0"/>
                  <a:t>8 células</a:t>
                </a:r>
                <a:r>
                  <a:rPr lang="pt-BR" dirty="0"/>
                  <a:t>, porque o objetivo não é treinar o melhor modelo final. O objetivo é descobrir </a:t>
                </a:r>
                <a:r>
                  <a:rPr lang="pt-BR" b="1" dirty="0"/>
                  <a:t>qual desenho de célula</a:t>
                </a:r>
                <a:r>
                  <a:rPr lang="pt-BR" dirty="0"/>
                  <a:t> é melhor, isto é, quais operações e conexões devem compor a arquitetura.</a:t>
                </a:r>
              </a:p>
              <a:p>
                <a:r>
                  <a:rPr lang="pt-BR" dirty="0"/>
                  <a:t>Depois disso, na </a:t>
                </a:r>
                <a:r>
                  <a:rPr lang="pt-BR" b="1" dirty="0"/>
                  <a:t>fase de avaliação</a:t>
                </a:r>
                <a:r>
                  <a:rPr lang="pt-BR" dirty="0"/>
                  <a:t>, eles pegam a célula descoberta e montam uma rede maior, com </a:t>
                </a:r>
                <a:r>
                  <a:rPr lang="pt-BR" b="1" dirty="0"/>
                  <a:t>20 células</a:t>
                </a:r>
                <a:r>
                  <a:rPr lang="pt-BR" dirty="0"/>
                  <a:t>, treinando tudo do zero por </a:t>
                </a:r>
                <a:r>
                  <a:rPr lang="pt-BR" b="1" dirty="0"/>
                  <a:t>600 épocas</a:t>
                </a:r>
                <a:r>
                  <a:rPr lang="pt-BR" dirty="0"/>
                  <a:t>. O </a:t>
                </a:r>
                <a:r>
                  <a:rPr lang="pt-BR" dirty="0" err="1"/>
                  <a:t>paper</a:t>
                </a:r>
                <a:r>
                  <a:rPr lang="pt-BR" dirty="0"/>
                  <a:t> descreve exatamente essa estratégia para classificação: a </a:t>
                </a:r>
                <a:r>
                  <a:rPr lang="pt-BR" dirty="0" err="1"/>
                  <a:t>supernet</a:t>
                </a:r>
                <a:r>
                  <a:rPr lang="pt-BR" dirty="0"/>
                  <a:t> de busca tem 8 células, depois a arquitetura descoberta é treinada em uma rede maior de 20 células. </a:t>
                </a:r>
              </a:p>
            </p:txBody>
          </p:sp>
        </mc:Choice>
        <mc:Fallback xmlns="">
          <p:sp>
            <p:nvSpPr>
              <p:cNvPr id="3" name="Notes Placeholder 2">
                <a:extLst>
                  <a:ext uri="{FF2B5EF4-FFF2-40B4-BE49-F238E27FC236}">
                    <a16:creationId xmlns:a16="http://schemas.microsoft.com/office/drawing/2014/main" id="{BC4A4DA6-AAD5-7B9F-C6CD-1BF515A984C5}"/>
                  </a:ext>
                </a:extLst>
              </p:cNvPr>
              <p:cNvSpPr>
                <a:spLocks noGrp="1"/>
              </p:cNvSpPr>
              <p:nvPr>
                <p:ph type="body" idx="1"/>
              </p:nvPr>
            </p:nvSpPr>
            <p:spPr/>
            <p:txBody>
              <a:bodyPr/>
              <a:lstStyle/>
              <a:p>
                <a:r>
                  <a:rPr lang="pt-BR" dirty="0"/>
                  <a:t>Este slide resume os quatro subproblemas usados na solução. A Seção III do </a:t>
                </a:r>
                <a:r>
                  <a:rPr lang="pt-BR" dirty="0" err="1"/>
                  <a:t>paper</a:t>
                </a:r>
                <a:r>
                  <a:rPr lang="pt-BR" dirty="0"/>
                  <a:t> é bem carregada de matemática, com vários lemas, reformulações e atualizações iterativas. Então, em vez de entrar em todas as equações, eu preferi traduzir a lógica prática do que cada bloco faz.</a:t>
                </a:r>
              </a:p>
              <a:p>
                <a:endParaRPr lang="pt-BR" dirty="0"/>
              </a:p>
              <a:p>
                <a:r>
                  <a:rPr lang="pt-BR" dirty="0"/>
                  <a:t>No primeiro subproblema, da frequência do servidor, a solução é relativamente simples. Como o problema é convexo, os autores conseguem obter uma solução fechada usando as condições </a:t>
                </a:r>
                <a:r>
                  <a:rPr lang="pt-BR" b="1" dirty="0"/>
                  <a:t>KKT</a:t>
                </a:r>
                <a:r>
                  <a:rPr lang="pt-BR" dirty="0"/>
                  <a:t>, que No primeiro subproblema, da frequência do servidor, a solução é relativamente simples. Como o problema é convexo, os autores conseguem obter uma solução fechada usando as condições KKT. Em termos práticos, isso quer dizer que eles não precisam iterar muito nem testar várias divisões possíveis de recurso. Eles já têm uma expressão direta que calcula quanto de processamento cada usuário deve receber com base na carga computacional associada a ele. Um exemplo simples seria este: imagine que o servidor tem 100 unidades de processamento para distribuir entre 3 usuários. O método não divide isso igualmente. Ele calcula uma divisão mais inteligente, dando mais recurso para quem tem tarefa mais pesada. Por isso, esse bloco é barato e tem complexidade linear no número de usuários</a:t>
                </a:r>
              </a:p>
              <a:p>
                <a:endParaRPr lang="pt-BR" dirty="0"/>
              </a:p>
              <a:p>
                <a:endParaRPr lang="pt-BR" dirty="0"/>
              </a:p>
              <a:p>
                <a:r>
                  <a:rPr lang="pt-BR" dirty="0"/>
                  <a:t>No segundo subproblema, da quantização, a lógica é a seguinte. O problema original é discreto, porque os bits permitidos são só 4, 8, 16 ou 32. Resolver isso diretamente seria mais difícil. Então eles fazem primeiro uma </a:t>
                </a:r>
                <a:r>
                  <a:rPr lang="pt-BR" b="1" dirty="0"/>
                  <a:t>relaxação contínua</a:t>
                </a:r>
                <a:r>
                  <a:rPr lang="pt-BR" dirty="0"/>
                  <a:t>, isto é, fingem temporariamente que o número de bits pode assumir qualquer valor real positivo. Depois disso, analisam a função do subproblema e mostram que ela é estritamente convexa. Isso é importante porque significa que existe um único ponto ótimo contínuo. A partir daí, eles derivam a condição de ótimo desse problema relaxado e obtêm diretamente o valor contínuo ótimo de </a:t>
                </a:r>
                <a:r>
                  <a:rPr lang="ar-AE" sz="1200" i="0" kern="1200">
                    <a:solidFill>
                      <a:schemeClr val="tx1"/>
                    </a:solidFill>
                    <a:latin typeface="+mn-lt"/>
                    <a:ea typeface="+mn-ea"/>
                    <a:cs typeface="+mn-cs"/>
                  </a:rPr>
                  <a:t>𝑞_𝑢</a:t>
                </a:r>
                <a:r>
                  <a:rPr lang="pt-BR" dirty="0"/>
                  <a:t>para cada usuário. Em seguida, como esse valor contínuo não é necessariamente permitido na prática, eles fazem uma </a:t>
                </a:r>
                <a:r>
                  <a:rPr lang="pt-BR" b="1" dirty="0"/>
                  <a:t>projeção para o conjunto discreto viável</a:t>
                </a:r>
                <a:r>
                  <a:rPr lang="pt-BR" dirty="0"/>
                  <a:t>, escolhendo o valor mais próximo entre 4, 8, 16 e 32. Um exemplo simples seria este: suponha que o valor ótimo contínuo calculado fosse 15.5 bits. Como esse valor não é permitido, eles projetam para o conjunto viável e escolhem o mais próximo: 16.</a:t>
                </a:r>
              </a:p>
              <a:p>
                <a:endParaRPr lang="pt-BR" dirty="0"/>
              </a:p>
              <a:p>
                <a:r>
                  <a:rPr lang="pt-BR" dirty="0"/>
                  <a:t>No terceiro subproblema, do </a:t>
                </a:r>
                <a:r>
                  <a:rPr lang="pt-BR" dirty="0" err="1"/>
                  <a:t>beamforming</a:t>
                </a:r>
                <a:r>
                  <a:rPr lang="pt-BR" dirty="0"/>
                  <a:t>, a dificuldade aumenta bastante. Aqui eles usam RADMM, que é uma forma de resolver o problema separando a variável em partes auxiliares e atualizando essas partes de maneira alternada. Em termos simples, o algoritmo faz o seguinte: primeiro ele atualiza uma versão do </a:t>
                </a:r>
                <a:r>
                  <a:rPr lang="pt-BR" dirty="0" err="1"/>
                  <a:t>beamforming</a:t>
                </a:r>
                <a:r>
                  <a:rPr lang="pt-BR" dirty="0"/>
                  <a:t> tentando melhorar a taxa </a:t>
                </a:r>
                <a:r>
                  <a:rPr lang="pt-BR" dirty="0" err="1"/>
                  <a:t>uplink</a:t>
                </a:r>
                <a:r>
                  <a:rPr lang="pt-BR" dirty="0"/>
                  <a:t>. Depois ele corrige essa solução para que ela continue respeitando a restrição geométrica de norma unitária. Em seguida, ele atualiza um termo auxiliar que força consistência entre essas duas representações. Então, na prática, esse subproblema roda como um pequeno laço interno com três etapas repetidas: melhorar a solução, projetar ou ajustar para o conjunto válido, e corrigir o acoplamento entre as variáveis auxiliares. Um exemplo intuitivo seria: imagine que a BS tenta ajustar o filtro de recepção para separar melhor dois usuários, mas toda vez que faz isso precisa garantir que esse filtro continue dentro da estrutura geométrica exigida. Então o algoritmo alterna entre melhorar o desempenho e reimpor a validade da solução. É por isso que esse é um dos blocos mais caros do algoritmo.</a:t>
                </a:r>
              </a:p>
              <a:p>
                <a:endParaRPr lang="pt-BR" dirty="0"/>
              </a:p>
              <a:p>
                <a:r>
                  <a:rPr lang="pt-BR" dirty="0"/>
                  <a:t>No quarto subproblema, das </a:t>
                </a:r>
                <a:r>
                  <a:rPr lang="pt-BR" dirty="0" err="1"/>
                  <a:t>fluid</a:t>
                </a:r>
                <a:r>
                  <a:rPr lang="pt-BR" dirty="0"/>
                  <a:t> </a:t>
                </a:r>
                <a:r>
                  <a:rPr lang="pt-BR" dirty="0" err="1"/>
                  <a:t>antennas</a:t>
                </a:r>
                <a:r>
                  <a:rPr lang="pt-BR" dirty="0"/>
                  <a:t>, eles também evitam uma solução conjunta completa. Em vez de tentar mover todas as antenas ao mesmo tempo, o algoritmo faz uma atualização </a:t>
                </a:r>
                <a:r>
                  <a:rPr lang="pt-BR" b="1" dirty="0"/>
                  <a:t>sequencial</a:t>
                </a:r>
                <a:r>
                  <a:rPr lang="pt-BR" dirty="0"/>
                  <a:t>. Ele escolhe uma antena, otimiza a posição dela mantendo as demais fixas, depois passa para a próxima, e assim por diante. Cada atualização leva em conta duas restrições físicas: a antena precisa permanecer dentro da área do painel e não pode ficar perto demais das outras. Então, em termos práticos, esse bloco funciona como uma varredura antena por antena. </a:t>
                </a:r>
              </a:p>
              <a:p>
                <a:endParaRPr lang="pt-BR" dirty="0"/>
              </a:p>
              <a:p>
                <a:r>
                  <a:rPr lang="pt-BR" dirty="0"/>
                  <a:t>Então, resumindo a complexidade, P1 e P2 são leves, porque têm solução direta ou quase direta. Já P3 e P4 concentram o custo real do algoritmo, porque envolvem iterações internas e restrições geométricas mais difíceis. E, como tudo roda em sequência dentro do BCD, o resultado atualizado de um bloco influencia o comportamento do próximo.</a:t>
                </a:r>
              </a:p>
              <a:p>
                <a:endParaRPr lang="pt-BR" dirty="0"/>
              </a:p>
              <a:p>
                <a:endParaRPr lang="pt-BR" dirty="0"/>
              </a:p>
              <a:p>
                <a:r>
                  <a:rPr lang="pt-BR" dirty="0"/>
                  <a:t>Os autores só dão explicitamente a complexidade de </a:t>
                </a:r>
                <a:r>
                  <a:rPr lang="pt-BR" b="1" dirty="0"/>
                  <a:t>dois</a:t>
                </a:r>
                <a:r>
                  <a:rPr lang="pt-BR" dirty="0"/>
                  <a:t> subproblemas. Eles afirmam que a complexidade de </a:t>
                </a:r>
                <a:r>
                  <a:rPr lang="pt-BR" sz="1200" i="0" kern="1200">
                    <a:solidFill>
                      <a:schemeClr val="tx1"/>
                    </a:solidFill>
                    <a:latin typeface="+mn-lt"/>
                    <a:ea typeface="+mn-ea"/>
                    <a:cs typeface="+mn-cs"/>
                  </a:rPr>
                  <a:t>𝑃1</a:t>
                </a:r>
                <a:r>
                  <a:rPr lang="pt-BR" dirty="0"/>
                  <a:t>e </a:t>
                </a:r>
                <a:r>
                  <a:rPr lang="pt-BR" sz="1200" i="0" kern="1200">
                    <a:solidFill>
                      <a:schemeClr val="tx1"/>
                    </a:solidFill>
                    <a:latin typeface="+mn-lt"/>
                    <a:ea typeface="+mn-ea"/>
                    <a:cs typeface="+mn-cs"/>
                  </a:rPr>
                  <a:t>𝑃2</a:t>
                </a:r>
                <a:r>
                  <a:rPr lang="pt-BR" dirty="0"/>
                  <a:t>é </a:t>
                </a:r>
                <a:r>
                  <a:rPr lang="pt-BR" sz="1200" i="0" kern="1200">
                    <a:solidFill>
                      <a:schemeClr val="tx1"/>
                    </a:solidFill>
                    <a:latin typeface="+mn-lt"/>
                    <a:ea typeface="+mn-ea"/>
                    <a:cs typeface="+mn-cs"/>
                  </a:rPr>
                  <a:t>𝑂</a:t>
                </a:r>
                <a:r>
                  <a:rPr lang="ar-AE" sz="1200" i="0" kern="1200">
                    <a:solidFill>
                      <a:schemeClr val="tx1"/>
                    </a:solidFill>
                    <a:latin typeface="+mn-lt"/>
                    <a:ea typeface="+mn-ea"/>
                    <a:cs typeface="+mn-cs"/>
                  </a:rPr>
                  <a:t>(𝑈)</a:t>
                </a:r>
                <a:r>
                  <a:rPr lang="ar-AE" dirty="0"/>
                  <a:t>, </a:t>
                </a:r>
                <a:r>
                  <a:rPr lang="pt-BR" dirty="0"/>
                  <a:t>isto é, linear no número de usuários. Depois disso, eles </a:t>
                </a:r>
                <a:r>
                  <a:rPr lang="pt-BR" b="1" dirty="0"/>
                  <a:t>não expandem</a:t>
                </a:r>
                <a:r>
                  <a:rPr lang="pt-BR" dirty="0"/>
                  <a:t> a complexidade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dentro deste </a:t>
                </a:r>
                <a:r>
                  <a:rPr lang="pt-BR" dirty="0" err="1"/>
                  <a:t>paper</a:t>
                </a:r>
                <a:r>
                  <a:rPr lang="pt-BR" dirty="0"/>
                  <a:t>. Em vez disso, dizem que as complexidades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são dadas nas referências </a:t>
                </a:r>
                <a:r>
                  <a:rPr lang="pt-BR" b="1" dirty="0"/>
                  <a:t>[7]</a:t>
                </a:r>
                <a:r>
                  <a:rPr lang="pt-BR" dirty="0"/>
                  <a:t> e </a:t>
                </a:r>
                <a:r>
                  <a:rPr lang="pt-BR" b="1" dirty="0"/>
                  <a:t>[4]</a:t>
                </a:r>
                <a:r>
                  <a:rPr lang="pt-BR" dirty="0"/>
                  <a:t>, respectivamente.</a:t>
                </a:r>
              </a:p>
            </p:txBody>
          </p:sp>
        </mc:Fallback>
      </mc:AlternateContent>
      <p:sp>
        <p:nvSpPr>
          <p:cNvPr id="4" name="Slide Number Placeholder 3">
            <a:extLst>
              <a:ext uri="{FF2B5EF4-FFF2-40B4-BE49-F238E27FC236}">
                <a16:creationId xmlns:a16="http://schemas.microsoft.com/office/drawing/2014/main" id="{B6CEB322-13D6-8344-887D-5163BF817778}"/>
              </a:ext>
            </a:extLst>
          </p:cNvPr>
          <p:cNvSpPr>
            <a:spLocks noGrp="1"/>
          </p:cNvSpPr>
          <p:nvPr>
            <p:ph type="sldNum" sz="quarter" idx="5"/>
          </p:nvPr>
        </p:nvSpPr>
        <p:spPr/>
        <p:txBody>
          <a:bodyPr/>
          <a:lstStyle/>
          <a:p>
            <a:fld id="{6FC8D850-966F-45A6-8DE7-15B891E7D40D}" type="slidenum">
              <a:rPr lang="pt-BR" smtClean="0"/>
              <a:t>20</a:t>
            </a:fld>
            <a:endParaRPr lang="pt-BR"/>
          </a:p>
        </p:txBody>
      </p:sp>
    </p:spTree>
    <p:extLst>
      <p:ext uri="{BB962C8B-B14F-4D97-AF65-F5344CB8AC3E}">
        <p14:creationId xmlns:p14="http://schemas.microsoft.com/office/powerpoint/2010/main" val="15147110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C717C-86BE-C8A2-7729-0D944063CA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91808A-9542-119B-D02A-D59A0227E79E}"/>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ACF8E3C-0A36-55E3-B2E7-0359999C2CDE}"/>
                  </a:ext>
                </a:extLst>
              </p:cNvPr>
              <p:cNvSpPr>
                <a:spLocks noGrp="1"/>
              </p:cNvSpPr>
              <p:nvPr>
                <p:ph type="body" idx="1"/>
              </p:nvPr>
            </p:nvSpPr>
            <p:spPr/>
            <p:txBody>
              <a:bodyPr/>
              <a:lstStyle/>
              <a:p>
                <a:r>
                  <a:rPr lang="pt-BR" dirty="0"/>
                  <a:t>Este slide mostra que a proposta do </a:t>
                </a:r>
                <a:r>
                  <a:rPr lang="pt-BR" dirty="0" err="1"/>
                  <a:t>EasyNAS</a:t>
                </a:r>
                <a:r>
                  <a:rPr lang="pt-BR" dirty="0"/>
                  <a:t> realmente ataca o problema central do </a:t>
                </a:r>
                <a:r>
                  <a:rPr lang="pt-BR" dirty="0" err="1"/>
                  <a:t>paper</a:t>
                </a:r>
                <a:r>
                  <a:rPr lang="pt-BR" dirty="0"/>
                  <a:t>, que é o custo da busca. Na Tabela II, vemos que o método reduz bastante o consumo de memória em relação ao DARTS nas três tarefas. Em classificação, a redução é de 54 por cento, em detecção, 33 por cento, e em segmentação, 41 por cento. Além disso, ele fica próximo do GDAS em memória, mas sem depender de uma estrutura dinâmica por </a:t>
                </a:r>
                <a:r>
                  <a:rPr lang="pt-BR" dirty="0" err="1"/>
                  <a:t>sampling</a:t>
                </a:r>
                <a:r>
                  <a:rPr lang="pt-BR" dirty="0"/>
                  <a:t>. Já a Tabela I mostra que o </a:t>
                </a:r>
                <a:r>
                  <a:rPr lang="pt-BR" dirty="0" err="1"/>
                  <a:t>dynamic</a:t>
                </a:r>
                <a:r>
                  <a:rPr lang="pt-BR" dirty="0"/>
                  <a:t> </a:t>
                </a:r>
                <a:r>
                  <a:rPr lang="pt-BR" dirty="0" err="1"/>
                  <a:t>channel</a:t>
                </a:r>
                <a:r>
                  <a:rPr lang="pt-BR" dirty="0"/>
                  <a:t> </a:t>
                </a:r>
                <a:r>
                  <a:rPr lang="pt-BR" dirty="0" err="1"/>
                  <a:t>refinement</a:t>
                </a:r>
                <a:r>
                  <a:rPr lang="pt-BR" dirty="0"/>
                  <a:t> também reduz o custo de busca em relação à estratégia com zero-</a:t>
                </a:r>
                <a:r>
                  <a:rPr lang="pt-BR" dirty="0" err="1"/>
                  <a:t>padding</a:t>
                </a:r>
                <a:r>
                  <a:rPr lang="pt-BR" dirty="0"/>
                  <a:t>, caindo de 41,9 para 33,1 GPU-hours. Então, aqui o principal resultado é que o método não só funciona, mas de fato torna a busca mais eficiente.</a:t>
                </a:r>
              </a:p>
            </p:txBody>
          </p:sp>
        </mc:Choice>
        <mc:Fallback xmlns="">
          <p:sp>
            <p:nvSpPr>
              <p:cNvPr id="3" name="Notes Placeholder 2">
                <a:extLst>
                  <a:ext uri="{FF2B5EF4-FFF2-40B4-BE49-F238E27FC236}">
                    <a16:creationId xmlns:a16="http://schemas.microsoft.com/office/drawing/2014/main" id="{BC4A4DA6-AAD5-7B9F-C6CD-1BF515A984C5}"/>
                  </a:ext>
                </a:extLst>
              </p:cNvPr>
              <p:cNvSpPr>
                <a:spLocks noGrp="1"/>
              </p:cNvSpPr>
              <p:nvPr>
                <p:ph type="body" idx="1"/>
              </p:nvPr>
            </p:nvSpPr>
            <p:spPr/>
            <p:txBody>
              <a:bodyPr/>
              <a:lstStyle/>
              <a:p>
                <a:r>
                  <a:rPr lang="pt-BR" dirty="0"/>
                  <a:t>Este slide resume os quatro subproblemas usados na solução. A Seção III do </a:t>
                </a:r>
                <a:r>
                  <a:rPr lang="pt-BR" dirty="0" err="1"/>
                  <a:t>paper</a:t>
                </a:r>
                <a:r>
                  <a:rPr lang="pt-BR" dirty="0"/>
                  <a:t> é bem carregada de matemática, com vários lemas, reformulações e atualizações iterativas. Então, em vez de entrar em todas as equações, eu preferi traduzir a lógica prática do que cada bloco faz.</a:t>
                </a:r>
              </a:p>
              <a:p>
                <a:endParaRPr lang="pt-BR" dirty="0"/>
              </a:p>
              <a:p>
                <a:r>
                  <a:rPr lang="pt-BR" dirty="0"/>
                  <a:t>No primeiro subproblema, da frequência do servidor, a solução é relativamente simples. Como o problema é convexo, os autores conseguem obter uma solução fechada usando as condições </a:t>
                </a:r>
                <a:r>
                  <a:rPr lang="pt-BR" b="1" dirty="0"/>
                  <a:t>KKT</a:t>
                </a:r>
                <a:r>
                  <a:rPr lang="pt-BR" dirty="0"/>
                  <a:t>, que No primeiro subproblema, da frequência do servidor, a solução é relativamente simples. Como o problema é convexo, os autores conseguem obter uma solução fechada usando as condições KKT. Em termos práticos, isso quer dizer que eles não precisam iterar muito nem testar várias divisões possíveis de recurso. Eles já têm uma expressão direta que calcula quanto de processamento cada usuário deve receber com base na carga computacional associada a ele. Um exemplo simples seria este: imagine que o servidor tem 100 unidades de processamento para distribuir entre 3 usuários. O método não divide isso igualmente. Ele calcula uma divisão mais inteligente, dando mais recurso para quem tem tarefa mais pesada. Por isso, esse bloco é barato e tem complexidade linear no número de usuários</a:t>
                </a:r>
              </a:p>
              <a:p>
                <a:endParaRPr lang="pt-BR" dirty="0"/>
              </a:p>
              <a:p>
                <a:endParaRPr lang="pt-BR" dirty="0"/>
              </a:p>
              <a:p>
                <a:r>
                  <a:rPr lang="pt-BR" dirty="0"/>
                  <a:t>No segundo subproblema, da quantização, a lógica é a seguinte. O problema original é discreto, porque os bits permitidos são só 4, 8, 16 ou 32. Resolver isso diretamente seria mais difícil. Então eles fazem primeiro uma </a:t>
                </a:r>
                <a:r>
                  <a:rPr lang="pt-BR" b="1" dirty="0"/>
                  <a:t>relaxação contínua</a:t>
                </a:r>
                <a:r>
                  <a:rPr lang="pt-BR" dirty="0"/>
                  <a:t>, isto é, fingem temporariamente que o número de bits pode assumir qualquer valor real positivo. Depois disso, analisam a função do subproblema e mostram que ela é estritamente convexa. Isso é importante porque significa que existe um único ponto ótimo contínuo. A partir daí, eles derivam a condição de ótimo desse problema relaxado e obtêm diretamente o valor contínuo ótimo de </a:t>
                </a:r>
                <a:r>
                  <a:rPr lang="ar-AE" sz="1200" i="0" kern="1200">
                    <a:solidFill>
                      <a:schemeClr val="tx1"/>
                    </a:solidFill>
                    <a:latin typeface="+mn-lt"/>
                    <a:ea typeface="+mn-ea"/>
                    <a:cs typeface="+mn-cs"/>
                  </a:rPr>
                  <a:t>𝑞_𝑢</a:t>
                </a:r>
                <a:r>
                  <a:rPr lang="pt-BR" dirty="0"/>
                  <a:t>para cada usuário. Em seguida, como esse valor contínuo não é necessariamente permitido na prática, eles fazem uma </a:t>
                </a:r>
                <a:r>
                  <a:rPr lang="pt-BR" b="1" dirty="0"/>
                  <a:t>projeção para o conjunto discreto viável</a:t>
                </a:r>
                <a:r>
                  <a:rPr lang="pt-BR" dirty="0"/>
                  <a:t>, escolhendo o valor mais próximo entre 4, 8, 16 e 32. Um exemplo simples seria este: suponha que o valor ótimo contínuo calculado fosse 15.5 bits. Como esse valor não é permitido, eles projetam para o conjunto viável e escolhem o mais próximo: 16.</a:t>
                </a:r>
              </a:p>
              <a:p>
                <a:endParaRPr lang="pt-BR" dirty="0"/>
              </a:p>
              <a:p>
                <a:r>
                  <a:rPr lang="pt-BR" dirty="0"/>
                  <a:t>No terceiro subproblema, do </a:t>
                </a:r>
                <a:r>
                  <a:rPr lang="pt-BR" dirty="0" err="1"/>
                  <a:t>beamforming</a:t>
                </a:r>
                <a:r>
                  <a:rPr lang="pt-BR" dirty="0"/>
                  <a:t>, a dificuldade aumenta bastante. Aqui eles usam RADMM, que é uma forma de resolver o problema separando a variável em partes auxiliares e atualizando essas partes de maneira alternada. Em termos simples, o algoritmo faz o seguinte: primeiro ele atualiza uma versão do </a:t>
                </a:r>
                <a:r>
                  <a:rPr lang="pt-BR" dirty="0" err="1"/>
                  <a:t>beamforming</a:t>
                </a:r>
                <a:r>
                  <a:rPr lang="pt-BR" dirty="0"/>
                  <a:t> tentando melhorar a taxa </a:t>
                </a:r>
                <a:r>
                  <a:rPr lang="pt-BR" dirty="0" err="1"/>
                  <a:t>uplink</a:t>
                </a:r>
                <a:r>
                  <a:rPr lang="pt-BR" dirty="0"/>
                  <a:t>. Depois ele corrige essa solução para que ela continue respeitando a restrição geométrica de norma unitária. Em seguida, ele atualiza um termo auxiliar que força consistência entre essas duas representações. Então, na prática, esse subproblema roda como um pequeno laço interno com três etapas repetidas: melhorar a solução, projetar ou ajustar para o conjunto válido, e corrigir o acoplamento entre as variáveis auxiliares. Um exemplo intuitivo seria: imagine que a BS tenta ajustar o filtro de recepção para separar melhor dois usuários, mas toda vez que faz isso precisa garantir que esse filtro continue dentro da estrutura geométrica exigida. Então o algoritmo alterna entre melhorar o desempenho e reimpor a validade da solução. É por isso que esse é um dos blocos mais caros do algoritmo.</a:t>
                </a:r>
              </a:p>
              <a:p>
                <a:endParaRPr lang="pt-BR" dirty="0"/>
              </a:p>
              <a:p>
                <a:r>
                  <a:rPr lang="pt-BR" dirty="0"/>
                  <a:t>No quarto subproblema, das </a:t>
                </a:r>
                <a:r>
                  <a:rPr lang="pt-BR" dirty="0" err="1"/>
                  <a:t>fluid</a:t>
                </a:r>
                <a:r>
                  <a:rPr lang="pt-BR" dirty="0"/>
                  <a:t> </a:t>
                </a:r>
                <a:r>
                  <a:rPr lang="pt-BR" dirty="0" err="1"/>
                  <a:t>antennas</a:t>
                </a:r>
                <a:r>
                  <a:rPr lang="pt-BR" dirty="0"/>
                  <a:t>, eles também evitam uma solução conjunta completa. Em vez de tentar mover todas as antenas ao mesmo tempo, o algoritmo faz uma atualização </a:t>
                </a:r>
                <a:r>
                  <a:rPr lang="pt-BR" b="1" dirty="0"/>
                  <a:t>sequencial</a:t>
                </a:r>
                <a:r>
                  <a:rPr lang="pt-BR" dirty="0"/>
                  <a:t>. Ele escolhe uma antena, otimiza a posição dela mantendo as demais fixas, depois passa para a próxima, e assim por diante. Cada atualização leva em conta duas restrições físicas: a antena precisa permanecer dentro da área do painel e não pode ficar perto demais das outras. Então, em termos práticos, esse bloco funciona como uma varredura antena por antena. </a:t>
                </a:r>
              </a:p>
              <a:p>
                <a:endParaRPr lang="pt-BR" dirty="0"/>
              </a:p>
              <a:p>
                <a:r>
                  <a:rPr lang="pt-BR" dirty="0"/>
                  <a:t>Então, resumindo a complexidade, P1 e P2 são leves, porque têm solução direta ou quase direta. Já P3 e P4 concentram o custo real do algoritmo, porque envolvem iterações internas e restrições geométricas mais difíceis. E, como tudo roda em sequência dentro do BCD, o resultado atualizado de um bloco influencia o comportamento do próximo.</a:t>
                </a:r>
              </a:p>
              <a:p>
                <a:endParaRPr lang="pt-BR" dirty="0"/>
              </a:p>
              <a:p>
                <a:endParaRPr lang="pt-BR" dirty="0"/>
              </a:p>
              <a:p>
                <a:r>
                  <a:rPr lang="pt-BR" dirty="0"/>
                  <a:t>Os autores só dão explicitamente a complexidade de </a:t>
                </a:r>
                <a:r>
                  <a:rPr lang="pt-BR" b="1" dirty="0"/>
                  <a:t>dois</a:t>
                </a:r>
                <a:r>
                  <a:rPr lang="pt-BR" dirty="0"/>
                  <a:t> subproblemas. Eles afirmam que a complexidade de </a:t>
                </a:r>
                <a:r>
                  <a:rPr lang="pt-BR" sz="1200" i="0" kern="1200">
                    <a:solidFill>
                      <a:schemeClr val="tx1"/>
                    </a:solidFill>
                    <a:latin typeface="+mn-lt"/>
                    <a:ea typeface="+mn-ea"/>
                    <a:cs typeface="+mn-cs"/>
                  </a:rPr>
                  <a:t>𝑃1</a:t>
                </a:r>
                <a:r>
                  <a:rPr lang="pt-BR" dirty="0"/>
                  <a:t>e </a:t>
                </a:r>
                <a:r>
                  <a:rPr lang="pt-BR" sz="1200" i="0" kern="1200">
                    <a:solidFill>
                      <a:schemeClr val="tx1"/>
                    </a:solidFill>
                    <a:latin typeface="+mn-lt"/>
                    <a:ea typeface="+mn-ea"/>
                    <a:cs typeface="+mn-cs"/>
                  </a:rPr>
                  <a:t>𝑃2</a:t>
                </a:r>
                <a:r>
                  <a:rPr lang="pt-BR" dirty="0"/>
                  <a:t>é </a:t>
                </a:r>
                <a:r>
                  <a:rPr lang="pt-BR" sz="1200" i="0" kern="1200">
                    <a:solidFill>
                      <a:schemeClr val="tx1"/>
                    </a:solidFill>
                    <a:latin typeface="+mn-lt"/>
                    <a:ea typeface="+mn-ea"/>
                    <a:cs typeface="+mn-cs"/>
                  </a:rPr>
                  <a:t>𝑂</a:t>
                </a:r>
                <a:r>
                  <a:rPr lang="ar-AE" sz="1200" i="0" kern="1200">
                    <a:solidFill>
                      <a:schemeClr val="tx1"/>
                    </a:solidFill>
                    <a:latin typeface="+mn-lt"/>
                    <a:ea typeface="+mn-ea"/>
                    <a:cs typeface="+mn-cs"/>
                  </a:rPr>
                  <a:t>(𝑈)</a:t>
                </a:r>
                <a:r>
                  <a:rPr lang="ar-AE" dirty="0"/>
                  <a:t>, </a:t>
                </a:r>
                <a:r>
                  <a:rPr lang="pt-BR" dirty="0"/>
                  <a:t>isto é, linear no número de usuários. Depois disso, eles </a:t>
                </a:r>
                <a:r>
                  <a:rPr lang="pt-BR" b="1" dirty="0"/>
                  <a:t>não expandem</a:t>
                </a:r>
                <a:r>
                  <a:rPr lang="pt-BR" dirty="0"/>
                  <a:t> a complexidade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dentro deste </a:t>
                </a:r>
                <a:r>
                  <a:rPr lang="pt-BR" dirty="0" err="1"/>
                  <a:t>paper</a:t>
                </a:r>
                <a:r>
                  <a:rPr lang="pt-BR" dirty="0"/>
                  <a:t>. Em vez disso, dizem que as complexidades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são dadas nas referências </a:t>
                </a:r>
                <a:r>
                  <a:rPr lang="pt-BR" b="1" dirty="0"/>
                  <a:t>[7]</a:t>
                </a:r>
                <a:r>
                  <a:rPr lang="pt-BR" dirty="0"/>
                  <a:t> e </a:t>
                </a:r>
                <a:r>
                  <a:rPr lang="pt-BR" b="1" dirty="0"/>
                  <a:t>[4]</a:t>
                </a:r>
                <a:r>
                  <a:rPr lang="pt-BR" dirty="0"/>
                  <a:t>, respectivamente.</a:t>
                </a:r>
              </a:p>
            </p:txBody>
          </p:sp>
        </mc:Fallback>
      </mc:AlternateContent>
      <p:sp>
        <p:nvSpPr>
          <p:cNvPr id="4" name="Slide Number Placeholder 3">
            <a:extLst>
              <a:ext uri="{FF2B5EF4-FFF2-40B4-BE49-F238E27FC236}">
                <a16:creationId xmlns:a16="http://schemas.microsoft.com/office/drawing/2014/main" id="{874DFD50-858B-B767-2BDE-F2188FD2CC85}"/>
              </a:ext>
            </a:extLst>
          </p:cNvPr>
          <p:cNvSpPr>
            <a:spLocks noGrp="1"/>
          </p:cNvSpPr>
          <p:nvPr>
            <p:ph type="sldNum" sz="quarter" idx="5"/>
          </p:nvPr>
        </p:nvSpPr>
        <p:spPr/>
        <p:txBody>
          <a:bodyPr/>
          <a:lstStyle/>
          <a:p>
            <a:fld id="{6FC8D850-966F-45A6-8DE7-15B891E7D40D}" type="slidenum">
              <a:rPr lang="pt-BR" smtClean="0"/>
              <a:t>21</a:t>
            </a:fld>
            <a:endParaRPr lang="pt-BR"/>
          </a:p>
        </p:txBody>
      </p:sp>
    </p:spTree>
    <p:extLst>
      <p:ext uri="{BB962C8B-B14F-4D97-AF65-F5344CB8AC3E}">
        <p14:creationId xmlns:p14="http://schemas.microsoft.com/office/powerpoint/2010/main" val="35320533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785AE-2FAD-2B4F-9D2C-685E67F3B4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0CD2A-F962-35A3-0C79-E124A2488C07}"/>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DDEE1E5-98B0-59BC-C71B-425E9A7C815E}"/>
                  </a:ext>
                </a:extLst>
              </p:cNvPr>
              <p:cNvSpPr>
                <a:spLocks noGrp="1"/>
              </p:cNvSpPr>
              <p:nvPr>
                <p:ph type="body" idx="1"/>
              </p:nvPr>
            </p:nvSpPr>
            <p:spPr/>
            <p:txBody>
              <a:bodyPr/>
              <a:lstStyle/>
              <a:p>
                <a:r>
                  <a:rPr lang="pt-BR" dirty="0"/>
                  <a:t>Esta figura mostra a robustez do </a:t>
                </a:r>
                <a:r>
                  <a:rPr lang="pt-BR" dirty="0" err="1"/>
                  <a:t>EasyNAS</a:t>
                </a:r>
                <a:r>
                  <a:rPr lang="pt-BR" dirty="0"/>
                  <a:t> durante o processo de busca. O eixo horizontal representa a época de busca, e o vertical mostra a acurácia final da arquitetura descoberta naquele ponto, depois de treinar essa arquitetura do zero. O resultado mais importante é que o </a:t>
                </a:r>
                <a:r>
                  <a:rPr lang="pt-BR" dirty="0" err="1"/>
                  <a:t>EasyNAS</a:t>
                </a:r>
                <a:r>
                  <a:rPr lang="pt-BR" dirty="0"/>
                  <a:t> se mantém estável, sempre próximo de 97,4 por cento, enquanto o DARTS começa bem, mas degrada ao longo da busca, e o GDAS fica consistentemente pior. Então, além de reduzir custo, o </a:t>
                </a:r>
                <a:r>
                  <a:rPr lang="pt-BR" dirty="0" err="1"/>
                  <a:t>EasyNAS</a:t>
                </a:r>
                <a:r>
                  <a:rPr lang="pt-BR" dirty="0"/>
                  <a:t> também melhora a robustez da busca e reduz o problema de performance </a:t>
                </a:r>
                <a:r>
                  <a:rPr lang="pt-BR" dirty="0" err="1"/>
                  <a:t>collapse</a:t>
                </a:r>
                <a:r>
                  <a:rPr lang="pt-BR" dirty="0"/>
                  <a:t>.</a:t>
                </a:r>
              </a:p>
            </p:txBody>
          </p:sp>
        </mc:Choice>
        <mc:Fallback xmlns="">
          <p:sp>
            <p:nvSpPr>
              <p:cNvPr id="3" name="Notes Placeholder 2">
                <a:extLst>
                  <a:ext uri="{FF2B5EF4-FFF2-40B4-BE49-F238E27FC236}">
                    <a16:creationId xmlns:a16="http://schemas.microsoft.com/office/drawing/2014/main" id="{BC4A4DA6-AAD5-7B9F-C6CD-1BF515A984C5}"/>
                  </a:ext>
                </a:extLst>
              </p:cNvPr>
              <p:cNvSpPr>
                <a:spLocks noGrp="1"/>
              </p:cNvSpPr>
              <p:nvPr>
                <p:ph type="body" idx="1"/>
              </p:nvPr>
            </p:nvSpPr>
            <p:spPr/>
            <p:txBody>
              <a:bodyPr/>
              <a:lstStyle/>
              <a:p>
                <a:r>
                  <a:rPr lang="pt-BR" dirty="0"/>
                  <a:t>Este slide resume os quatro subproblemas usados na solução. A Seção III do </a:t>
                </a:r>
                <a:r>
                  <a:rPr lang="pt-BR" dirty="0" err="1"/>
                  <a:t>paper</a:t>
                </a:r>
                <a:r>
                  <a:rPr lang="pt-BR" dirty="0"/>
                  <a:t> é bem carregada de matemática, com vários lemas, reformulações e atualizações iterativas. Então, em vez de entrar em todas as equações, eu preferi traduzir a lógica prática do que cada bloco faz.</a:t>
                </a:r>
              </a:p>
              <a:p>
                <a:endParaRPr lang="pt-BR" dirty="0"/>
              </a:p>
              <a:p>
                <a:r>
                  <a:rPr lang="pt-BR" dirty="0"/>
                  <a:t>No primeiro subproblema, da frequência do servidor, a solução é relativamente simples. Como o problema é convexo, os autores conseguem obter uma solução fechada usando as condições </a:t>
                </a:r>
                <a:r>
                  <a:rPr lang="pt-BR" b="1" dirty="0"/>
                  <a:t>KKT</a:t>
                </a:r>
                <a:r>
                  <a:rPr lang="pt-BR" dirty="0"/>
                  <a:t>, que No primeiro subproblema, da frequência do servidor, a solução é relativamente simples. Como o problema é convexo, os autores conseguem obter uma solução fechada usando as condições KKT. Em termos práticos, isso quer dizer que eles não precisam iterar muito nem testar várias divisões possíveis de recurso. Eles já têm uma expressão direta que calcula quanto de processamento cada usuário deve receber com base na carga computacional associada a ele. Um exemplo simples seria este: imagine que o servidor tem 100 unidades de processamento para distribuir entre 3 usuários. O método não divide isso igualmente. Ele calcula uma divisão mais inteligente, dando mais recurso para quem tem tarefa mais pesada. Por isso, esse bloco é barato e tem complexidade linear no número de usuários</a:t>
                </a:r>
              </a:p>
              <a:p>
                <a:endParaRPr lang="pt-BR" dirty="0"/>
              </a:p>
              <a:p>
                <a:endParaRPr lang="pt-BR" dirty="0"/>
              </a:p>
              <a:p>
                <a:r>
                  <a:rPr lang="pt-BR" dirty="0"/>
                  <a:t>No segundo subproblema, da quantização, a lógica é a seguinte. O problema original é discreto, porque os bits permitidos são só 4, 8, 16 ou 32. Resolver isso diretamente seria mais difícil. Então eles fazem primeiro uma </a:t>
                </a:r>
                <a:r>
                  <a:rPr lang="pt-BR" b="1" dirty="0"/>
                  <a:t>relaxação contínua</a:t>
                </a:r>
                <a:r>
                  <a:rPr lang="pt-BR" dirty="0"/>
                  <a:t>, isto é, fingem temporariamente que o número de bits pode assumir qualquer valor real positivo. Depois disso, analisam a função do subproblema e mostram que ela é estritamente convexa. Isso é importante porque significa que existe um único ponto ótimo contínuo. A partir daí, eles derivam a condição de ótimo desse problema relaxado e obtêm diretamente o valor contínuo ótimo de </a:t>
                </a:r>
                <a:r>
                  <a:rPr lang="ar-AE" sz="1200" i="0" kern="1200">
                    <a:solidFill>
                      <a:schemeClr val="tx1"/>
                    </a:solidFill>
                    <a:latin typeface="+mn-lt"/>
                    <a:ea typeface="+mn-ea"/>
                    <a:cs typeface="+mn-cs"/>
                  </a:rPr>
                  <a:t>𝑞_𝑢</a:t>
                </a:r>
                <a:r>
                  <a:rPr lang="pt-BR" dirty="0"/>
                  <a:t>para cada usuário. Em seguida, como esse valor contínuo não é necessariamente permitido na prática, eles fazem uma </a:t>
                </a:r>
                <a:r>
                  <a:rPr lang="pt-BR" b="1" dirty="0"/>
                  <a:t>projeção para o conjunto discreto viável</a:t>
                </a:r>
                <a:r>
                  <a:rPr lang="pt-BR" dirty="0"/>
                  <a:t>, escolhendo o valor mais próximo entre 4, 8, 16 e 32. Um exemplo simples seria este: suponha que o valor ótimo contínuo calculado fosse 15.5 bits. Como esse valor não é permitido, eles projetam para o conjunto viável e escolhem o mais próximo: 16.</a:t>
                </a:r>
              </a:p>
              <a:p>
                <a:endParaRPr lang="pt-BR" dirty="0"/>
              </a:p>
              <a:p>
                <a:r>
                  <a:rPr lang="pt-BR" dirty="0"/>
                  <a:t>No terceiro subproblema, do </a:t>
                </a:r>
                <a:r>
                  <a:rPr lang="pt-BR" dirty="0" err="1"/>
                  <a:t>beamforming</a:t>
                </a:r>
                <a:r>
                  <a:rPr lang="pt-BR" dirty="0"/>
                  <a:t>, a dificuldade aumenta bastante. Aqui eles usam RADMM, que é uma forma de resolver o problema separando a variável em partes auxiliares e atualizando essas partes de maneira alternada. Em termos simples, o algoritmo faz o seguinte: primeiro ele atualiza uma versão do </a:t>
                </a:r>
                <a:r>
                  <a:rPr lang="pt-BR" dirty="0" err="1"/>
                  <a:t>beamforming</a:t>
                </a:r>
                <a:r>
                  <a:rPr lang="pt-BR" dirty="0"/>
                  <a:t> tentando melhorar a taxa </a:t>
                </a:r>
                <a:r>
                  <a:rPr lang="pt-BR" dirty="0" err="1"/>
                  <a:t>uplink</a:t>
                </a:r>
                <a:r>
                  <a:rPr lang="pt-BR" dirty="0"/>
                  <a:t>. Depois ele corrige essa solução para que ela continue respeitando a restrição geométrica de norma unitária. Em seguida, ele atualiza um termo auxiliar que força consistência entre essas duas representações. Então, na prática, esse subproblema roda como um pequeno laço interno com três etapas repetidas: melhorar a solução, projetar ou ajustar para o conjunto válido, e corrigir o acoplamento entre as variáveis auxiliares. Um exemplo intuitivo seria: imagine que a BS tenta ajustar o filtro de recepção para separar melhor dois usuários, mas toda vez que faz isso precisa garantir que esse filtro continue dentro da estrutura geométrica exigida. Então o algoritmo alterna entre melhorar o desempenho e reimpor a validade da solução. É por isso que esse é um dos blocos mais caros do algoritmo.</a:t>
                </a:r>
              </a:p>
              <a:p>
                <a:endParaRPr lang="pt-BR" dirty="0"/>
              </a:p>
              <a:p>
                <a:r>
                  <a:rPr lang="pt-BR" dirty="0"/>
                  <a:t>No quarto subproblema, das </a:t>
                </a:r>
                <a:r>
                  <a:rPr lang="pt-BR" dirty="0" err="1"/>
                  <a:t>fluid</a:t>
                </a:r>
                <a:r>
                  <a:rPr lang="pt-BR" dirty="0"/>
                  <a:t> </a:t>
                </a:r>
                <a:r>
                  <a:rPr lang="pt-BR" dirty="0" err="1"/>
                  <a:t>antennas</a:t>
                </a:r>
                <a:r>
                  <a:rPr lang="pt-BR" dirty="0"/>
                  <a:t>, eles também evitam uma solução conjunta completa. Em vez de tentar mover todas as antenas ao mesmo tempo, o algoritmo faz uma atualização </a:t>
                </a:r>
                <a:r>
                  <a:rPr lang="pt-BR" b="1" dirty="0"/>
                  <a:t>sequencial</a:t>
                </a:r>
                <a:r>
                  <a:rPr lang="pt-BR" dirty="0"/>
                  <a:t>. Ele escolhe uma antena, otimiza a posição dela mantendo as demais fixas, depois passa para a próxima, e assim por diante. Cada atualização leva em conta duas restrições físicas: a antena precisa permanecer dentro da área do painel e não pode ficar perto demais das outras. Então, em termos práticos, esse bloco funciona como uma varredura antena por antena. </a:t>
                </a:r>
              </a:p>
              <a:p>
                <a:endParaRPr lang="pt-BR" dirty="0"/>
              </a:p>
              <a:p>
                <a:r>
                  <a:rPr lang="pt-BR" dirty="0"/>
                  <a:t>Então, resumindo a complexidade, P1 e P2 são leves, porque têm solução direta ou quase direta. Já P3 e P4 concentram o custo real do algoritmo, porque envolvem iterações internas e restrições geométricas mais difíceis. E, como tudo roda em sequência dentro do BCD, o resultado atualizado de um bloco influencia o comportamento do próximo.</a:t>
                </a:r>
              </a:p>
              <a:p>
                <a:endParaRPr lang="pt-BR" dirty="0"/>
              </a:p>
              <a:p>
                <a:endParaRPr lang="pt-BR" dirty="0"/>
              </a:p>
              <a:p>
                <a:r>
                  <a:rPr lang="pt-BR" dirty="0"/>
                  <a:t>Os autores só dão explicitamente a complexidade de </a:t>
                </a:r>
                <a:r>
                  <a:rPr lang="pt-BR" b="1" dirty="0"/>
                  <a:t>dois</a:t>
                </a:r>
                <a:r>
                  <a:rPr lang="pt-BR" dirty="0"/>
                  <a:t> subproblemas. Eles afirmam que a complexidade de </a:t>
                </a:r>
                <a:r>
                  <a:rPr lang="pt-BR" sz="1200" i="0" kern="1200">
                    <a:solidFill>
                      <a:schemeClr val="tx1"/>
                    </a:solidFill>
                    <a:latin typeface="+mn-lt"/>
                    <a:ea typeface="+mn-ea"/>
                    <a:cs typeface="+mn-cs"/>
                  </a:rPr>
                  <a:t>𝑃1</a:t>
                </a:r>
                <a:r>
                  <a:rPr lang="pt-BR" dirty="0"/>
                  <a:t>e </a:t>
                </a:r>
                <a:r>
                  <a:rPr lang="pt-BR" sz="1200" i="0" kern="1200">
                    <a:solidFill>
                      <a:schemeClr val="tx1"/>
                    </a:solidFill>
                    <a:latin typeface="+mn-lt"/>
                    <a:ea typeface="+mn-ea"/>
                    <a:cs typeface="+mn-cs"/>
                  </a:rPr>
                  <a:t>𝑃2</a:t>
                </a:r>
                <a:r>
                  <a:rPr lang="pt-BR" dirty="0"/>
                  <a:t>é </a:t>
                </a:r>
                <a:r>
                  <a:rPr lang="pt-BR" sz="1200" i="0" kern="1200">
                    <a:solidFill>
                      <a:schemeClr val="tx1"/>
                    </a:solidFill>
                    <a:latin typeface="+mn-lt"/>
                    <a:ea typeface="+mn-ea"/>
                    <a:cs typeface="+mn-cs"/>
                  </a:rPr>
                  <a:t>𝑂</a:t>
                </a:r>
                <a:r>
                  <a:rPr lang="ar-AE" sz="1200" i="0" kern="1200">
                    <a:solidFill>
                      <a:schemeClr val="tx1"/>
                    </a:solidFill>
                    <a:latin typeface="+mn-lt"/>
                    <a:ea typeface="+mn-ea"/>
                    <a:cs typeface="+mn-cs"/>
                  </a:rPr>
                  <a:t>(𝑈)</a:t>
                </a:r>
                <a:r>
                  <a:rPr lang="ar-AE" dirty="0"/>
                  <a:t>, </a:t>
                </a:r>
                <a:r>
                  <a:rPr lang="pt-BR" dirty="0"/>
                  <a:t>isto é, linear no número de usuários. Depois disso, eles </a:t>
                </a:r>
                <a:r>
                  <a:rPr lang="pt-BR" b="1" dirty="0"/>
                  <a:t>não expandem</a:t>
                </a:r>
                <a:r>
                  <a:rPr lang="pt-BR" dirty="0"/>
                  <a:t> a complexidade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dentro deste </a:t>
                </a:r>
                <a:r>
                  <a:rPr lang="pt-BR" dirty="0" err="1"/>
                  <a:t>paper</a:t>
                </a:r>
                <a:r>
                  <a:rPr lang="pt-BR" dirty="0"/>
                  <a:t>. Em vez disso, dizem que as complexidades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são dadas nas referências </a:t>
                </a:r>
                <a:r>
                  <a:rPr lang="pt-BR" b="1" dirty="0"/>
                  <a:t>[7]</a:t>
                </a:r>
                <a:r>
                  <a:rPr lang="pt-BR" dirty="0"/>
                  <a:t> e </a:t>
                </a:r>
                <a:r>
                  <a:rPr lang="pt-BR" b="1" dirty="0"/>
                  <a:t>[4]</a:t>
                </a:r>
                <a:r>
                  <a:rPr lang="pt-BR" dirty="0"/>
                  <a:t>, respectivamente.</a:t>
                </a:r>
              </a:p>
            </p:txBody>
          </p:sp>
        </mc:Fallback>
      </mc:AlternateContent>
      <p:sp>
        <p:nvSpPr>
          <p:cNvPr id="4" name="Slide Number Placeholder 3">
            <a:extLst>
              <a:ext uri="{FF2B5EF4-FFF2-40B4-BE49-F238E27FC236}">
                <a16:creationId xmlns:a16="http://schemas.microsoft.com/office/drawing/2014/main" id="{6B61BE85-FF88-9678-E645-09901A6963C0}"/>
              </a:ext>
            </a:extLst>
          </p:cNvPr>
          <p:cNvSpPr>
            <a:spLocks noGrp="1"/>
          </p:cNvSpPr>
          <p:nvPr>
            <p:ph type="sldNum" sz="quarter" idx="5"/>
          </p:nvPr>
        </p:nvSpPr>
        <p:spPr/>
        <p:txBody>
          <a:bodyPr/>
          <a:lstStyle/>
          <a:p>
            <a:fld id="{6FC8D850-966F-45A6-8DE7-15B891E7D40D}" type="slidenum">
              <a:rPr lang="pt-BR" smtClean="0"/>
              <a:t>22</a:t>
            </a:fld>
            <a:endParaRPr lang="pt-BR"/>
          </a:p>
        </p:txBody>
      </p:sp>
    </p:spTree>
    <p:extLst>
      <p:ext uri="{BB962C8B-B14F-4D97-AF65-F5344CB8AC3E}">
        <p14:creationId xmlns:p14="http://schemas.microsoft.com/office/powerpoint/2010/main" val="29986359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32E1D-846E-12BC-631F-A1A54A0DC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867E13-4200-A442-25E2-47AF67AC1B32}"/>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CCB0C112-AC09-1F16-8DAD-088D85C60C60}"/>
                  </a:ext>
                </a:extLst>
              </p:cNvPr>
              <p:cNvSpPr>
                <a:spLocks noGrp="1"/>
              </p:cNvSpPr>
              <p:nvPr>
                <p:ph type="body" idx="1"/>
              </p:nvPr>
            </p:nvSpPr>
            <p:spPr/>
            <p:txBody>
              <a:bodyPr/>
              <a:lstStyle/>
              <a:p>
                <a:r>
                  <a:rPr lang="pt-BR" dirty="0"/>
                  <a:t>Essas tabelas mostram os resultados de classificação. Na Tabela III, em CIFAR-10, o </a:t>
                </a:r>
                <a:r>
                  <a:rPr lang="pt-BR" dirty="0" err="1"/>
                  <a:t>EasyNAS</a:t>
                </a:r>
                <a:r>
                  <a:rPr lang="pt-BR" dirty="0"/>
                  <a:t> de segunda ordem alcança 2,55 por cento de erro, com apenas 3 milhões de parâmetros e custo de busca de 0,6 GPU-</a:t>
                </a:r>
                <a:r>
                  <a:rPr lang="pt-BR" dirty="0" err="1"/>
                  <a:t>day</a:t>
                </a:r>
                <a:r>
                  <a:rPr lang="pt-BR" dirty="0"/>
                  <a:t>. Ou seja, ele fica competitivo com o estado da arte, mantendo custo baixo. Já na Tabela IV, em </a:t>
                </a:r>
                <a:r>
                  <a:rPr lang="pt-BR" dirty="0" err="1"/>
                  <a:t>ImageNet</a:t>
                </a:r>
                <a:r>
                  <a:rPr lang="pt-BR" dirty="0"/>
                  <a:t>, o </a:t>
                </a:r>
                <a:r>
                  <a:rPr lang="pt-BR" dirty="0" err="1"/>
                  <a:t>EasyNAS</a:t>
                </a:r>
                <a:r>
                  <a:rPr lang="pt-BR" dirty="0"/>
                  <a:t> obtém 23,8 por cento de erro top-1, com 6 milhões de parâmetros e apenas 0,2 GPU-</a:t>
                </a:r>
                <a:r>
                  <a:rPr lang="pt-BR" dirty="0" err="1"/>
                  <a:t>day</a:t>
                </a:r>
                <a:r>
                  <a:rPr lang="pt-BR" dirty="0"/>
                  <a:t> de busca. Então, o método não só é eficiente durante a busca, mas também produz arquiteturas com boa capacidade de generalização quando transferidas para um benchmark maior.</a:t>
                </a:r>
              </a:p>
            </p:txBody>
          </p:sp>
        </mc:Choice>
        <mc:Fallback xmlns="">
          <p:sp>
            <p:nvSpPr>
              <p:cNvPr id="3" name="Notes Placeholder 2">
                <a:extLst>
                  <a:ext uri="{FF2B5EF4-FFF2-40B4-BE49-F238E27FC236}">
                    <a16:creationId xmlns:a16="http://schemas.microsoft.com/office/drawing/2014/main" id="{BC4A4DA6-AAD5-7B9F-C6CD-1BF515A984C5}"/>
                  </a:ext>
                </a:extLst>
              </p:cNvPr>
              <p:cNvSpPr>
                <a:spLocks noGrp="1"/>
              </p:cNvSpPr>
              <p:nvPr>
                <p:ph type="body" idx="1"/>
              </p:nvPr>
            </p:nvSpPr>
            <p:spPr/>
            <p:txBody>
              <a:bodyPr/>
              <a:lstStyle/>
              <a:p>
                <a:r>
                  <a:rPr lang="pt-BR" dirty="0"/>
                  <a:t>Este slide resume os quatro subproblemas usados na solução. A Seção III do </a:t>
                </a:r>
                <a:r>
                  <a:rPr lang="pt-BR" dirty="0" err="1"/>
                  <a:t>paper</a:t>
                </a:r>
                <a:r>
                  <a:rPr lang="pt-BR" dirty="0"/>
                  <a:t> é bem carregada de matemática, com vários lemas, reformulações e atualizações iterativas. Então, em vez de entrar em todas as equações, eu preferi traduzir a lógica prática do que cada bloco faz.</a:t>
                </a:r>
              </a:p>
              <a:p>
                <a:endParaRPr lang="pt-BR" dirty="0"/>
              </a:p>
              <a:p>
                <a:r>
                  <a:rPr lang="pt-BR" dirty="0"/>
                  <a:t>No primeiro subproblema, da frequência do servidor, a solução é relativamente simples. Como o problema é convexo, os autores conseguem obter uma solução fechada usando as condições </a:t>
                </a:r>
                <a:r>
                  <a:rPr lang="pt-BR" b="1" dirty="0"/>
                  <a:t>KKT</a:t>
                </a:r>
                <a:r>
                  <a:rPr lang="pt-BR" dirty="0"/>
                  <a:t>, que No primeiro subproblema, da frequência do servidor, a solução é relativamente simples. Como o problema é convexo, os autores conseguem obter uma solução fechada usando as condições KKT. Em termos práticos, isso quer dizer que eles não precisam iterar muito nem testar várias divisões possíveis de recurso. Eles já têm uma expressão direta que calcula quanto de processamento cada usuário deve receber com base na carga computacional associada a ele. Um exemplo simples seria este: imagine que o servidor tem 100 unidades de processamento para distribuir entre 3 usuários. O método não divide isso igualmente. Ele calcula uma divisão mais inteligente, dando mais recurso para quem tem tarefa mais pesada. Por isso, esse bloco é barato e tem complexidade linear no número de usuários</a:t>
                </a:r>
              </a:p>
              <a:p>
                <a:endParaRPr lang="pt-BR" dirty="0"/>
              </a:p>
              <a:p>
                <a:endParaRPr lang="pt-BR" dirty="0"/>
              </a:p>
              <a:p>
                <a:r>
                  <a:rPr lang="pt-BR" dirty="0"/>
                  <a:t>No segundo subproblema, da quantização, a lógica é a seguinte. O problema original é discreto, porque os bits permitidos são só 4, 8, 16 ou 32. Resolver isso diretamente seria mais difícil. Então eles fazem primeiro uma </a:t>
                </a:r>
                <a:r>
                  <a:rPr lang="pt-BR" b="1" dirty="0"/>
                  <a:t>relaxação contínua</a:t>
                </a:r>
                <a:r>
                  <a:rPr lang="pt-BR" dirty="0"/>
                  <a:t>, isto é, fingem temporariamente que o número de bits pode assumir qualquer valor real positivo. Depois disso, analisam a função do subproblema e mostram que ela é estritamente convexa. Isso é importante porque significa que existe um único ponto ótimo contínuo. A partir daí, eles derivam a condição de ótimo desse problema relaxado e obtêm diretamente o valor contínuo ótimo de </a:t>
                </a:r>
                <a:r>
                  <a:rPr lang="ar-AE" sz="1200" i="0" kern="1200">
                    <a:solidFill>
                      <a:schemeClr val="tx1"/>
                    </a:solidFill>
                    <a:latin typeface="+mn-lt"/>
                    <a:ea typeface="+mn-ea"/>
                    <a:cs typeface="+mn-cs"/>
                  </a:rPr>
                  <a:t>𝑞_𝑢</a:t>
                </a:r>
                <a:r>
                  <a:rPr lang="pt-BR" dirty="0"/>
                  <a:t>para cada usuário. Em seguida, como esse valor contínuo não é necessariamente permitido na prática, eles fazem uma </a:t>
                </a:r>
                <a:r>
                  <a:rPr lang="pt-BR" b="1" dirty="0"/>
                  <a:t>projeção para o conjunto discreto viável</a:t>
                </a:r>
                <a:r>
                  <a:rPr lang="pt-BR" dirty="0"/>
                  <a:t>, escolhendo o valor mais próximo entre 4, 8, 16 e 32. Um exemplo simples seria este: suponha que o valor ótimo contínuo calculado fosse 15.5 bits. Como esse valor não é permitido, eles projetam para o conjunto viável e escolhem o mais próximo: 16.</a:t>
                </a:r>
              </a:p>
              <a:p>
                <a:endParaRPr lang="pt-BR" dirty="0"/>
              </a:p>
              <a:p>
                <a:r>
                  <a:rPr lang="pt-BR" dirty="0"/>
                  <a:t>No terceiro subproblema, do </a:t>
                </a:r>
                <a:r>
                  <a:rPr lang="pt-BR" dirty="0" err="1"/>
                  <a:t>beamforming</a:t>
                </a:r>
                <a:r>
                  <a:rPr lang="pt-BR" dirty="0"/>
                  <a:t>, a dificuldade aumenta bastante. Aqui eles usam RADMM, que é uma forma de resolver o problema separando a variável em partes auxiliares e atualizando essas partes de maneira alternada. Em termos simples, o algoritmo faz o seguinte: primeiro ele atualiza uma versão do </a:t>
                </a:r>
                <a:r>
                  <a:rPr lang="pt-BR" dirty="0" err="1"/>
                  <a:t>beamforming</a:t>
                </a:r>
                <a:r>
                  <a:rPr lang="pt-BR" dirty="0"/>
                  <a:t> tentando melhorar a taxa </a:t>
                </a:r>
                <a:r>
                  <a:rPr lang="pt-BR" dirty="0" err="1"/>
                  <a:t>uplink</a:t>
                </a:r>
                <a:r>
                  <a:rPr lang="pt-BR" dirty="0"/>
                  <a:t>. Depois ele corrige essa solução para que ela continue respeitando a restrição geométrica de norma unitária. Em seguida, ele atualiza um termo auxiliar que força consistência entre essas duas representações. Então, na prática, esse subproblema roda como um pequeno laço interno com três etapas repetidas: melhorar a solução, projetar ou ajustar para o conjunto válido, e corrigir o acoplamento entre as variáveis auxiliares. Um exemplo intuitivo seria: imagine que a BS tenta ajustar o filtro de recepção para separar melhor dois usuários, mas toda vez que faz isso precisa garantir que esse filtro continue dentro da estrutura geométrica exigida. Então o algoritmo alterna entre melhorar o desempenho e reimpor a validade da solução. É por isso que esse é um dos blocos mais caros do algoritmo.</a:t>
                </a:r>
              </a:p>
              <a:p>
                <a:endParaRPr lang="pt-BR" dirty="0"/>
              </a:p>
              <a:p>
                <a:r>
                  <a:rPr lang="pt-BR" dirty="0"/>
                  <a:t>No quarto subproblema, das </a:t>
                </a:r>
                <a:r>
                  <a:rPr lang="pt-BR" dirty="0" err="1"/>
                  <a:t>fluid</a:t>
                </a:r>
                <a:r>
                  <a:rPr lang="pt-BR" dirty="0"/>
                  <a:t> </a:t>
                </a:r>
                <a:r>
                  <a:rPr lang="pt-BR" dirty="0" err="1"/>
                  <a:t>antennas</a:t>
                </a:r>
                <a:r>
                  <a:rPr lang="pt-BR" dirty="0"/>
                  <a:t>, eles também evitam uma solução conjunta completa. Em vez de tentar mover todas as antenas ao mesmo tempo, o algoritmo faz uma atualização </a:t>
                </a:r>
                <a:r>
                  <a:rPr lang="pt-BR" b="1" dirty="0"/>
                  <a:t>sequencial</a:t>
                </a:r>
                <a:r>
                  <a:rPr lang="pt-BR" dirty="0"/>
                  <a:t>. Ele escolhe uma antena, otimiza a posição dela mantendo as demais fixas, depois passa para a próxima, e assim por diante. Cada atualização leva em conta duas restrições físicas: a antena precisa permanecer dentro da área do painel e não pode ficar perto demais das outras. Então, em termos práticos, esse bloco funciona como uma varredura antena por antena. </a:t>
                </a:r>
              </a:p>
              <a:p>
                <a:endParaRPr lang="pt-BR" dirty="0"/>
              </a:p>
              <a:p>
                <a:r>
                  <a:rPr lang="pt-BR" dirty="0"/>
                  <a:t>Então, resumindo a complexidade, P1 e P2 são leves, porque têm solução direta ou quase direta. Já P3 e P4 concentram o custo real do algoritmo, porque envolvem iterações internas e restrições geométricas mais difíceis. E, como tudo roda em sequência dentro do BCD, o resultado atualizado de um bloco influencia o comportamento do próximo.</a:t>
                </a:r>
              </a:p>
              <a:p>
                <a:endParaRPr lang="pt-BR" dirty="0"/>
              </a:p>
              <a:p>
                <a:endParaRPr lang="pt-BR" dirty="0"/>
              </a:p>
              <a:p>
                <a:r>
                  <a:rPr lang="pt-BR" dirty="0"/>
                  <a:t>Os autores só dão explicitamente a complexidade de </a:t>
                </a:r>
                <a:r>
                  <a:rPr lang="pt-BR" b="1" dirty="0"/>
                  <a:t>dois</a:t>
                </a:r>
                <a:r>
                  <a:rPr lang="pt-BR" dirty="0"/>
                  <a:t> subproblemas. Eles afirmam que a complexidade de </a:t>
                </a:r>
                <a:r>
                  <a:rPr lang="pt-BR" sz="1200" i="0" kern="1200">
                    <a:solidFill>
                      <a:schemeClr val="tx1"/>
                    </a:solidFill>
                    <a:latin typeface="+mn-lt"/>
                    <a:ea typeface="+mn-ea"/>
                    <a:cs typeface="+mn-cs"/>
                  </a:rPr>
                  <a:t>𝑃1</a:t>
                </a:r>
                <a:r>
                  <a:rPr lang="pt-BR" dirty="0"/>
                  <a:t>e </a:t>
                </a:r>
                <a:r>
                  <a:rPr lang="pt-BR" sz="1200" i="0" kern="1200">
                    <a:solidFill>
                      <a:schemeClr val="tx1"/>
                    </a:solidFill>
                    <a:latin typeface="+mn-lt"/>
                    <a:ea typeface="+mn-ea"/>
                    <a:cs typeface="+mn-cs"/>
                  </a:rPr>
                  <a:t>𝑃2</a:t>
                </a:r>
                <a:r>
                  <a:rPr lang="pt-BR" dirty="0"/>
                  <a:t>é </a:t>
                </a:r>
                <a:r>
                  <a:rPr lang="pt-BR" sz="1200" i="0" kern="1200">
                    <a:solidFill>
                      <a:schemeClr val="tx1"/>
                    </a:solidFill>
                    <a:latin typeface="+mn-lt"/>
                    <a:ea typeface="+mn-ea"/>
                    <a:cs typeface="+mn-cs"/>
                  </a:rPr>
                  <a:t>𝑂</a:t>
                </a:r>
                <a:r>
                  <a:rPr lang="ar-AE" sz="1200" i="0" kern="1200">
                    <a:solidFill>
                      <a:schemeClr val="tx1"/>
                    </a:solidFill>
                    <a:latin typeface="+mn-lt"/>
                    <a:ea typeface="+mn-ea"/>
                    <a:cs typeface="+mn-cs"/>
                  </a:rPr>
                  <a:t>(𝑈)</a:t>
                </a:r>
                <a:r>
                  <a:rPr lang="ar-AE" dirty="0"/>
                  <a:t>, </a:t>
                </a:r>
                <a:r>
                  <a:rPr lang="pt-BR" dirty="0"/>
                  <a:t>isto é, linear no número de usuários. Depois disso, eles </a:t>
                </a:r>
                <a:r>
                  <a:rPr lang="pt-BR" b="1" dirty="0"/>
                  <a:t>não expandem</a:t>
                </a:r>
                <a:r>
                  <a:rPr lang="pt-BR" dirty="0"/>
                  <a:t> a complexidade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dentro deste </a:t>
                </a:r>
                <a:r>
                  <a:rPr lang="pt-BR" dirty="0" err="1"/>
                  <a:t>paper</a:t>
                </a:r>
                <a:r>
                  <a:rPr lang="pt-BR" dirty="0"/>
                  <a:t>. Em vez disso, dizem que as complexidades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são dadas nas referências </a:t>
                </a:r>
                <a:r>
                  <a:rPr lang="pt-BR" b="1" dirty="0"/>
                  <a:t>[7]</a:t>
                </a:r>
                <a:r>
                  <a:rPr lang="pt-BR" dirty="0"/>
                  <a:t> e </a:t>
                </a:r>
                <a:r>
                  <a:rPr lang="pt-BR" b="1" dirty="0"/>
                  <a:t>[4]</a:t>
                </a:r>
                <a:r>
                  <a:rPr lang="pt-BR" dirty="0"/>
                  <a:t>, respectivamente.</a:t>
                </a:r>
              </a:p>
            </p:txBody>
          </p:sp>
        </mc:Fallback>
      </mc:AlternateContent>
      <p:sp>
        <p:nvSpPr>
          <p:cNvPr id="4" name="Slide Number Placeholder 3">
            <a:extLst>
              <a:ext uri="{FF2B5EF4-FFF2-40B4-BE49-F238E27FC236}">
                <a16:creationId xmlns:a16="http://schemas.microsoft.com/office/drawing/2014/main" id="{374BF831-5F88-2219-D7A0-5BD7D986B5EC}"/>
              </a:ext>
            </a:extLst>
          </p:cNvPr>
          <p:cNvSpPr>
            <a:spLocks noGrp="1"/>
          </p:cNvSpPr>
          <p:nvPr>
            <p:ph type="sldNum" sz="quarter" idx="5"/>
          </p:nvPr>
        </p:nvSpPr>
        <p:spPr/>
        <p:txBody>
          <a:bodyPr/>
          <a:lstStyle/>
          <a:p>
            <a:fld id="{6FC8D850-966F-45A6-8DE7-15B891E7D40D}" type="slidenum">
              <a:rPr lang="pt-BR" smtClean="0"/>
              <a:t>23</a:t>
            </a:fld>
            <a:endParaRPr lang="pt-BR"/>
          </a:p>
        </p:txBody>
      </p:sp>
    </p:spTree>
    <p:extLst>
      <p:ext uri="{BB962C8B-B14F-4D97-AF65-F5344CB8AC3E}">
        <p14:creationId xmlns:p14="http://schemas.microsoft.com/office/powerpoint/2010/main" val="35374846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17234-C63C-6E10-2B71-E653F04158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F8A64-4C98-E53A-137E-30F583A93692}"/>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380E45A-4C8F-C0A7-6636-ECF451FD3540}"/>
                  </a:ext>
                </a:extLst>
              </p:cNvPr>
              <p:cNvSpPr>
                <a:spLocks noGrp="1"/>
              </p:cNvSpPr>
              <p:nvPr>
                <p:ph type="body" idx="1"/>
              </p:nvPr>
            </p:nvSpPr>
            <p:spPr/>
            <p:txBody>
              <a:bodyPr/>
              <a:lstStyle/>
              <a:p>
                <a:r>
                  <a:rPr lang="pt-BR" dirty="0"/>
                  <a:t>Esta é a principal tabela da parte de detecção em COCO. O destaque é o </a:t>
                </a:r>
                <a:r>
                  <a:rPr lang="pt-BR" dirty="0" err="1"/>
                  <a:t>EasyNAS</a:t>
                </a:r>
                <a:r>
                  <a:rPr lang="pt-BR" dirty="0"/>
                  <a:t>(</a:t>
                </a:r>
                <a:r>
                  <a:rPr lang="pt-BR" dirty="0" err="1"/>
                  <a:t>det</a:t>
                </a:r>
                <a:r>
                  <a:rPr lang="pt-BR" dirty="0"/>
                  <a:t>)-YOLOv5s, que alcança 40,1 de </a:t>
                </a:r>
                <a:r>
                  <a:rPr lang="pt-BR" dirty="0" err="1"/>
                  <a:t>mAP</a:t>
                </a:r>
                <a:r>
                  <a:rPr lang="pt-BR" dirty="0"/>
                  <a:t> com 120 FPS, usando 9,1 milhões de parâmetros e custo de busca de apenas 1,4 GPU-</a:t>
                </a:r>
                <a:r>
                  <a:rPr lang="pt-BR" dirty="0" err="1"/>
                  <a:t>day</a:t>
                </a:r>
                <a:r>
                  <a:rPr lang="pt-BR" dirty="0"/>
                  <a:t>. Esse é um resultado forte porque combina boa precisão, alta velocidade e baixo custo de busca. O </a:t>
                </a:r>
                <a:r>
                  <a:rPr lang="pt-BR" dirty="0" err="1"/>
                  <a:t>EasyNAS</a:t>
                </a:r>
                <a:r>
                  <a:rPr lang="pt-BR" dirty="0"/>
                  <a:t>(</a:t>
                </a:r>
                <a:r>
                  <a:rPr lang="pt-BR" dirty="0" err="1"/>
                  <a:t>det</a:t>
                </a:r>
                <a:r>
                  <a:rPr lang="pt-BR" dirty="0"/>
                  <a:t>)-YOLOv7-tiny também mantém a mesma tendência, com 38,9 de </a:t>
                </a:r>
                <a:r>
                  <a:rPr lang="pt-BR" dirty="0" err="1"/>
                  <a:t>mAP</a:t>
                </a:r>
                <a:r>
                  <a:rPr lang="pt-BR" dirty="0"/>
                  <a:t> e 159 FPS. Então, na detecção, o método mostra que consegue encontrar arquiteturas realmente competitivas, sem o custo extremo de outros NAS para essa tarefa.</a:t>
                </a:r>
              </a:p>
            </p:txBody>
          </p:sp>
        </mc:Choice>
        <mc:Fallback xmlns="">
          <p:sp>
            <p:nvSpPr>
              <p:cNvPr id="3" name="Notes Placeholder 2">
                <a:extLst>
                  <a:ext uri="{FF2B5EF4-FFF2-40B4-BE49-F238E27FC236}">
                    <a16:creationId xmlns:a16="http://schemas.microsoft.com/office/drawing/2014/main" id="{BC4A4DA6-AAD5-7B9F-C6CD-1BF515A984C5}"/>
                  </a:ext>
                </a:extLst>
              </p:cNvPr>
              <p:cNvSpPr>
                <a:spLocks noGrp="1"/>
              </p:cNvSpPr>
              <p:nvPr>
                <p:ph type="body" idx="1"/>
              </p:nvPr>
            </p:nvSpPr>
            <p:spPr/>
            <p:txBody>
              <a:bodyPr/>
              <a:lstStyle/>
              <a:p>
                <a:r>
                  <a:rPr lang="pt-BR" dirty="0"/>
                  <a:t>Este slide resume os quatro subproblemas usados na solução. A Seção III do </a:t>
                </a:r>
                <a:r>
                  <a:rPr lang="pt-BR" dirty="0" err="1"/>
                  <a:t>paper</a:t>
                </a:r>
                <a:r>
                  <a:rPr lang="pt-BR" dirty="0"/>
                  <a:t> é bem carregada de matemática, com vários lemas, reformulações e atualizações iterativas. Então, em vez de entrar em todas as equações, eu preferi traduzir a lógica prática do que cada bloco faz.</a:t>
                </a:r>
              </a:p>
              <a:p>
                <a:endParaRPr lang="pt-BR" dirty="0"/>
              </a:p>
              <a:p>
                <a:r>
                  <a:rPr lang="pt-BR" dirty="0"/>
                  <a:t>No primeiro subproblema, da frequência do servidor, a solução é relativamente simples. Como o problema é convexo, os autores conseguem obter uma solução fechada usando as condições </a:t>
                </a:r>
                <a:r>
                  <a:rPr lang="pt-BR" b="1" dirty="0"/>
                  <a:t>KKT</a:t>
                </a:r>
                <a:r>
                  <a:rPr lang="pt-BR" dirty="0"/>
                  <a:t>, que No primeiro subproblema, da frequência do servidor, a solução é relativamente simples. Como o problema é convexo, os autores conseguem obter uma solução fechada usando as condições KKT. Em termos práticos, isso quer dizer que eles não precisam iterar muito nem testar várias divisões possíveis de recurso. Eles já têm uma expressão direta que calcula quanto de processamento cada usuário deve receber com base na carga computacional associada a ele. Um exemplo simples seria este: imagine que o servidor tem 100 unidades de processamento para distribuir entre 3 usuários. O método não divide isso igualmente. Ele calcula uma divisão mais inteligente, dando mais recurso para quem tem tarefa mais pesada. Por isso, esse bloco é barato e tem complexidade linear no número de usuários</a:t>
                </a:r>
              </a:p>
              <a:p>
                <a:endParaRPr lang="pt-BR" dirty="0"/>
              </a:p>
              <a:p>
                <a:endParaRPr lang="pt-BR" dirty="0"/>
              </a:p>
              <a:p>
                <a:r>
                  <a:rPr lang="pt-BR" dirty="0"/>
                  <a:t>No segundo subproblema, da quantização, a lógica é a seguinte. O problema original é discreto, porque os bits permitidos são só 4, 8, 16 ou 32. Resolver isso diretamente seria mais difícil. Então eles fazem primeiro uma </a:t>
                </a:r>
                <a:r>
                  <a:rPr lang="pt-BR" b="1" dirty="0"/>
                  <a:t>relaxação contínua</a:t>
                </a:r>
                <a:r>
                  <a:rPr lang="pt-BR" dirty="0"/>
                  <a:t>, isto é, fingem temporariamente que o número de bits pode assumir qualquer valor real positivo. Depois disso, analisam a função do subproblema e mostram que ela é estritamente convexa. Isso é importante porque significa que existe um único ponto ótimo contínuo. A partir daí, eles derivam a condição de ótimo desse problema relaxado e obtêm diretamente o valor contínuo ótimo de </a:t>
                </a:r>
                <a:r>
                  <a:rPr lang="ar-AE" sz="1200" i="0" kern="1200">
                    <a:solidFill>
                      <a:schemeClr val="tx1"/>
                    </a:solidFill>
                    <a:latin typeface="+mn-lt"/>
                    <a:ea typeface="+mn-ea"/>
                    <a:cs typeface="+mn-cs"/>
                  </a:rPr>
                  <a:t>𝑞_𝑢</a:t>
                </a:r>
                <a:r>
                  <a:rPr lang="pt-BR" dirty="0"/>
                  <a:t>para cada usuário. Em seguida, como esse valor contínuo não é necessariamente permitido na prática, eles fazem uma </a:t>
                </a:r>
                <a:r>
                  <a:rPr lang="pt-BR" b="1" dirty="0"/>
                  <a:t>projeção para o conjunto discreto viável</a:t>
                </a:r>
                <a:r>
                  <a:rPr lang="pt-BR" dirty="0"/>
                  <a:t>, escolhendo o valor mais próximo entre 4, 8, 16 e 32. Um exemplo simples seria este: suponha que o valor ótimo contínuo calculado fosse 15.5 bits. Como esse valor não é permitido, eles projetam para o conjunto viável e escolhem o mais próximo: 16.</a:t>
                </a:r>
              </a:p>
              <a:p>
                <a:endParaRPr lang="pt-BR" dirty="0"/>
              </a:p>
              <a:p>
                <a:r>
                  <a:rPr lang="pt-BR" dirty="0"/>
                  <a:t>No terceiro subproblema, do </a:t>
                </a:r>
                <a:r>
                  <a:rPr lang="pt-BR" dirty="0" err="1"/>
                  <a:t>beamforming</a:t>
                </a:r>
                <a:r>
                  <a:rPr lang="pt-BR" dirty="0"/>
                  <a:t>, a dificuldade aumenta bastante. Aqui eles usam RADMM, que é uma forma de resolver o problema separando a variável em partes auxiliares e atualizando essas partes de maneira alternada. Em termos simples, o algoritmo faz o seguinte: primeiro ele atualiza uma versão do </a:t>
                </a:r>
                <a:r>
                  <a:rPr lang="pt-BR" dirty="0" err="1"/>
                  <a:t>beamforming</a:t>
                </a:r>
                <a:r>
                  <a:rPr lang="pt-BR" dirty="0"/>
                  <a:t> tentando melhorar a taxa </a:t>
                </a:r>
                <a:r>
                  <a:rPr lang="pt-BR" dirty="0" err="1"/>
                  <a:t>uplink</a:t>
                </a:r>
                <a:r>
                  <a:rPr lang="pt-BR" dirty="0"/>
                  <a:t>. Depois ele corrige essa solução para que ela continue respeitando a restrição geométrica de norma unitária. Em seguida, ele atualiza um termo auxiliar que força consistência entre essas duas representações. Então, na prática, esse subproblema roda como um pequeno laço interno com três etapas repetidas: melhorar a solução, projetar ou ajustar para o conjunto válido, e corrigir o acoplamento entre as variáveis auxiliares. Um exemplo intuitivo seria: imagine que a BS tenta ajustar o filtro de recepção para separar melhor dois usuários, mas toda vez que faz isso precisa garantir que esse filtro continue dentro da estrutura geométrica exigida. Então o algoritmo alterna entre melhorar o desempenho e reimpor a validade da solução. É por isso que esse é um dos blocos mais caros do algoritmo.</a:t>
                </a:r>
              </a:p>
              <a:p>
                <a:endParaRPr lang="pt-BR" dirty="0"/>
              </a:p>
              <a:p>
                <a:r>
                  <a:rPr lang="pt-BR" dirty="0"/>
                  <a:t>No quarto subproblema, das </a:t>
                </a:r>
                <a:r>
                  <a:rPr lang="pt-BR" dirty="0" err="1"/>
                  <a:t>fluid</a:t>
                </a:r>
                <a:r>
                  <a:rPr lang="pt-BR" dirty="0"/>
                  <a:t> </a:t>
                </a:r>
                <a:r>
                  <a:rPr lang="pt-BR" dirty="0" err="1"/>
                  <a:t>antennas</a:t>
                </a:r>
                <a:r>
                  <a:rPr lang="pt-BR" dirty="0"/>
                  <a:t>, eles também evitam uma solução conjunta completa. Em vez de tentar mover todas as antenas ao mesmo tempo, o algoritmo faz uma atualização </a:t>
                </a:r>
                <a:r>
                  <a:rPr lang="pt-BR" b="1" dirty="0"/>
                  <a:t>sequencial</a:t>
                </a:r>
                <a:r>
                  <a:rPr lang="pt-BR" dirty="0"/>
                  <a:t>. Ele escolhe uma antena, otimiza a posição dela mantendo as demais fixas, depois passa para a próxima, e assim por diante. Cada atualização leva em conta duas restrições físicas: a antena precisa permanecer dentro da área do painel e não pode ficar perto demais das outras. Então, em termos práticos, esse bloco funciona como uma varredura antena por antena. </a:t>
                </a:r>
              </a:p>
              <a:p>
                <a:endParaRPr lang="pt-BR" dirty="0"/>
              </a:p>
              <a:p>
                <a:r>
                  <a:rPr lang="pt-BR" dirty="0"/>
                  <a:t>Então, resumindo a complexidade, P1 e P2 são leves, porque têm solução direta ou quase direta. Já P3 e P4 concentram o custo real do algoritmo, porque envolvem iterações internas e restrições geométricas mais difíceis. E, como tudo roda em sequência dentro do BCD, o resultado atualizado de um bloco influencia o comportamento do próximo.</a:t>
                </a:r>
              </a:p>
              <a:p>
                <a:endParaRPr lang="pt-BR" dirty="0"/>
              </a:p>
              <a:p>
                <a:endParaRPr lang="pt-BR" dirty="0"/>
              </a:p>
              <a:p>
                <a:r>
                  <a:rPr lang="pt-BR" dirty="0"/>
                  <a:t>Os autores só dão explicitamente a complexidade de </a:t>
                </a:r>
                <a:r>
                  <a:rPr lang="pt-BR" b="1" dirty="0"/>
                  <a:t>dois</a:t>
                </a:r>
                <a:r>
                  <a:rPr lang="pt-BR" dirty="0"/>
                  <a:t> subproblemas. Eles afirmam que a complexidade de </a:t>
                </a:r>
                <a:r>
                  <a:rPr lang="pt-BR" sz="1200" i="0" kern="1200">
                    <a:solidFill>
                      <a:schemeClr val="tx1"/>
                    </a:solidFill>
                    <a:latin typeface="+mn-lt"/>
                    <a:ea typeface="+mn-ea"/>
                    <a:cs typeface="+mn-cs"/>
                  </a:rPr>
                  <a:t>𝑃1</a:t>
                </a:r>
                <a:r>
                  <a:rPr lang="pt-BR" dirty="0"/>
                  <a:t>e </a:t>
                </a:r>
                <a:r>
                  <a:rPr lang="pt-BR" sz="1200" i="0" kern="1200">
                    <a:solidFill>
                      <a:schemeClr val="tx1"/>
                    </a:solidFill>
                    <a:latin typeface="+mn-lt"/>
                    <a:ea typeface="+mn-ea"/>
                    <a:cs typeface="+mn-cs"/>
                  </a:rPr>
                  <a:t>𝑃2</a:t>
                </a:r>
                <a:r>
                  <a:rPr lang="pt-BR" dirty="0"/>
                  <a:t>é </a:t>
                </a:r>
                <a:r>
                  <a:rPr lang="pt-BR" sz="1200" i="0" kern="1200">
                    <a:solidFill>
                      <a:schemeClr val="tx1"/>
                    </a:solidFill>
                    <a:latin typeface="+mn-lt"/>
                    <a:ea typeface="+mn-ea"/>
                    <a:cs typeface="+mn-cs"/>
                  </a:rPr>
                  <a:t>𝑂</a:t>
                </a:r>
                <a:r>
                  <a:rPr lang="ar-AE" sz="1200" i="0" kern="1200">
                    <a:solidFill>
                      <a:schemeClr val="tx1"/>
                    </a:solidFill>
                    <a:latin typeface="+mn-lt"/>
                    <a:ea typeface="+mn-ea"/>
                    <a:cs typeface="+mn-cs"/>
                  </a:rPr>
                  <a:t>(𝑈)</a:t>
                </a:r>
                <a:r>
                  <a:rPr lang="ar-AE" dirty="0"/>
                  <a:t>, </a:t>
                </a:r>
                <a:r>
                  <a:rPr lang="pt-BR" dirty="0"/>
                  <a:t>isto é, linear no número de usuários. Depois disso, eles </a:t>
                </a:r>
                <a:r>
                  <a:rPr lang="pt-BR" b="1" dirty="0"/>
                  <a:t>não expandem</a:t>
                </a:r>
                <a:r>
                  <a:rPr lang="pt-BR" dirty="0"/>
                  <a:t> a complexidade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dentro deste </a:t>
                </a:r>
                <a:r>
                  <a:rPr lang="pt-BR" dirty="0" err="1"/>
                  <a:t>paper</a:t>
                </a:r>
                <a:r>
                  <a:rPr lang="pt-BR" dirty="0"/>
                  <a:t>. Em vez disso, dizem que as complexidades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são dadas nas referências </a:t>
                </a:r>
                <a:r>
                  <a:rPr lang="pt-BR" b="1" dirty="0"/>
                  <a:t>[7]</a:t>
                </a:r>
                <a:r>
                  <a:rPr lang="pt-BR" dirty="0"/>
                  <a:t> e </a:t>
                </a:r>
                <a:r>
                  <a:rPr lang="pt-BR" b="1" dirty="0"/>
                  <a:t>[4]</a:t>
                </a:r>
                <a:r>
                  <a:rPr lang="pt-BR" dirty="0"/>
                  <a:t>, respectivamente.</a:t>
                </a:r>
              </a:p>
            </p:txBody>
          </p:sp>
        </mc:Fallback>
      </mc:AlternateContent>
      <p:sp>
        <p:nvSpPr>
          <p:cNvPr id="4" name="Slide Number Placeholder 3">
            <a:extLst>
              <a:ext uri="{FF2B5EF4-FFF2-40B4-BE49-F238E27FC236}">
                <a16:creationId xmlns:a16="http://schemas.microsoft.com/office/drawing/2014/main" id="{EBEA5EDC-3453-0553-CF82-463A59160AC8}"/>
              </a:ext>
            </a:extLst>
          </p:cNvPr>
          <p:cNvSpPr>
            <a:spLocks noGrp="1"/>
          </p:cNvSpPr>
          <p:nvPr>
            <p:ph type="sldNum" sz="quarter" idx="5"/>
          </p:nvPr>
        </p:nvSpPr>
        <p:spPr/>
        <p:txBody>
          <a:bodyPr/>
          <a:lstStyle/>
          <a:p>
            <a:fld id="{6FC8D850-966F-45A6-8DE7-15B891E7D40D}" type="slidenum">
              <a:rPr lang="pt-BR" smtClean="0"/>
              <a:t>24</a:t>
            </a:fld>
            <a:endParaRPr lang="pt-BR"/>
          </a:p>
        </p:txBody>
      </p:sp>
    </p:spTree>
    <p:extLst>
      <p:ext uri="{BB962C8B-B14F-4D97-AF65-F5344CB8AC3E}">
        <p14:creationId xmlns:p14="http://schemas.microsoft.com/office/powerpoint/2010/main" val="36381514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E006D-DBA2-C52A-3313-04B9637096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3A0C8B-DD57-33E3-26A0-69D5BFED9A6E}"/>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CBD1518-8C31-B36E-231A-A31CF1862DBB}"/>
                  </a:ext>
                </a:extLst>
              </p:cNvPr>
              <p:cNvSpPr>
                <a:spLocks noGrp="1"/>
              </p:cNvSpPr>
              <p:nvPr>
                <p:ph type="body" idx="1"/>
              </p:nvPr>
            </p:nvSpPr>
            <p:spPr/>
            <p:txBody>
              <a:bodyPr/>
              <a:lstStyle/>
              <a:p>
                <a:r>
                  <a:rPr lang="pt-BR" dirty="0"/>
                  <a:t>Esta tabela mostra a transferência da arquitetura descoberta para detecção rotacionada em DOTA-v1.0. O principal ponto aqui é mostrar generalização. Quando a arquitetura encontrada pelo </a:t>
                </a:r>
                <a:r>
                  <a:rPr lang="pt-BR" dirty="0" err="1"/>
                  <a:t>EasyNAS</a:t>
                </a:r>
                <a:r>
                  <a:rPr lang="pt-BR" dirty="0"/>
                  <a:t> é usada com CSL e </a:t>
                </a:r>
                <a:r>
                  <a:rPr lang="pt-BR" dirty="0" err="1"/>
                  <a:t>backbone</a:t>
                </a:r>
                <a:r>
                  <a:rPr lang="pt-BR" dirty="0"/>
                  <a:t> derivado do método, ela chega a 77,05 de mAP50, superando várias abordagens anteriores. Isso é relevante porque mostra que a arquitetura buscada não funciona só no cenário original de COCO, ela também se transfere bem para uma tarefa mais difícil e mais específica, que é a detecção orientada.</a:t>
                </a:r>
              </a:p>
            </p:txBody>
          </p:sp>
        </mc:Choice>
        <mc:Fallback xmlns="">
          <p:sp>
            <p:nvSpPr>
              <p:cNvPr id="3" name="Notes Placeholder 2">
                <a:extLst>
                  <a:ext uri="{FF2B5EF4-FFF2-40B4-BE49-F238E27FC236}">
                    <a16:creationId xmlns:a16="http://schemas.microsoft.com/office/drawing/2014/main" id="{BC4A4DA6-AAD5-7B9F-C6CD-1BF515A984C5}"/>
                  </a:ext>
                </a:extLst>
              </p:cNvPr>
              <p:cNvSpPr>
                <a:spLocks noGrp="1"/>
              </p:cNvSpPr>
              <p:nvPr>
                <p:ph type="body" idx="1"/>
              </p:nvPr>
            </p:nvSpPr>
            <p:spPr/>
            <p:txBody>
              <a:bodyPr/>
              <a:lstStyle/>
              <a:p>
                <a:r>
                  <a:rPr lang="pt-BR" dirty="0"/>
                  <a:t>Este slide resume os quatro subproblemas usados na solução. A Seção III do </a:t>
                </a:r>
                <a:r>
                  <a:rPr lang="pt-BR" dirty="0" err="1"/>
                  <a:t>paper</a:t>
                </a:r>
                <a:r>
                  <a:rPr lang="pt-BR" dirty="0"/>
                  <a:t> é bem carregada de matemática, com vários lemas, reformulações e atualizações iterativas. Então, em vez de entrar em todas as equações, eu preferi traduzir a lógica prática do que cada bloco faz.</a:t>
                </a:r>
              </a:p>
              <a:p>
                <a:endParaRPr lang="pt-BR" dirty="0"/>
              </a:p>
              <a:p>
                <a:r>
                  <a:rPr lang="pt-BR" dirty="0"/>
                  <a:t>No primeiro subproblema, da frequência do servidor, a solução é relativamente simples. Como o problema é convexo, os autores conseguem obter uma solução fechada usando as condições </a:t>
                </a:r>
                <a:r>
                  <a:rPr lang="pt-BR" b="1" dirty="0"/>
                  <a:t>KKT</a:t>
                </a:r>
                <a:r>
                  <a:rPr lang="pt-BR" dirty="0"/>
                  <a:t>, que No primeiro subproblema, da frequência do servidor, a solução é relativamente simples. Como o problema é convexo, os autores conseguem obter uma solução fechada usando as condições KKT. Em termos práticos, isso quer dizer que eles não precisam iterar muito nem testar várias divisões possíveis de recurso. Eles já têm uma expressão direta que calcula quanto de processamento cada usuário deve receber com base na carga computacional associada a ele. Um exemplo simples seria este: imagine que o servidor tem 100 unidades de processamento para distribuir entre 3 usuários. O método não divide isso igualmente. Ele calcula uma divisão mais inteligente, dando mais recurso para quem tem tarefa mais pesada. Por isso, esse bloco é barato e tem complexidade linear no número de usuários</a:t>
                </a:r>
              </a:p>
              <a:p>
                <a:endParaRPr lang="pt-BR" dirty="0"/>
              </a:p>
              <a:p>
                <a:endParaRPr lang="pt-BR" dirty="0"/>
              </a:p>
              <a:p>
                <a:r>
                  <a:rPr lang="pt-BR" dirty="0"/>
                  <a:t>No segundo subproblema, da quantização, a lógica é a seguinte. O problema original é discreto, porque os bits permitidos são só 4, 8, 16 ou 32. Resolver isso diretamente seria mais difícil. Então eles fazem primeiro uma </a:t>
                </a:r>
                <a:r>
                  <a:rPr lang="pt-BR" b="1" dirty="0"/>
                  <a:t>relaxação contínua</a:t>
                </a:r>
                <a:r>
                  <a:rPr lang="pt-BR" dirty="0"/>
                  <a:t>, isto é, fingem temporariamente que o número de bits pode assumir qualquer valor real positivo. Depois disso, analisam a função do subproblema e mostram que ela é estritamente convexa. Isso é importante porque significa que existe um único ponto ótimo contínuo. A partir daí, eles derivam a condição de ótimo desse problema relaxado e obtêm diretamente o valor contínuo ótimo de </a:t>
                </a:r>
                <a:r>
                  <a:rPr lang="ar-AE" sz="1200" i="0" kern="1200">
                    <a:solidFill>
                      <a:schemeClr val="tx1"/>
                    </a:solidFill>
                    <a:latin typeface="+mn-lt"/>
                    <a:ea typeface="+mn-ea"/>
                    <a:cs typeface="+mn-cs"/>
                  </a:rPr>
                  <a:t>𝑞_𝑢</a:t>
                </a:r>
                <a:r>
                  <a:rPr lang="pt-BR" dirty="0"/>
                  <a:t>para cada usuário. Em seguida, como esse valor contínuo não é necessariamente permitido na prática, eles fazem uma </a:t>
                </a:r>
                <a:r>
                  <a:rPr lang="pt-BR" b="1" dirty="0"/>
                  <a:t>projeção para o conjunto discreto viável</a:t>
                </a:r>
                <a:r>
                  <a:rPr lang="pt-BR" dirty="0"/>
                  <a:t>, escolhendo o valor mais próximo entre 4, 8, 16 e 32. Um exemplo simples seria este: suponha que o valor ótimo contínuo calculado fosse 15.5 bits. Como esse valor não é permitido, eles projetam para o conjunto viável e escolhem o mais próximo: 16.</a:t>
                </a:r>
              </a:p>
              <a:p>
                <a:endParaRPr lang="pt-BR" dirty="0"/>
              </a:p>
              <a:p>
                <a:r>
                  <a:rPr lang="pt-BR" dirty="0"/>
                  <a:t>No terceiro subproblema, do </a:t>
                </a:r>
                <a:r>
                  <a:rPr lang="pt-BR" dirty="0" err="1"/>
                  <a:t>beamforming</a:t>
                </a:r>
                <a:r>
                  <a:rPr lang="pt-BR" dirty="0"/>
                  <a:t>, a dificuldade aumenta bastante. Aqui eles usam RADMM, que é uma forma de resolver o problema separando a variável em partes auxiliares e atualizando essas partes de maneira alternada. Em termos simples, o algoritmo faz o seguinte: primeiro ele atualiza uma versão do </a:t>
                </a:r>
                <a:r>
                  <a:rPr lang="pt-BR" dirty="0" err="1"/>
                  <a:t>beamforming</a:t>
                </a:r>
                <a:r>
                  <a:rPr lang="pt-BR" dirty="0"/>
                  <a:t> tentando melhorar a taxa </a:t>
                </a:r>
                <a:r>
                  <a:rPr lang="pt-BR" dirty="0" err="1"/>
                  <a:t>uplink</a:t>
                </a:r>
                <a:r>
                  <a:rPr lang="pt-BR" dirty="0"/>
                  <a:t>. Depois ele corrige essa solução para que ela continue respeitando a restrição geométrica de norma unitária. Em seguida, ele atualiza um termo auxiliar que força consistência entre essas duas representações. Então, na prática, esse subproblema roda como um pequeno laço interno com três etapas repetidas: melhorar a solução, projetar ou ajustar para o conjunto válido, e corrigir o acoplamento entre as variáveis auxiliares. Um exemplo intuitivo seria: imagine que a BS tenta ajustar o filtro de recepção para separar melhor dois usuários, mas toda vez que faz isso precisa garantir que esse filtro continue dentro da estrutura geométrica exigida. Então o algoritmo alterna entre melhorar o desempenho e reimpor a validade da solução. É por isso que esse é um dos blocos mais caros do algoritmo.</a:t>
                </a:r>
              </a:p>
              <a:p>
                <a:endParaRPr lang="pt-BR" dirty="0"/>
              </a:p>
              <a:p>
                <a:r>
                  <a:rPr lang="pt-BR" dirty="0"/>
                  <a:t>No quarto subproblema, das </a:t>
                </a:r>
                <a:r>
                  <a:rPr lang="pt-BR" dirty="0" err="1"/>
                  <a:t>fluid</a:t>
                </a:r>
                <a:r>
                  <a:rPr lang="pt-BR" dirty="0"/>
                  <a:t> </a:t>
                </a:r>
                <a:r>
                  <a:rPr lang="pt-BR" dirty="0" err="1"/>
                  <a:t>antennas</a:t>
                </a:r>
                <a:r>
                  <a:rPr lang="pt-BR" dirty="0"/>
                  <a:t>, eles também evitam uma solução conjunta completa. Em vez de tentar mover todas as antenas ao mesmo tempo, o algoritmo faz uma atualização </a:t>
                </a:r>
                <a:r>
                  <a:rPr lang="pt-BR" b="1" dirty="0"/>
                  <a:t>sequencial</a:t>
                </a:r>
                <a:r>
                  <a:rPr lang="pt-BR" dirty="0"/>
                  <a:t>. Ele escolhe uma antena, otimiza a posição dela mantendo as demais fixas, depois passa para a próxima, e assim por diante. Cada atualização leva em conta duas restrições físicas: a antena precisa permanecer dentro da área do painel e não pode ficar perto demais das outras. Então, em termos práticos, esse bloco funciona como uma varredura antena por antena. </a:t>
                </a:r>
              </a:p>
              <a:p>
                <a:endParaRPr lang="pt-BR" dirty="0"/>
              </a:p>
              <a:p>
                <a:r>
                  <a:rPr lang="pt-BR" dirty="0"/>
                  <a:t>Então, resumindo a complexidade, P1 e P2 são leves, porque têm solução direta ou quase direta. Já P3 e P4 concentram o custo real do algoritmo, porque envolvem iterações internas e restrições geométricas mais difíceis. E, como tudo roda em sequência dentro do BCD, o resultado atualizado de um bloco influencia o comportamento do próximo.</a:t>
                </a:r>
              </a:p>
              <a:p>
                <a:endParaRPr lang="pt-BR" dirty="0"/>
              </a:p>
              <a:p>
                <a:endParaRPr lang="pt-BR" dirty="0"/>
              </a:p>
              <a:p>
                <a:r>
                  <a:rPr lang="pt-BR" dirty="0"/>
                  <a:t>Os autores só dão explicitamente a complexidade de </a:t>
                </a:r>
                <a:r>
                  <a:rPr lang="pt-BR" b="1" dirty="0"/>
                  <a:t>dois</a:t>
                </a:r>
                <a:r>
                  <a:rPr lang="pt-BR" dirty="0"/>
                  <a:t> subproblemas. Eles afirmam que a complexidade de </a:t>
                </a:r>
                <a:r>
                  <a:rPr lang="pt-BR" sz="1200" i="0" kern="1200">
                    <a:solidFill>
                      <a:schemeClr val="tx1"/>
                    </a:solidFill>
                    <a:latin typeface="+mn-lt"/>
                    <a:ea typeface="+mn-ea"/>
                    <a:cs typeface="+mn-cs"/>
                  </a:rPr>
                  <a:t>𝑃1</a:t>
                </a:r>
                <a:r>
                  <a:rPr lang="pt-BR" dirty="0"/>
                  <a:t>e </a:t>
                </a:r>
                <a:r>
                  <a:rPr lang="pt-BR" sz="1200" i="0" kern="1200">
                    <a:solidFill>
                      <a:schemeClr val="tx1"/>
                    </a:solidFill>
                    <a:latin typeface="+mn-lt"/>
                    <a:ea typeface="+mn-ea"/>
                    <a:cs typeface="+mn-cs"/>
                  </a:rPr>
                  <a:t>𝑃2</a:t>
                </a:r>
                <a:r>
                  <a:rPr lang="pt-BR" dirty="0"/>
                  <a:t>é </a:t>
                </a:r>
                <a:r>
                  <a:rPr lang="pt-BR" sz="1200" i="0" kern="1200">
                    <a:solidFill>
                      <a:schemeClr val="tx1"/>
                    </a:solidFill>
                    <a:latin typeface="+mn-lt"/>
                    <a:ea typeface="+mn-ea"/>
                    <a:cs typeface="+mn-cs"/>
                  </a:rPr>
                  <a:t>𝑂</a:t>
                </a:r>
                <a:r>
                  <a:rPr lang="ar-AE" sz="1200" i="0" kern="1200">
                    <a:solidFill>
                      <a:schemeClr val="tx1"/>
                    </a:solidFill>
                    <a:latin typeface="+mn-lt"/>
                    <a:ea typeface="+mn-ea"/>
                    <a:cs typeface="+mn-cs"/>
                  </a:rPr>
                  <a:t>(𝑈)</a:t>
                </a:r>
                <a:r>
                  <a:rPr lang="ar-AE" dirty="0"/>
                  <a:t>, </a:t>
                </a:r>
                <a:r>
                  <a:rPr lang="pt-BR" dirty="0"/>
                  <a:t>isto é, linear no número de usuários. Depois disso, eles </a:t>
                </a:r>
                <a:r>
                  <a:rPr lang="pt-BR" b="1" dirty="0"/>
                  <a:t>não expandem</a:t>
                </a:r>
                <a:r>
                  <a:rPr lang="pt-BR" dirty="0"/>
                  <a:t> a complexidade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dentro deste </a:t>
                </a:r>
                <a:r>
                  <a:rPr lang="pt-BR" dirty="0" err="1"/>
                  <a:t>paper</a:t>
                </a:r>
                <a:r>
                  <a:rPr lang="pt-BR" dirty="0"/>
                  <a:t>. Em vez disso, dizem que as complexidades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são dadas nas referências </a:t>
                </a:r>
                <a:r>
                  <a:rPr lang="pt-BR" b="1" dirty="0"/>
                  <a:t>[7]</a:t>
                </a:r>
                <a:r>
                  <a:rPr lang="pt-BR" dirty="0"/>
                  <a:t> e </a:t>
                </a:r>
                <a:r>
                  <a:rPr lang="pt-BR" b="1" dirty="0"/>
                  <a:t>[4]</a:t>
                </a:r>
                <a:r>
                  <a:rPr lang="pt-BR" dirty="0"/>
                  <a:t>, respectivamente.</a:t>
                </a:r>
              </a:p>
            </p:txBody>
          </p:sp>
        </mc:Fallback>
      </mc:AlternateContent>
      <p:sp>
        <p:nvSpPr>
          <p:cNvPr id="4" name="Slide Number Placeholder 3">
            <a:extLst>
              <a:ext uri="{FF2B5EF4-FFF2-40B4-BE49-F238E27FC236}">
                <a16:creationId xmlns:a16="http://schemas.microsoft.com/office/drawing/2014/main" id="{FF905EA4-8FFD-5EA6-E4D5-2BE59232A37E}"/>
              </a:ext>
            </a:extLst>
          </p:cNvPr>
          <p:cNvSpPr>
            <a:spLocks noGrp="1"/>
          </p:cNvSpPr>
          <p:nvPr>
            <p:ph type="sldNum" sz="quarter" idx="5"/>
          </p:nvPr>
        </p:nvSpPr>
        <p:spPr/>
        <p:txBody>
          <a:bodyPr/>
          <a:lstStyle/>
          <a:p>
            <a:fld id="{6FC8D850-966F-45A6-8DE7-15B891E7D40D}" type="slidenum">
              <a:rPr lang="pt-BR" smtClean="0"/>
              <a:t>25</a:t>
            </a:fld>
            <a:endParaRPr lang="pt-BR"/>
          </a:p>
        </p:txBody>
      </p:sp>
    </p:spTree>
    <p:extLst>
      <p:ext uri="{BB962C8B-B14F-4D97-AF65-F5344CB8AC3E}">
        <p14:creationId xmlns:p14="http://schemas.microsoft.com/office/powerpoint/2010/main" val="41010795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0D5A4-52A6-6152-60F0-84B58E7AB4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665424-FB99-075F-9770-0DBFC75A0593}"/>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75A9A35-5C8A-E237-C7C1-16D1ACDD0769}"/>
                  </a:ext>
                </a:extLst>
              </p:cNvPr>
              <p:cNvSpPr>
                <a:spLocks noGrp="1"/>
              </p:cNvSpPr>
              <p:nvPr>
                <p:ph type="body" idx="1"/>
              </p:nvPr>
            </p:nvSpPr>
            <p:spPr/>
            <p:txBody>
              <a:bodyPr/>
              <a:lstStyle/>
              <a:p>
                <a:r>
                  <a:rPr lang="pt-BR" dirty="0"/>
                  <a:t>Esta tabela fecha a seção de resultados mostrando segmentação semântica em </a:t>
                </a:r>
                <a:r>
                  <a:rPr lang="pt-BR" dirty="0" err="1"/>
                  <a:t>Cityscapes</a:t>
                </a:r>
                <a:r>
                  <a:rPr lang="pt-BR" dirty="0"/>
                  <a:t>. O </a:t>
                </a:r>
                <a:r>
                  <a:rPr lang="pt-BR" dirty="0" err="1"/>
                  <a:t>EasyNAS</a:t>
                </a:r>
                <a:r>
                  <a:rPr lang="pt-BR" dirty="0"/>
                  <a:t>(</a:t>
                </a:r>
                <a:r>
                  <a:rPr lang="pt-BR" dirty="0" err="1"/>
                  <a:t>seg</a:t>
                </a:r>
                <a:r>
                  <a:rPr lang="pt-BR" dirty="0"/>
                  <a:t>) alcança 72,6 por cento de </a:t>
                </a:r>
                <a:r>
                  <a:rPr lang="pt-BR" dirty="0" err="1"/>
                  <a:t>mIoU</a:t>
                </a:r>
                <a:r>
                  <a:rPr lang="pt-BR" dirty="0"/>
                  <a:t>, com 28,2 </a:t>
                </a:r>
                <a:r>
                  <a:rPr lang="pt-BR" dirty="0" err="1"/>
                  <a:t>GFLOPs</a:t>
                </a:r>
                <a:r>
                  <a:rPr lang="pt-BR" dirty="0"/>
                  <a:t>, 173 FPS e custo de busca de apenas 0,7 GPU-</a:t>
                </a:r>
                <a:r>
                  <a:rPr lang="pt-BR" dirty="0" err="1"/>
                  <a:t>day</a:t>
                </a:r>
                <a:r>
                  <a:rPr lang="pt-BR" dirty="0"/>
                  <a:t>. Ele supera o </a:t>
                </a:r>
                <a:r>
                  <a:rPr lang="pt-BR" dirty="0" err="1"/>
                  <a:t>FasterSeg</a:t>
                </a:r>
                <a:r>
                  <a:rPr lang="pt-BR" dirty="0"/>
                  <a:t> em </a:t>
                </a:r>
                <a:r>
                  <a:rPr lang="pt-BR" dirty="0" err="1"/>
                  <a:t>mIoU</a:t>
                </a:r>
                <a:r>
                  <a:rPr lang="pt-BR" dirty="0"/>
                  <a:t>, mantém o mesmo nível de </a:t>
                </a:r>
                <a:r>
                  <a:rPr lang="pt-BR" dirty="0" err="1"/>
                  <a:t>FLOPs</a:t>
                </a:r>
                <a:r>
                  <a:rPr lang="pt-BR" dirty="0"/>
                  <a:t> e ainda reduz o custo de busca. Então, esse resultado é importante porque confirma a principal promessa do </a:t>
                </a:r>
                <a:r>
                  <a:rPr lang="pt-BR" dirty="0" err="1"/>
                  <a:t>paper</a:t>
                </a:r>
                <a:r>
                  <a:rPr lang="pt-BR" dirty="0"/>
                  <a:t>, que é mostrar que o framework é geral e funciona também em uma terceira tarefa de visão, além de classificação e detecção.</a:t>
                </a:r>
              </a:p>
            </p:txBody>
          </p:sp>
        </mc:Choice>
        <mc:Fallback xmlns="">
          <p:sp>
            <p:nvSpPr>
              <p:cNvPr id="3" name="Notes Placeholder 2">
                <a:extLst>
                  <a:ext uri="{FF2B5EF4-FFF2-40B4-BE49-F238E27FC236}">
                    <a16:creationId xmlns:a16="http://schemas.microsoft.com/office/drawing/2014/main" id="{BC4A4DA6-AAD5-7B9F-C6CD-1BF515A984C5}"/>
                  </a:ext>
                </a:extLst>
              </p:cNvPr>
              <p:cNvSpPr>
                <a:spLocks noGrp="1"/>
              </p:cNvSpPr>
              <p:nvPr>
                <p:ph type="body" idx="1"/>
              </p:nvPr>
            </p:nvSpPr>
            <p:spPr/>
            <p:txBody>
              <a:bodyPr/>
              <a:lstStyle/>
              <a:p>
                <a:r>
                  <a:rPr lang="pt-BR" dirty="0"/>
                  <a:t>Este slide resume os quatro subproblemas usados na solução. A Seção III do </a:t>
                </a:r>
                <a:r>
                  <a:rPr lang="pt-BR" dirty="0" err="1"/>
                  <a:t>paper</a:t>
                </a:r>
                <a:r>
                  <a:rPr lang="pt-BR" dirty="0"/>
                  <a:t> é bem carregada de matemática, com vários lemas, reformulações e atualizações iterativas. Então, em vez de entrar em todas as equações, eu preferi traduzir a lógica prática do que cada bloco faz.</a:t>
                </a:r>
              </a:p>
              <a:p>
                <a:endParaRPr lang="pt-BR" dirty="0"/>
              </a:p>
              <a:p>
                <a:r>
                  <a:rPr lang="pt-BR" dirty="0"/>
                  <a:t>No primeiro subproblema, da frequência do servidor, a solução é relativamente simples. Como o problema é convexo, os autores conseguem obter uma solução fechada usando as condições </a:t>
                </a:r>
                <a:r>
                  <a:rPr lang="pt-BR" b="1" dirty="0"/>
                  <a:t>KKT</a:t>
                </a:r>
                <a:r>
                  <a:rPr lang="pt-BR" dirty="0"/>
                  <a:t>, que No primeiro subproblema, da frequência do servidor, a solução é relativamente simples. Como o problema é convexo, os autores conseguem obter uma solução fechada usando as condições KKT. Em termos práticos, isso quer dizer que eles não precisam iterar muito nem testar várias divisões possíveis de recurso. Eles já têm uma expressão direta que calcula quanto de processamento cada usuário deve receber com base na carga computacional associada a ele. Um exemplo simples seria este: imagine que o servidor tem 100 unidades de processamento para distribuir entre 3 usuários. O método não divide isso igualmente. Ele calcula uma divisão mais inteligente, dando mais recurso para quem tem tarefa mais pesada. Por isso, esse bloco é barato e tem complexidade linear no número de usuários</a:t>
                </a:r>
              </a:p>
              <a:p>
                <a:endParaRPr lang="pt-BR" dirty="0"/>
              </a:p>
              <a:p>
                <a:endParaRPr lang="pt-BR" dirty="0"/>
              </a:p>
              <a:p>
                <a:r>
                  <a:rPr lang="pt-BR" dirty="0"/>
                  <a:t>No segundo subproblema, da quantização, a lógica é a seguinte. O problema original é discreto, porque os bits permitidos são só 4, 8, 16 ou 32. Resolver isso diretamente seria mais difícil. Então eles fazem primeiro uma </a:t>
                </a:r>
                <a:r>
                  <a:rPr lang="pt-BR" b="1" dirty="0"/>
                  <a:t>relaxação contínua</a:t>
                </a:r>
                <a:r>
                  <a:rPr lang="pt-BR" dirty="0"/>
                  <a:t>, isto é, fingem temporariamente que o número de bits pode assumir qualquer valor real positivo. Depois disso, analisam a função do subproblema e mostram que ela é estritamente convexa. Isso é importante porque significa que existe um único ponto ótimo contínuo. A partir daí, eles derivam a condição de ótimo desse problema relaxado e obtêm diretamente o valor contínuo ótimo de </a:t>
                </a:r>
                <a:r>
                  <a:rPr lang="ar-AE" sz="1200" i="0" kern="1200">
                    <a:solidFill>
                      <a:schemeClr val="tx1"/>
                    </a:solidFill>
                    <a:latin typeface="+mn-lt"/>
                    <a:ea typeface="+mn-ea"/>
                    <a:cs typeface="+mn-cs"/>
                  </a:rPr>
                  <a:t>𝑞_𝑢</a:t>
                </a:r>
                <a:r>
                  <a:rPr lang="pt-BR" dirty="0"/>
                  <a:t>para cada usuário. Em seguida, como esse valor contínuo não é necessariamente permitido na prática, eles fazem uma </a:t>
                </a:r>
                <a:r>
                  <a:rPr lang="pt-BR" b="1" dirty="0"/>
                  <a:t>projeção para o conjunto discreto viável</a:t>
                </a:r>
                <a:r>
                  <a:rPr lang="pt-BR" dirty="0"/>
                  <a:t>, escolhendo o valor mais próximo entre 4, 8, 16 e 32. Um exemplo simples seria este: suponha que o valor ótimo contínuo calculado fosse 15.5 bits. Como esse valor não é permitido, eles projetam para o conjunto viável e escolhem o mais próximo: 16.</a:t>
                </a:r>
              </a:p>
              <a:p>
                <a:endParaRPr lang="pt-BR" dirty="0"/>
              </a:p>
              <a:p>
                <a:r>
                  <a:rPr lang="pt-BR" dirty="0"/>
                  <a:t>No terceiro subproblema, do </a:t>
                </a:r>
                <a:r>
                  <a:rPr lang="pt-BR" dirty="0" err="1"/>
                  <a:t>beamforming</a:t>
                </a:r>
                <a:r>
                  <a:rPr lang="pt-BR" dirty="0"/>
                  <a:t>, a dificuldade aumenta bastante. Aqui eles usam RADMM, que é uma forma de resolver o problema separando a variável em partes auxiliares e atualizando essas partes de maneira alternada. Em termos simples, o algoritmo faz o seguinte: primeiro ele atualiza uma versão do </a:t>
                </a:r>
                <a:r>
                  <a:rPr lang="pt-BR" dirty="0" err="1"/>
                  <a:t>beamforming</a:t>
                </a:r>
                <a:r>
                  <a:rPr lang="pt-BR" dirty="0"/>
                  <a:t> tentando melhorar a taxa </a:t>
                </a:r>
                <a:r>
                  <a:rPr lang="pt-BR" dirty="0" err="1"/>
                  <a:t>uplink</a:t>
                </a:r>
                <a:r>
                  <a:rPr lang="pt-BR" dirty="0"/>
                  <a:t>. Depois ele corrige essa solução para que ela continue respeitando a restrição geométrica de norma unitária. Em seguida, ele atualiza um termo auxiliar que força consistência entre essas duas representações. Então, na prática, esse subproblema roda como um pequeno laço interno com três etapas repetidas: melhorar a solução, projetar ou ajustar para o conjunto válido, e corrigir o acoplamento entre as variáveis auxiliares. Um exemplo intuitivo seria: imagine que a BS tenta ajustar o filtro de recepção para separar melhor dois usuários, mas toda vez que faz isso precisa garantir que esse filtro continue dentro da estrutura geométrica exigida. Então o algoritmo alterna entre melhorar o desempenho e reimpor a validade da solução. É por isso que esse é um dos blocos mais caros do algoritmo.</a:t>
                </a:r>
              </a:p>
              <a:p>
                <a:endParaRPr lang="pt-BR" dirty="0"/>
              </a:p>
              <a:p>
                <a:r>
                  <a:rPr lang="pt-BR" dirty="0"/>
                  <a:t>No quarto subproblema, das </a:t>
                </a:r>
                <a:r>
                  <a:rPr lang="pt-BR" dirty="0" err="1"/>
                  <a:t>fluid</a:t>
                </a:r>
                <a:r>
                  <a:rPr lang="pt-BR" dirty="0"/>
                  <a:t> </a:t>
                </a:r>
                <a:r>
                  <a:rPr lang="pt-BR" dirty="0" err="1"/>
                  <a:t>antennas</a:t>
                </a:r>
                <a:r>
                  <a:rPr lang="pt-BR" dirty="0"/>
                  <a:t>, eles também evitam uma solução conjunta completa. Em vez de tentar mover todas as antenas ao mesmo tempo, o algoritmo faz uma atualização </a:t>
                </a:r>
                <a:r>
                  <a:rPr lang="pt-BR" b="1" dirty="0"/>
                  <a:t>sequencial</a:t>
                </a:r>
                <a:r>
                  <a:rPr lang="pt-BR" dirty="0"/>
                  <a:t>. Ele escolhe uma antena, otimiza a posição dela mantendo as demais fixas, depois passa para a próxima, e assim por diante. Cada atualização leva em conta duas restrições físicas: a antena precisa permanecer dentro da área do painel e não pode ficar perto demais das outras. Então, em termos práticos, esse bloco funciona como uma varredura antena por antena. </a:t>
                </a:r>
              </a:p>
              <a:p>
                <a:endParaRPr lang="pt-BR" dirty="0"/>
              </a:p>
              <a:p>
                <a:r>
                  <a:rPr lang="pt-BR" dirty="0"/>
                  <a:t>Então, resumindo a complexidade, P1 e P2 são leves, porque têm solução direta ou quase direta. Já P3 e P4 concentram o custo real do algoritmo, porque envolvem iterações internas e restrições geométricas mais difíceis. E, como tudo roda em sequência dentro do BCD, o resultado atualizado de um bloco influencia o comportamento do próximo.</a:t>
                </a:r>
              </a:p>
              <a:p>
                <a:endParaRPr lang="pt-BR" dirty="0"/>
              </a:p>
              <a:p>
                <a:endParaRPr lang="pt-BR" dirty="0"/>
              </a:p>
              <a:p>
                <a:r>
                  <a:rPr lang="pt-BR" dirty="0"/>
                  <a:t>Os autores só dão explicitamente a complexidade de </a:t>
                </a:r>
                <a:r>
                  <a:rPr lang="pt-BR" b="1" dirty="0"/>
                  <a:t>dois</a:t>
                </a:r>
                <a:r>
                  <a:rPr lang="pt-BR" dirty="0"/>
                  <a:t> subproblemas. Eles afirmam que a complexidade de </a:t>
                </a:r>
                <a:r>
                  <a:rPr lang="pt-BR" sz="1200" i="0" kern="1200">
                    <a:solidFill>
                      <a:schemeClr val="tx1"/>
                    </a:solidFill>
                    <a:latin typeface="+mn-lt"/>
                    <a:ea typeface="+mn-ea"/>
                    <a:cs typeface="+mn-cs"/>
                  </a:rPr>
                  <a:t>𝑃1</a:t>
                </a:r>
                <a:r>
                  <a:rPr lang="pt-BR" dirty="0"/>
                  <a:t>e </a:t>
                </a:r>
                <a:r>
                  <a:rPr lang="pt-BR" sz="1200" i="0" kern="1200">
                    <a:solidFill>
                      <a:schemeClr val="tx1"/>
                    </a:solidFill>
                    <a:latin typeface="+mn-lt"/>
                    <a:ea typeface="+mn-ea"/>
                    <a:cs typeface="+mn-cs"/>
                  </a:rPr>
                  <a:t>𝑃2</a:t>
                </a:r>
                <a:r>
                  <a:rPr lang="pt-BR" dirty="0"/>
                  <a:t>é </a:t>
                </a:r>
                <a:r>
                  <a:rPr lang="pt-BR" sz="1200" i="0" kern="1200">
                    <a:solidFill>
                      <a:schemeClr val="tx1"/>
                    </a:solidFill>
                    <a:latin typeface="+mn-lt"/>
                    <a:ea typeface="+mn-ea"/>
                    <a:cs typeface="+mn-cs"/>
                  </a:rPr>
                  <a:t>𝑂</a:t>
                </a:r>
                <a:r>
                  <a:rPr lang="ar-AE" sz="1200" i="0" kern="1200">
                    <a:solidFill>
                      <a:schemeClr val="tx1"/>
                    </a:solidFill>
                    <a:latin typeface="+mn-lt"/>
                    <a:ea typeface="+mn-ea"/>
                    <a:cs typeface="+mn-cs"/>
                  </a:rPr>
                  <a:t>(𝑈)</a:t>
                </a:r>
                <a:r>
                  <a:rPr lang="ar-AE" dirty="0"/>
                  <a:t>, </a:t>
                </a:r>
                <a:r>
                  <a:rPr lang="pt-BR" dirty="0"/>
                  <a:t>isto é, linear no número de usuários. Depois disso, eles </a:t>
                </a:r>
                <a:r>
                  <a:rPr lang="pt-BR" b="1" dirty="0"/>
                  <a:t>não expandem</a:t>
                </a:r>
                <a:r>
                  <a:rPr lang="pt-BR" dirty="0"/>
                  <a:t> a complexidade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dentro deste </a:t>
                </a:r>
                <a:r>
                  <a:rPr lang="pt-BR" dirty="0" err="1"/>
                  <a:t>paper</a:t>
                </a:r>
                <a:r>
                  <a:rPr lang="pt-BR" dirty="0"/>
                  <a:t>. Em vez disso, dizem que as complexidades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são dadas nas referências </a:t>
                </a:r>
                <a:r>
                  <a:rPr lang="pt-BR" b="1" dirty="0"/>
                  <a:t>[7]</a:t>
                </a:r>
                <a:r>
                  <a:rPr lang="pt-BR" dirty="0"/>
                  <a:t> e </a:t>
                </a:r>
                <a:r>
                  <a:rPr lang="pt-BR" b="1" dirty="0"/>
                  <a:t>[4]</a:t>
                </a:r>
                <a:r>
                  <a:rPr lang="pt-BR" dirty="0"/>
                  <a:t>, respectivamente.</a:t>
                </a:r>
              </a:p>
            </p:txBody>
          </p:sp>
        </mc:Fallback>
      </mc:AlternateContent>
      <p:sp>
        <p:nvSpPr>
          <p:cNvPr id="4" name="Slide Number Placeholder 3">
            <a:extLst>
              <a:ext uri="{FF2B5EF4-FFF2-40B4-BE49-F238E27FC236}">
                <a16:creationId xmlns:a16="http://schemas.microsoft.com/office/drawing/2014/main" id="{C13923E2-4CDE-A58A-DDC4-1A16810E3E5D}"/>
              </a:ext>
            </a:extLst>
          </p:cNvPr>
          <p:cNvSpPr>
            <a:spLocks noGrp="1"/>
          </p:cNvSpPr>
          <p:nvPr>
            <p:ph type="sldNum" sz="quarter" idx="5"/>
          </p:nvPr>
        </p:nvSpPr>
        <p:spPr/>
        <p:txBody>
          <a:bodyPr/>
          <a:lstStyle/>
          <a:p>
            <a:fld id="{6FC8D850-966F-45A6-8DE7-15B891E7D40D}" type="slidenum">
              <a:rPr lang="pt-BR" smtClean="0"/>
              <a:t>26</a:t>
            </a:fld>
            <a:endParaRPr lang="pt-BR"/>
          </a:p>
        </p:txBody>
      </p:sp>
    </p:spTree>
    <p:extLst>
      <p:ext uri="{BB962C8B-B14F-4D97-AF65-F5344CB8AC3E}">
        <p14:creationId xmlns:p14="http://schemas.microsoft.com/office/powerpoint/2010/main" val="14034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BCC9D-9500-36A2-6DC2-051284958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68B95-B169-D7DB-5291-8B7BE80A7237}"/>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BA26C8B-0F0A-EB9B-2A5B-5C1FD45E20DD}"/>
                  </a:ext>
                </a:extLst>
              </p:cNvPr>
              <p:cNvSpPr>
                <a:spLocks noGrp="1"/>
              </p:cNvSpPr>
              <p:nvPr>
                <p:ph type="body" idx="1"/>
              </p:nvPr>
            </p:nvSpPr>
            <p:spPr/>
            <p:txBody>
              <a:bodyPr/>
              <a:lstStyle/>
              <a:p>
                <a:r>
                  <a:rPr lang="pt-BR" dirty="0"/>
                  <a:t>Em relação a trabalhos futuros, o próprio texto sugere alguns pontos. Um deles é estudar qual é o melhor espaçamento entre as antenas físicas, porque aqui existe um compromisso entre diversidade clássica e correlação útil para predição. Outro ponto é analisar melhor o trade-off entre o número de posições imaginárias previstas e o erro de predição. Em resumo, os autores deixam claro que ainda há espaço para aprofundar a relação entre ganho de dimensão virtual e degradação causada pela imperfeição da estimação.</a:t>
                </a:r>
              </a:p>
            </p:txBody>
          </p:sp>
        </mc:Choice>
        <mc:Fallback xmlns="">
          <p:sp>
            <p:nvSpPr>
              <p:cNvPr id="3" name="Notes Placeholder 2">
                <a:extLst>
                  <a:ext uri="{FF2B5EF4-FFF2-40B4-BE49-F238E27FC236}">
                    <a16:creationId xmlns:a16="http://schemas.microsoft.com/office/drawing/2014/main" id="{BC4A4DA6-AAD5-7B9F-C6CD-1BF515A984C5}"/>
                  </a:ext>
                </a:extLst>
              </p:cNvPr>
              <p:cNvSpPr>
                <a:spLocks noGrp="1"/>
              </p:cNvSpPr>
              <p:nvPr>
                <p:ph type="body" idx="1"/>
              </p:nvPr>
            </p:nvSpPr>
            <p:spPr/>
            <p:txBody>
              <a:bodyPr/>
              <a:lstStyle/>
              <a:p>
                <a:r>
                  <a:rPr lang="pt-BR" dirty="0"/>
                  <a:t>Este slide resume os quatro subproblemas usados na solução. A Seção III do </a:t>
                </a:r>
                <a:r>
                  <a:rPr lang="pt-BR" dirty="0" err="1"/>
                  <a:t>paper</a:t>
                </a:r>
                <a:r>
                  <a:rPr lang="pt-BR" dirty="0"/>
                  <a:t> é bem carregada de matemática, com vários lemas, reformulações e atualizações iterativas. Então, em vez de entrar em todas as equações, eu preferi traduzir a lógica prática do que cada bloco faz.</a:t>
                </a:r>
              </a:p>
              <a:p>
                <a:endParaRPr lang="pt-BR" dirty="0"/>
              </a:p>
              <a:p>
                <a:r>
                  <a:rPr lang="pt-BR" dirty="0"/>
                  <a:t>No primeiro subproblema, da frequência do servidor, a solução é relativamente simples. Como o problema é convexo, os autores conseguem obter uma solução fechada usando as condições </a:t>
                </a:r>
                <a:r>
                  <a:rPr lang="pt-BR" b="1" dirty="0"/>
                  <a:t>KKT</a:t>
                </a:r>
                <a:r>
                  <a:rPr lang="pt-BR" dirty="0"/>
                  <a:t>, que No primeiro subproblema, da frequência do servidor, a solução é relativamente simples. Como o problema é convexo, os autores conseguem obter uma solução fechada usando as condições KKT. Em termos práticos, isso quer dizer que eles não precisam iterar muito nem testar várias divisões possíveis de recurso. Eles já têm uma expressão direta que calcula quanto de processamento cada usuário deve receber com base na carga computacional associada a ele. Um exemplo simples seria este: imagine que o servidor tem 100 unidades de processamento para distribuir entre 3 usuários. O método não divide isso igualmente. Ele calcula uma divisão mais inteligente, dando mais recurso para quem tem tarefa mais pesada. Por isso, esse bloco é barato e tem complexidade linear no número de usuários</a:t>
                </a:r>
              </a:p>
              <a:p>
                <a:endParaRPr lang="pt-BR" dirty="0"/>
              </a:p>
              <a:p>
                <a:endParaRPr lang="pt-BR" dirty="0"/>
              </a:p>
              <a:p>
                <a:r>
                  <a:rPr lang="pt-BR" dirty="0"/>
                  <a:t>No segundo subproblema, da quantização, a lógica é a seguinte. O problema original é discreto, porque os bits permitidos são só 4, 8, 16 ou 32. Resolver isso diretamente seria mais difícil. Então eles fazem primeiro uma </a:t>
                </a:r>
                <a:r>
                  <a:rPr lang="pt-BR" b="1" dirty="0"/>
                  <a:t>relaxação contínua</a:t>
                </a:r>
                <a:r>
                  <a:rPr lang="pt-BR" dirty="0"/>
                  <a:t>, isto é, fingem temporariamente que o número de bits pode assumir qualquer valor real positivo. Depois disso, analisam a função do subproblema e mostram que ela é estritamente convexa. Isso é importante porque significa que existe um único ponto ótimo contínuo. A partir daí, eles derivam a condição de ótimo desse problema relaxado e obtêm diretamente o valor contínuo ótimo de </a:t>
                </a:r>
                <a:r>
                  <a:rPr lang="ar-AE" sz="1200" i="0" kern="1200">
                    <a:solidFill>
                      <a:schemeClr val="tx1"/>
                    </a:solidFill>
                    <a:latin typeface="+mn-lt"/>
                    <a:ea typeface="+mn-ea"/>
                    <a:cs typeface="+mn-cs"/>
                  </a:rPr>
                  <a:t>𝑞_𝑢</a:t>
                </a:r>
                <a:r>
                  <a:rPr lang="pt-BR" dirty="0"/>
                  <a:t>para cada usuário. Em seguida, como esse valor contínuo não é necessariamente permitido na prática, eles fazem uma </a:t>
                </a:r>
                <a:r>
                  <a:rPr lang="pt-BR" b="1" dirty="0"/>
                  <a:t>projeção para o conjunto discreto viável</a:t>
                </a:r>
                <a:r>
                  <a:rPr lang="pt-BR" dirty="0"/>
                  <a:t>, escolhendo o valor mais próximo entre 4, 8, 16 e 32. Um exemplo simples seria este: suponha que o valor ótimo contínuo calculado fosse 15.5 bits. Como esse valor não é permitido, eles projetam para o conjunto viável e escolhem o mais próximo: 16.</a:t>
                </a:r>
              </a:p>
              <a:p>
                <a:endParaRPr lang="pt-BR" dirty="0"/>
              </a:p>
              <a:p>
                <a:r>
                  <a:rPr lang="pt-BR" dirty="0"/>
                  <a:t>No terceiro subproblema, do </a:t>
                </a:r>
                <a:r>
                  <a:rPr lang="pt-BR" dirty="0" err="1"/>
                  <a:t>beamforming</a:t>
                </a:r>
                <a:r>
                  <a:rPr lang="pt-BR" dirty="0"/>
                  <a:t>, a dificuldade aumenta bastante. Aqui eles usam RADMM, que é uma forma de resolver o problema separando a variável em partes auxiliares e atualizando essas partes de maneira alternada. Em termos simples, o algoritmo faz o seguinte: primeiro ele atualiza uma versão do </a:t>
                </a:r>
                <a:r>
                  <a:rPr lang="pt-BR" dirty="0" err="1"/>
                  <a:t>beamforming</a:t>
                </a:r>
                <a:r>
                  <a:rPr lang="pt-BR" dirty="0"/>
                  <a:t> tentando melhorar a taxa </a:t>
                </a:r>
                <a:r>
                  <a:rPr lang="pt-BR" dirty="0" err="1"/>
                  <a:t>uplink</a:t>
                </a:r>
                <a:r>
                  <a:rPr lang="pt-BR" dirty="0"/>
                  <a:t>. Depois ele corrige essa solução para que ela continue respeitando a restrição geométrica de norma unitária. Em seguida, ele atualiza um termo auxiliar que força consistência entre essas duas representações. Então, na prática, esse subproblema roda como um pequeno laço interno com três etapas repetidas: melhorar a solução, projetar ou ajustar para o conjunto válido, e corrigir o acoplamento entre as variáveis auxiliares. Um exemplo intuitivo seria: imagine que a BS tenta ajustar o filtro de recepção para separar melhor dois usuários, mas toda vez que faz isso precisa garantir que esse filtro continue dentro da estrutura geométrica exigida. Então o algoritmo alterna entre melhorar o desempenho e reimpor a validade da solução. É por isso que esse é um dos blocos mais caros do algoritmo.</a:t>
                </a:r>
              </a:p>
              <a:p>
                <a:endParaRPr lang="pt-BR" dirty="0"/>
              </a:p>
              <a:p>
                <a:r>
                  <a:rPr lang="pt-BR" dirty="0"/>
                  <a:t>No quarto subproblema, das </a:t>
                </a:r>
                <a:r>
                  <a:rPr lang="pt-BR" dirty="0" err="1"/>
                  <a:t>fluid</a:t>
                </a:r>
                <a:r>
                  <a:rPr lang="pt-BR" dirty="0"/>
                  <a:t> </a:t>
                </a:r>
                <a:r>
                  <a:rPr lang="pt-BR" dirty="0" err="1"/>
                  <a:t>antennas</a:t>
                </a:r>
                <a:r>
                  <a:rPr lang="pt-BR" dirty="0"/>
                  <a:t>, eles também evitam uma solução conjunta completa. Em vez de tentar mover todas as antenas ao mesmo tempo, o algoritmo faz uma atualização </a:t>
                </a:r>
                <a:r>
                  <a:rPr lang="pt-BR" b="1" dirty="0"/>
                  <a:t>sequencial</a:t>
                </a:r>
                <a:r>
                  <a:rPr lang="pt-BR" dirty="0"/>
                  <a:t>. Ele escolhe uma antena, otimiza a posição dela mantendo as demais fixas, depois passa para a próxima, e assim por diante. Cada atualização leva em conta duas restrições físicas: a antena precisa permanecer dentro da área do painel e não pode ficar perto demais das outras. Então, em termos práticos, esse bloco funciona como uma varredura antena por antena. </a:t>
                </a:r>
              </a:p>
              <a:p>
                <a:endParaRPr lang="pt-BR" dirty="0"/>
              </a:p>
              <a:p>
                <a:r>
                  <a:rPr lang="pt-BR" dirty="0"/>
                  <a:t>Então, resumindo a complexidade, P1 e P2 são leves, porque têm solução direta ou quase direta. Já P3 e P4 concentram o custo real do algoritmo, porque envolvem iterações internas e restrições geométricas mais difíceis. E, como tudo roda em sequência dentro do BCD, o resultado atualizado de um bloco influencia o comportamento do próximo.</a:t>
                </a:r>
              </a:p>
              <a:p>
                <a:endParaRPr lang="pt-BR" dirty="0"/>
              </a:p>
              <a:p>
                <a:endParaRPr lang="pt-BR" dirty="0"/>
              </a:p>
              <a:p>
                <a:r>
                  <a:rPr lang="pt-BR" dirty="0"/>
                  <a:t>Os autores só dão explicitamente a complexidade de </a:t>
                </a:r>
                <a:r>
                  <a:rPr lang="pt-BR" b="1" dirty="0"/>
                  <a:t>dois</a:t>
                </a:r>
                <a:r>
                  <a:rPr lang="pt-BR" dirty="0"/>
                  <a:t> subproblemas. Eles afirmam que a complexidade de </a:t>
                </a:r>
                <a:r>
                  <a:rPr lang="pt-BR" sz="1200" i="0" kern="1200">
                    <a:solidFill>
                      <a:schemeClr val="tx1"/>
                    </a:solidFill>
                    <a:latin typeface="+mn-lt"/>
                    <a:ea typeface="+mn-ea"/>
                    <a:cs typeface="+mn-cs"/>
                  </a:rPr>
                  <a:t>𝑃1</a:t>
                </a:r>
                <a:r>
                  <a:rPr lang="pt-BR" dirty="0"/>
                  <a:t>e </a:t>
                </a:r>
                <a:r>
                  <a:rPr lang="pt-BR" sz="1200" i="0" kern="1200">
                    <a:solidFill>
                      <a:schemeClr val="tx1"/>
                    </a:solidFill>
                    <a:latin typeface="+mn-lt"/>
                    <a:ea typeface="+mn-ea"/>
                    <a:cs typeface="+mn-cs"/>
                  </a:rPr>
                  <a:t>𝑃2</a:t>
                </a:r>
                <a:r>
                  <a:rPr lang="pt-BR" dirty="0"/>
                  <a:t>é </a:t>
                </a:r>
                <a:r>
                  <a:rPr lang="pt-BR" sz="1200" i="0" kern="1200">
                    <a:solidFill>
                      <a:schemeClr val="tx1"/>
                    </a:solidFill>
                    <a:latin typeface="+mn-lt"/>
                    <a:ea typeface="+mn-ea"/>
                    <a:cs typeface="+mn-cs"/>
                  </a:rPr>
                  <a:t>𝑂</a:t>
                </a:r>
                <a:r>
                  <a:rPr lang="ar-AE" sz="1200" i="0" kern="1200">
                    <a:solidFill>
                      <a:schemeClr val="tx1"/>
                    </a:solidFill>
                    <a:latin typeface="+mn-lt"/>
                    <a:ea typeface="+mn-ea"/>
                    <a:cs typeface="+mn-cs"/>
                  </a:rPr>
                  <a:t>(𝑈)</a:t>
                </a:r>
                <a:r>
                  <a:rPr lang="ar-AE" dirty="0"/>
                  <a:t>, </a:t>
                </a:r>
                <a:r>
                  <a:rPr lang="pt-BR" dirty="0"/>
                  <a:t>isto é, linear no número de usuários. Depois disso, eles </a:t>
                </a:r>
                <a:r>
                  <a:rPr lang="pt-BR" b="1" dirty="0"/>
                  <a:t>não expandem</a:t>
                </a:r>
                <a:r>
                  <a:rPr lang="pt-BR" dirty="0"/>
                  <a:t> a complexidade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dentro deste </a:t>
                </a:r>
                <a:r>
                  <a:rPr lang="pt-BR" dirty="0" err="1"/>
                  <a:t>paper</a:t>
                </a:r>
                <a:r>
                  <a:rPr lang="pt-BR" dirty="0"/>
                  <a:t>. Em vez disso, dizem que as complexidades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são dadas nas referências </a:t>
                </a:r>
                <a:r>
                  <a:rPr lang="pt-BR" b="1" dirty="0"/>
                  <a:t>[7]</a:t>
                </a:r>
                <a:r>
                  <a:rPr lang="pt-BR" dirty="0"/>
                  <a:t> e </a:t>
                </a:r>
                <a:r>
                  <a:rPr lang="pt-BR" b="1" dirty="0"/>
                  <a:t>[4]</a:t>
                </a:r>
                <a:r>
                  <a:rPr lang="pt-BR" dirty="0"/>
                  <a:t>, respectivamente.</a:t>
                </a:r>
              </a:p>
            </p:txBody>
          </p:sp>
        </mc:Fallback>
      </mc:AlternateContent>
      <p:sp>
        <p:nvSpPr>
          <p:cNvPr id="4" name="Slide Number Placeholder 3">
            <a:extLst>
              <a:ext uri="{FF2B5EF4-FFF2-40B4-BE49-F238E27FC236}">
                <a16:creationId xmlns:a16="http://schemas.microsoft.com/office/drawing/2014/main" id="{A7ECD933-36F2-979D-4927-77A9980B3706}"/>
              </a:ext>
            </a:extLst>
          </p:cNvPr>
          <p:cNvSpPr>
            <a:spLocks noGrp="1"/>
          </p:cNvSpPr>
          <p:nvPr>
            <p:ph type="sldNum" sz="quarter" idx="5"/>
          </p:nvPr>
        </p:nvSpPr>
        <p:spPr/>
        <p:txBody>
          <a:bodyPr/>
          <a:lstStyle/>
          <a:p>
            <a:fld id="{6FC8D850-966F-45A6-8DE7-15B891E7D40D}" type="slidenum">
              <a:rPr lang="pt-BR" smtClean="0"/>
              <a:t>27</a:t>
            </a:fld>
            <a:endParaRPr lang="pt-BR"/>
          </a:p>
        </p:txBody>
      </p:sp>
    </p:spTree>
    <p:extLst>
      <p:ext uri="{BB962C8B-B14F-4D97-AF65-F5344CB8AC3E}">
        <p14:creationId xmlns:p14="http://schemas.microsoft.com/office/powerpoint/2010/main" val="36054269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0086F-9982-7853-6BA3-9FD912D19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B3034D-068E-AA9B-5635-940E1350B5FB}"/>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6199DBC-3056-BCD2-C81C-A1E6ED144AA7}"/>
                  </a:ext>
                </a:extLst>
              </p:cNvPr>
              <p:cNvSpPr>
                <a:spLocks noGrp="1"/>
              </p:cNvSpPr>
              <p:nvPr>
                <p:ph type="body" idx="1"/>
              </p:nvPr>
            </p:nvSpPr>
            <p:spPr/>
            <p:txBody>
              <a:bodyPr/>
              <a:lstStyle/>
              <a:p>
                <a:r>
                  <a:rPr lang="pt-BR" b="1" dirty="0" err="1"/>
                  <a:t>One</a:t>
                </a:r>
                <a:r>
                  <a:rPr lang="pt-BR" b="1" dirty="0"/>
                  <a:t>-shot NAS</a:t>
                </a:r>
                <a:r>
                  <a:rPr lang="pt-BR" dirty="0"/>
                  <a:t> é uma família de métodos de </a:t>
                </a:r>
                <a:r>
                  <a:rPr lang="pt-BR" b="1" dirty="0"/>
                  <a:t>Neural </a:t>
                </a:r>
                <a:r>
                  <a:rPr lang="pt-BR" b="1" dirty="0" err="1"/>
                  <a:t>Architecture</a:t>
                </a:r>
                <a:r>
                  <a:rPr lang="pt-BR" b="1" dirty="0"/>
                  <a:t> Search</a:t>
                </a:r>
                <a:r>
                  <a:rPr lang="pt-BR" dirty="0"/>
                  <a:t> em que, em vez de treinar cada arquitetura candidata separadamente, o método constrói um único modelo grande, chamado </a:t>
                </a:r>
                <a:r>
                  <a:rPr lang="pt-BR" b="1" dirty="0" err="1"/>
                  <a:t>supernet</a:t>
                </a:r>
                <a:r>
                  <a:rPr lang="pt-BR" dirty="0"/>
                  <a:t>, que contém todas ou quase todas as opções do espaço de busca.</a:t>
                </a:r>
              </a:p>
              <a:p>
                <a:endParaRPr lang="pt-BR" dirty="0"/>
              </a:p>
              <a:p>
                <a:r>
                  <a:rPr lang="pt-BR" dirty="0"/>
                  <a:t>o método ainda precisa treinar um </a:t>
                </a:r>
                <a:r>
                  <a:rPr lang="pt-BR" dirty="0" err="1"/>
                  <a:t>supernet</a:t>
                </a:r>
                <a:r>
                  <a:rPr lang="pt-BR" dirty="0"/>
                  <a:t> </a:t>
                </a:r>
                <a:r>
                  <a:rPr lang="pt-BR" dirty="0" err="1"/>
                  <a:t>differentiable</a:t>
                </a:r>
                <a:r>
                  <a:rPr lang="pt-BR" dirty="0"/>
                  <a:t>, então não elimina totalmente custo alto, acoplamento entre pesos e arquitetura, nem instabilidades típicas de </a:t>
                </a:r>
                <a:r>
                  <a:rPr lang="pt-BR" dirty="0" err="1"/>
                  <a:t>one</a:t>
                </a:r>
                <a:r>
                  <a:rPr lang="pt-BR" dirty="0"/>
                  <a:t>-shot NAS.</a:t>
                </a:r>
              </a:p>
              <a:p>
                <a:endParaRPr lang="pt-BR" dirty="0"/>
              </a:p>
              <a:p>
                <a:r>
                  <a:rPr lang="pt-BR" dirty="0"/>
                  <a:t>o framework é geral para várias tarefas de visão, mas principalmente dentro de arquiteturas </a:t>
                </a:r>
                <a:r>
                  <a:rPr lang="pt-BR" b="1" dirty="0"/>
                  <a:t>convolucionais</a:t>
                </a:r>
                <a:r>
                  <a:rPr lang="pt-BR" dirty="0"/>
                  <a:t>. Isso não significa que a ideia se transfere facilmente para qualquer tipo de rede.</a:t>
                </a:r>
              </a:p>
              <a:p>
                <a:endParaRPr lang="pt-BR" dirty="0"/>
              </a:p>
              <a:p>
                <a:r>
                  <a:rPr lang="pt-BR" dirty="0"/>
                  <a:t>o ganho do método depende de conseguir representar operações por </a:t>
                </a:r>
                <a:r>
                  <a:rPr lang="pt-BR" b="1" dirty="0"/>
                  <a:t>kernels compartilhados e máscaras</a:t>
                </a:r>
                <a:r>
                  <a:rPr lang="pt-BR" dirty="0"/>
                  <a:t>. Isso funciona bem para convoluções, mas não é naturalmente aplicável a operações muito diferentes.</a:t>
                </a:r>
              </a:p>
              <a:p>
                <a:endParaRPr lang="pt-BR" dirty="0"/>
              </a:p>
              <a:p>
                <a:r>
                  <a:rPr lang="pt-BR" dirty="0"/>
                  <a:t>além de buscar conexão e operação, o método também busca </a:t>
                </a:r>
                <a:r>
                  <a:rPr lang="pt-BR" b="1" dirty="0"/>
                  <a:t>redução de canais</a:t>
                </a:r>
                <a:r>
                  <a:rPr lang="pt-BR" dirty="0"/>
                  <a:t>. Isso aumenta a flexibilidade, mas também deixa a otimização mais difícil.</a:t>
                </a:r>
              </a:p>
            </p:txBody>
          </p:sp>
        </mc:Choice>
        <mc:Fallback xmlns="">
          <p:sp>
            <p:nvSpPr>
              <p:cNvPr id="3" name="Notes Placeholder 2">
                <a:extLst>
                  <a:ext uri="{FF2B5EF4-FFF2-40B4-BE49-F238E27FC236}">
                    <a16:creationId xmlns:a16="http://schemas.microsoft.com/office/drawing/2014/main" id="{BC4A4DA6-AAD5-7B9F-C6CD-1BF515A984C5}"/>
                  </a:ext>
                </a:extLst>
              </p:cNvPr>
              <p:cNvSpPr>
                <a:spLocks noGrp="1"/>
              </p:cNvSpPr>
              <p:nvPr>
                <p:ph type="body" idx="1"/>
              </p:nvPr>
            </p:nvSpPr>
            <p:spPr/>
            <p:txBody>
              <a:bodyPr/>
              <a:lstStyle/>
              <a:p>
                <a:r>
                  <a:rPr lang="pt-BR" dirty="0"/>
                  <a:t>Este slide resume os quatro subproblemas usados na solução. A Seção III do </a:t>
                </a:r>
                <a:r>
                  <a:rPr lang="pt-BR" dirty="0" err="1"/>
                  <a:t>paper</a:t>
                </a:r>
                <a:r>
                  <a:rPr lang="pt-BR" dirty="0"/>
                  <a:t> é bem carregada de matemática, com vários lemas, reformulações e atualizações iterativas. Então, em vez de entrar em todas as equações, eu preferi traduzir a lógica prática do que cada bloco faz.</a:t>
                </a:r>
              </a:p>
              <a:p>
                <a:endParaRPr lang="pt-BR" dirty="0"/>
              </a:p>
              <a:p>
                <a:r>
                  <a:rPr lang="pt-BR" dirty="0"/>
                  <a:t>No primeiro subproblema, da frequência do servidor, a solução é relativamente simples. Como o problema é convexo, os autores conseguem obter uma solução fechada usando as condições </a:t>
                </a:r>
                <a:r>
                  <a:rPr lang="pt-BR" b="1" dirty="0"/>
                  <a:t>KKT</a:t>
                </a:r>
                <a:r>
                  <a:rPr lang="pt-BR" dirty="0"/>
                  <a:t>, que No primeiro subproblema, da frequência do servidor, a solução é relativamente simples. Como o problema é convexo, os autores conseguem obter uma solução fechada usando as condições KKT. Em termos práticos, isso quer dizer que eles não precisam iterar muito nem testar várias divisões possíveis de recurso. Eles já têm uma expressão direta que calcula quanto de processamento cada usuário deve receber com base na carga computacional associada a ele. Um exemplo simples seria este: imagine que o servidor tem 100 unidades de processamento para distribuir entre 3 usuários. O método não divide isso igualmente. Ele calcula uma divisão mais inteligente, dando mais recurso para quem tem tarefa mais pesada. Por isso, esse bloco é barato e tem complexidade linear no número de usuários</a:t>
                </a:r>
              </a:p>
              <a:p>
                <a:endParaRPr lang="pt-BR" dirty="0"/>
              </a:p>
              <a:p>
                <a:endParaRPr lang="pt-BR" dirty="0"/>
              </a:p>
              <a:p>
                <a:r>
                  <a:rPr lang="pt-BR" dirty="0"/>
                  <a:t>No segundo subproblema, da quantização, a lógica é a seguinte. O problema original é discreto, porque os bits permitidos são só 4, 8, 16 ou 32. Resolver isso diretamente seria mais difícil. Então eles fazem primeiro uma </a:t>
                </a:r>
                <a:r>
                  <a:rPr lang="pt-BR" b="1" dirty="0"/>
                  <a:t>relaxação contínua</a:t>
                </a:r>
                <a:r>
                  <a:rPr lang="pt-BR" dirty="0"/>
                  <a:t>, isto é, fingem temporariamente que o número de bits pode assumir qualquer valor real positivo. Depois disso, analisam a função do subproblema e mostram que ela é estritamente convexa. Isso é importante porque significa que existe um único ponto ótimo contínuo. A partir daí, eles derivam a condição de ótimo desse problema relaxado e obtêm diretamente o valor contínuo ótimo de </a:t>
                </a:r>
                <a:r>
                  <a:rPr lang="ar-AE" sz="1200" i="0" kern="1200">
                    <a:solidFill>
                      <a:schemeClr val="tx1"/>
                    </a:solidFill>
                    <a:latin typeface="+mn-lt"/>
                    <a:ea typeface="+mn-ea"/>
                    <a:cs typeface="+mn-cs"/>
                  </a:rPr>
                  <a:t>𝑞_𝑢</a:t>
                </a:r>
                <a:r>
                  <a:rPr lang="pt-BR" dirty="0"/>
                  <a:t>para cada usuário. Em seguida, como esse valor contínuo não é necessariamente permitido na prática, eles fazem uma </a:t>
                </a:r>
                <a:r>
                  <a:rPr lang="pt-BR" b="1" dirty="0"/>
                  <a:t>projeção para o conjunto discreto viável</a:t>
                </a:r>
                <a:r>
                  <a:rPr lang="pt-BR" dirty="0"/>
                  <a:t>, escolhendo o valor mais próximo entre 4, 8, 16 e 32. Um exemplo simples seria este: suponha que o valor ótimo contínuo calculado fosse 15.5 bits. Como esse valor não é permitido, eles projetam para o conjunto viável e escolhem o mais próximo: 16.</a:t>
                </a:r>
              </a:p>
              <a:p>
                <a:endParaRPr lang="pt-BR" dirty="0"/>
              </a:p>
              <a:p>
                <a:r>
                  <a:rPr lang="pt-BR" dirty="0"/>
                  <a:t>No terceiro subproblema, do </a:t>
                </a:r>
                <a:r>
                  <a:rPr lang="pt-BR" dirty="0" err="1"/>
                  <a:t>beamforming</a:t>
                </a:r>
                <a:r>
                  <a:rPr lang="pt-BR" dirty="0"/>
                  <a:t>, a dificuldade aumenta bastante. Aqui eles usam RADMM, que é uma forma de resolver o problema separando a variável em partes auxiliares e atualizando essas partes de maneira alternada. Em termos simples, o algoritmo faz o seguinte: primeiro ele atualiza uma versão do </a:t>
                </a:r>
                <a:r>
                  <a:rPr lang="pt-BR" dirty="0" err="1"/>
                  <a:t>beamforming</a:t>
                </a:r>
                <a:r>
                  <a:rPr lang="pt-BR" dirty="0"/>
                  <a:t> tentando melhorar a taxa </a:t>
                </a:r>
                <a:r>
                  <a:rPr lang="pt-BR" dirty="0" err="1"/>
                  <a:t>uplink</a:t>
                </a:r>
                <a:r>
                  <a:rPr lang="pt-BR" dirty="0"/>
                  <a:t>. Depois ele corrige essa solução para que ela continue respeitando a restrição geométrica de norma unitária. Em seguida, ele atualiza um termo auxiliar que força consistência entre essas duas representações. Então, na prática, esse subproblema roda como um pequeno laço interno com três etapas repetidas: melhorar a solução, projetar ou ajustar para o conjunto válido, e corrigir o acoplamento entre as variáveis auxiliares. Um exemplo intuitivo seria: imagine que a BS tenta ajustar o filtro de recepção para separar melhor dois usuários, mas toda vez que faz isso precisa garantir que esse filtro continue dentro da estrutura geométrica exigida. Então o algoritmo alterna entre melhorar o desempenho e reimpor a validade da solução. É por isso que esse é um dos blocos mais caros do algoritmo.</a:t>
                </a:r>
              </a:p>
              <a:p>
                <a:endParaRPr lang="pt-BR" dirty="0"/>
              </a:p>
              <a:p>
                <a:r>
                  <a:rPr lang="pt-BR" dirty="0"/>
                  <a:t>No quarto subproblema, das </a:t>
                </a:r>
                <a:r>
                  <a:rPr lang="pt-BR" dirty="0" err="1"/>
                  <a:t>fluid</a:t>
                </a:r>
                <a:r>
                  <a:rPr lang="pt-BR" dirty="0"/>
                  <a:t> </a:t>
                </a:r>
                <a:r>
                  <a:rPr lang="pt-BR" dirty="0" err="1"/>
                  <a:t>antennas</a:t>
                </a:r>
                <a:r>
                  <a:rPr lang="pt-BR" dirty="0"/>
                  <a:t>, eles também evitam uma solução conjunta completa. Em vez de tentar mover todas as antenas ao mesmo tempo, o algoritmo faz uma atualização </a:t>
                </a:r>
                <a:r>
                  <a:rPr lang="pt-BR" b="1" dirty="0"/>
                  <a:t>sequencial</a:t>
                </a:r>
                <a:r>
                  <a:rPr lang="pt-BR" dirty="0"/>
                  <a:t>. Ele escolhe uma antena, otimiza a posição dela mantendo as demais fixas, depois passa para a próxima, e assim por diante. Cada atualização leva em conta duas restrições físicas: a antena precisa permanecer dentro da área do painel e não pode ficar perto demais das outras. Então, em termos práticos, esse bloco funciona como uma varredura antena por antena. </a:t>
                </a:r>
              </a:p>
              <a:p>
                <a:endParaRPr lang="pt-BR" dirty="0"/>
              </a:p>
              <a:p>
                <a:r>
                  <a:rPr lang="pt-BR" dirty="0"/>
                  <a:t>Então, resumindo a complexidade, P1 e P2 são leves, porque têm solução direta ou quase direta. Já P3 e P4 concentram o custo real do algoritmo, porque envolvem iterações internas e restrições geométricas mais difíceis. E, como tudo roda em sequência dentro do BCD, o resultado atualizado de um bloco influencia o comportamento do próximo.</a:t>
                </a:r>
              </a:p>
              <a:p>
                <a:endParaRPr lang="pt-BR" dirty="0"/>
              </a:p>
              <a:p>
                <a:endParaRPr lang="pt-BR" dirty="0"/>
              </a:p>
              <a:p>
                <a:r>
                  <a:rPr lang="pt-BR" dirty="0"/>
                  <a:t>Os autores só dão explicitamente a complexidade de </a:t>
                </a:r>
                <a:r>
                  <a:rPr lang="pt-BR" b="1" dirty="0"/>
                  <a:t>dois</a:t>
                </a:r>
                <a:r>
                  <a:rPr lang="pt-BR" dirty="0"/>
                  <a:t> subproblemas. Eles afirmam que a complexidade de </a:t>
                </a:r>
                <a:r>
                  <a:rPr lang="pt-BR" sz="1200" i="0" kern="1200">
                    <a:solidFill>
                      <a:schemeClr val="tx1"/>
                    </a:solidFill>
                    <a:latin typeface="+mn-lt"/>
                    <a:ea typeface="+mn-ea"/>
                    <a:cs typeface="+mn-cs"/>
                  </a:rPr>
                  <a:t>𝑃1</a:t>
                </a:r>
                <a:r>
                  <a:rPr lang="pt-BR" dirty="0"/>
                  <a:t>e </a:t>
                </a:r>
                <a:r>
                  <a:rPr lang="pt-BR" sz="1200" i="0" kern="1200">
                    <a:solidFill>
                      <a:schemeClr val="tx1"/>
                    </a:solidFill>
                    <a:latin typeface="+mn-lt"/>
                    <a:ea typeface="+mn-ea"/>
                    <a:cs typeface="+mn-cs"/>
                  </a:rPr>
                  <a:t>𝑃2</a:t>
                </a:r>
                <a:r>
                  <a:rPr lang="pt-BR" dirty="0"/>
                  <a:t>é </a:t>
                </a:r>
                <a:r>
                  <a:rPr lang="pt-BR" sz="1200" i="0" kern="1200">
                    <a:solidFill>
                      <a:schemeClr val="tx1"/>
                    </a:solidFill>
                    <a:latin typeface="+mn-lt"/>
                    <a:ea typeface="+mn-ea"/>
                    <a:cs typeface="+mn-cs"/>
                  </a:rPr>
                  <a:t>𝑂</a:t>
                </a:r>
                <a:r>
                  <a:rPr lang="ar-AE" sz="1200" i="0" kern="1200">
                    <a:solidFill>
                      <a:schemeClr val="tx1"/>
                    </a:solidFill>
                    <a:latin typeface="+mn-lt"/>
                    <a:ea typeface="+mn-ea"/>
                    <a:cs typeface="+mn-cs"/>
                  </a:rPr>
                  <a:t>(𝑈)</a:t>
                </a:r>
                <a:r>
                  <a:rPr lang="ar-AE" dirty="0"/>
                  <a:t>, </a:t>
                </a:r>
                <a:r>
                  <a:rPr lang="pt-BR" dirty="0"/>
                  <a:t>isto é, linear no número de usuários. Depois disso, eles </a:t>
                </a:r>
                <a:r>
                  <a:rPr lang="pt-BR" b="1" dirty="0"/>
                  <a:t>não expandem</a:t>
                </a:r>
                <a:r>
                  <a:rPr lang="pt-BR" dirty="0"/>
                  <a:t> a complexidade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dentro deste </a:t>
                </a:r>
                <a:r>
                  <a:rPr lang="pt-BR" dirty="0" err="1"/>
                  <a:t>paper</a:t>
                </a:r>
                <a:r>
                  <a:rPr lang="pt-BR" dirty="0"/>
                  <a:t>. Em vez disso, dizem que as complexidades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são dadas nas referências </a:t>
                </a:r>
                <a:r>
                  <a:rPr lang="pt-BR" b="1" dirty="0"/>
                  <a:t>[7]</a:t>
                </a:r>
                <a:r>
                  <a:rPr lang="pt-BR" dirty="0"/>
                  <a:t> e </a:t>
                </a:r>
                <a:r>
                  <a:rPr lang="pt-BR" b="1" dirty="0"/>
                  <a:t>[4]</a:t>
                </a:r>
                <a:r>
                  <a:rPr lang="pt-BR" dirty="0"/>
                  <a:t>, respectivamente.</a:t>
                </a:r>
              </a:p>
            </p:txBody>
          </p:sp>
        </mc:Fallback>
      </mc:AlternateContent>
      <p:sp>
        <p:nvSpPr>
          <p:cNvPr id="4" name="Slide Number Placeholder 3">
            <a:extLst>
              <a:ext uri="{FF2B5EF4-FFF2-40B4-BE49-F238E27FC236}">
                <a16:creationId xmlns:a16="http://schemas.microsoft.com/office/drawing/2014/main" id="{F3BCDBF2-7B4B-78EE-DDE4-64A9D6C4B64C}"/>
              </a:ext>
            </a:extLst>
          </p:cNvPr>
          <p:cNvSpPr>
            <a:spLocks noGrp="1"/>
          </p:cNvSpPr>
          <p:nvPr>
            <p:ph type="sldNum" sz="quarter" idx="5"/>
          </p:nvPr>
        </p:nvSpPr>
        <p:spPr/>
        <p:txBody>
          <a:bodyPr/>
          <a:lstStyle/>
          <a:p>
            <a:fld id="{6FC8D850-966F-45A6-8DE7-15B891E7D40D}" type="slidenum">
              <a:rPr lang="pt-BR" smtClean="0"/>
              <a:t>28</a:t>
            </a:fld>
            <a:endParaRPr lang="pt-BR"/>
          </a:p>
        </p:txBody>
      </p:sp>
    </p:spTree>
    <p:extLst>
      <p:ext uri="{BB962C8B-B14F-4D97-AF65-F5344CB8AC3E}">
        <p14:creationId xmlns:p14="http://schemas.microsoft.com/office/powerpoint/2010/main" val="6827236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19A65-422B-3018-15D7-318C3B6F81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73E585-E33E-2A79-7917-763C11DDE32B}"/>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3A35AF0D-6129-0B59-BDD8-5E6A804BE805}"/>
                  </a:ext>
                </a:extLst>
              </p:cNvPr>
              <p:cNvSpPr>
                <a:spLocks noGrp="1"/>
              </p:cNvSpPr>
              <p:nvPr>
                <p:ph type="body" idx="1"/>
              </p:nvPr>
            </p:nvSpPr>
            <p:spPr/>
            <p:txBody>
              <a:bodyPr/>
              <a:lstStyle/>
              <a:p>
                <a:r>
                  <a:rPr lang="pt-BR" b="1" dirty="0" err="1"/>
                  <a:t>One</a:t>
                </a:r>
                <a:r>
                  <a:rPr lang="pt-BR" b="1" dirty="0"/>
                  <a:t>-shot NAS</a:t>
                </a:r>
                <a:r>
                  <a:rPr lang="pt-BR" dirty="0"/>
                  <a:t> é uma família de métodos de </a:t>
                </a:r>
                <a:r>
                  <a:rPr lang="pt-BR" b="1" dirty="0"/>
                  <a:t>Neural </a:t>
                </a:r>
                <a:r>
                  <a:rPr lang="pt-BR" b="1" dirty="0" err="1"/>
                  <a:t>Architecture</a:t>
                </a:r>
                <a:r>
                  <a:rPr lang="pt-BR" b="1" dirty="0"/>
                  <a:t> Search</a:t>
                </a:r>
                <a:r>
                  <a:rPr lang="pt-BR" dirty="0"/>
                  <a:t> em que, em vez de treinar cada arquitetura candidata separadamente, o método constrói um único modelo grande, chamado </a:t>
                </a:r>
                <a:r>
                  <a:rPr lang="pt-BR" b="1" dirty="0" err="1"/>
                  <a:t>supernet</a:t>
                </a:r>
                <a:r>
                  <a:rPr lang="pt-BR" dirty="0"/>
                  <a:t>, que contém todas ou quase todas as opções do espaço de busca.</a:t>
                </a:r>
              </a:p>
              <a:p>
                <a:endParaRPr lang="pt-BR" dirty="0"/>
              </a:p>
              <a:p>
                <a:r>
                  <a:rPr lang="pt-BR" dirty="0"/>
                  <a:t>o método ainda precisa treinar um </a:t>
                </a:r>
                <a:r>
                  <a:rPr lang="pt-BR" dirty="0" err="1"/>
                  <a:t>supernet</a:t>
                </a:r>
                <a:r>
                  <a:rPr lang="pt-BR" dirty="0"/>
                  <a:t> </a:t>
                </a:r>
                <a:r>
                  <a:rPr lang="pt-BR" dirty="0" err="1"/>
                  <a:t>differentiable</a:t>
                </a:r>
                <a:r>
                  <a:rPr lang="pt-BR" dirty="0"/>
                  <a:t>, então não elimina totalmente custo alto, acoplamento entre pesos e arquitetura, nem instabilidades típicas de </a:t>
                </a:r>
                <a:r>
                  <a:rPr lang="pt-BR" dirty="0" err="1"/>
                  <a:t>one</a:t>
                </a:r>
                <a:r>
                  <a:rPr lang="pt-BR" dirty="0"/>
                  <a:t>-shot NAS.</a:t>
                </a:r>
              </a:p>
              <a:p>
                <a:endParaRPr lang="pt-BR" dirty="0"/>
              </a:p>
              <a:p>
                <a:r>
                  <a:rPr lang="pt-BR" dirty="0"/>
                  <a:t>o framework é geral para várias tarefas de visão, mas principalmente dentro de arquiteturas </a:t>
                </a:r>
                <a:r>
                  <a:rPr lang="pt-BR" b="1" dirty="0"/>
                  <a:t>convolucionais</a:t>
                </a:r>
                <a:r>
                  <a:rPr lang="pt-BR" dirty="0"/>
                  <a:t>. Isso não significa que a ideia se transfere facilmente para qualquer tipo de rede.</a:t>
                </a:r>
              </a:p>
              <a:p>
                <a:endParaRPr lang="pt-BR" dirty="0"/>
              </a:p>
              <a:p>
                <a:r>
                  <a:rPr lang="pt-BR" dirty="0"/>
                  <a:t>o ganho do método depende de conseguir representar operações por </a:t>
                </a:r>
                <a:r>
                  <a:rPr lang="pt-BR" b="1" dirty="0"/>
                  <a:t>kernels compartilhados e máscaras</a:t>
                </a:r>
                <a:r>
                  <a:rPr lang="pt-BR" dirty="0"/>
                  <a:t>. Isso funciona bem para convoluções, mas não é naturalmente aplicável a operações muito diferentes.</a:t>
                </a:r>
              </a:p>
              <a:p>
                <a:endParaRPr lang="pt-BR" dirty="0"/>
              </a:p>
              <a:p>
                <a:r>
                  <a:rPr lang="pt-BR" dirty="0"/>
                  <a:t>além de buscar conexão e operação, o método também busca </a:t>
                </a:r>
                <a:r>
                  <a:rPr lang="pt-BR" b="1" dirty="0"/>
                  <a:t>redução de canais</a:t>
                </a:r>
                <a:r>
                  <a:rPr lang="pt-BR" dirty="0"/>
                  <a:t>. Isso aumenta a flexibilidade, mas também deixa a otimização mais difícil.</a:t>
                </a:r>
              </a:p>
            </p:txBody>
          </p:sp>
        </mc:Choice>
        <mc:Fallback xmlns="">
          <p:sp>
            <p:nvSpPr>
              <p:cNvPr id="3" name="Notes Placeholder 2">
                <a:extLst>
                  <a:ext uri="{FF2B5EF4-FFF2-40B4-BE49-F238E27FC236}">
                    <a16:creationId xmlns:a16="http://schemas.microsoft.com/office/drawing/2014/main" id="{BC4A4DA6-AAD5-7B9F-C6CD-1BF515A984C5}"/>
                  </a:ext>
                </a:extLst>
              </p:cNvPr>
              <p:cNvSpPr>
                <a:spLocks noGrp="1"/>
              </p:cNvSpPr>
              <p:nvPr>
                <p:ph type="body" idx="1"/>
              </p:nvPr>
            </p:nvSpPr>
            <p:spPr/>
            <p:txBody>
              <a:bodyPr/>
              <a:lstStyle/>
              <a:p>
                <a:r>
                  <a:rPr lang="pt-BR" dirty="0"/>
                  <a:t>Este slide resume os quatro subproblemas usados na solução. A Seção III do </a:t>
                </a:r>
                <a:r>
                  <a:rPr lang="pt-BR" dirty="0" err="1"/>
                  <a:t>paper</a:t>
                </a:r>
                <a:r>
                  <a:rPr lang="pt-BR" dirty="0"/>
                  <a:t> é bem carregada de matemática, com vários lemas, reformulações e atualizações iterativas. Então, em vez de entrar em todas as equações, eu preferi traduzir a lógica prática do que cada bloco faz.</a:t>
                </a:r>
              </a:p>
              <a:p>
                <a:endParaRPr lang="pt-BR" dirty="0"/>
              </a:p>
              <a:p>
                <a:r>
                  <a:rPr lang="pt-BR" dirty="0"/>
                  <a:t>No primeiro subproblema, da frequência do servidor, a solução é relativamente simples. Como o problema é convexo, os autores conseguem obter uma solução fechada usando as condições </a:t>
                </a:r>
                <a:r>
                  <a:rPr lang="pt-BR" b="1" dirty="0"/>
                  <a:t>KKT</a:t>
                </a:r>
                <a:r>
                  <a:rPr lang="pt-BR" dirty="0"/>
                  <a:t>, que No primeiro subproblema, da frequência do servidor, a solução é relativamente simples. Como o problema é convexo, os autores conseguem obter uma solução fechada usando as condições KKT. Em termos práticos, isso quer dizer que eles não precisam iterar muito nem testar várias divisões possíveis de recurso. Eles já têm uma expressão direta que calcula quanto de processamento cada usuário deve receber com base na carga computacional associada a ele. Um exemplo simples seria este: imagine que o servidor tem 100 unidades de processamento para distribuir entre 3 usuários. O método não divide isso igualmente. Ele calcula uma divisão mais inteligente, dando mais recurso para quem tem tarefa mais pesada. Por isso, esse bloco é barato e tem complexidade linear no número de usuários</a:t>
                </a:r>
              </a:p>
              <a:p>
                <a:endParaRPr lang="pt-BR" dirty="0"/>
              </a:p>
              <a:p>
                <a:endParaRPr lang="pt-BR" dirty="0"/>
              </a:p>
              <a:p>
                <a:r>
                  <a:rPr lang="pt-BR" dirty="0"/>
                  <a:t>No segundo subproblema, da quantização, a lógica é a seguinte. O problema original é discreto, porque os bits permitidos são só 4, 8, 16 ou 32. Resolver isso diretamente seria mais difícil. Então eles fazem primeiro uma </a:t>
                </a:r>
                <a:r>
                  <a:rPr lang="pt-BR" b="1" dirty="0"/>
                  <a:t>relaxação contínua</a:t>
                </a:r>
                <a:r>
                  <a:rPr lang="pt-BR" dirty="0"/>
                  <a:t>, isto é, fingem temporariamente que o número de bits pode assumir qualquer valor real positivo. Depois disso, analisam a função do subproblema e mostram que ela é estritamente convexa. Isso é importante porque significa que existe um único ponto ótimo contínuo. A partir daí, eles derivam a condição de ótimo desse problema relaxado e obtêm diretamente o valor contínuo ótimo de </a:t>
                </a:r>
                <a:r>
                  <a:rPr lang="ar-AE" sz="1200" i="0" kern="1200">
                    <a:solidFill>
                      <a:schemeClr val="tx1"/>
                    </a:solidFill>
                    <a:latin typeface="+mn-lt"/>
                    <a:ea typeface="+mn-ea"/>
                    <a:cs typeface="+mn-cs"/>
                  </a:rPr>
                  <a:t>𝑞_𝑢</a:t>
                </a:r>
                <a:r>
                  <a:rPr lang="pt-BR" dirty="0"/>
                  <a:t>para cada usuário. Em seguida, como esse valor contínuo não é necessariamente permitido na prática, eles fazem uma </a:t>
                </a:r>
                <a:r>
                  <a:rPr lang="pt-BR" b="1" dirty="0"/>
                  <a:t>projeção para o conjunto discreto viável</a:t>
                </a:r>
                <a:r>
                  <a:rPr lang="pt-BR" dirty="0"/>
                  <a:t>, escolhendo o valor mais próximo entre 4, 8, 16 e 32. Um exemplo simples seria este: suponha que o valor ótimo contínuo calculado fosse 15.5 bits. Como esse valor não é permitido, eles projetam para o conjunto viável e escolhem o mais próximo: 16.</a:t>
                </a:r>
              </a:p>
              <a:p>
                <a:endParaRPr lang="pt-BR" dirty="0"/>
              </a:p>
              <a:p>
                <a:r>
                  <a:rPr lang="pt-BR" dirty="0"/>
                  <a:t>No terceiro subproblema, do </a:t>
                </a:r>
                <a:r>
                  <a:rPr lang="pt-BR" dirty="0" err="1"/>
                  <a:t>beamforming</a:t>
                </a:r>
                <a:r>
                  <a:rPr lang="pt-BR" dirty="0"/>
                  <a:t>, a dificuldade aumenta bastante. Aqui eles usam RADMM, que é uma forma de resolver o problema separando a variável em partes auxiliares e atualizando essas partes de maneira alternada. Em termos simples, o algoritmo faz o seguinte: primeiro ele atualiza uma versão do </a:t>
                </a:r>
                <a:r>
                  <a:rPr lang="pt-BR" dirty="0" err="1"/>
                  <a:t>beamforming</a:t>
                </a:r>
                <a:r>
                  <a:rPr lang="pt-BR" dirty="0"/>
                  <a:t> tentando melhorar a taxa </a:t>
                </a:r>
                <a:r>
                  <a:rPr lang="pt-BR" dirty="0" err="1"/>
                  <a:t>uplink</a:t>
                </a:r>
                <a:r>
                  <a:rPr lang="pt-BR" dirty="0"/>
                  <a:t>. Depois ele corrige essa solução para que ela continue respeitando a restrição geométrica de norma unitária. Em seguida, ele atualiza um termo auxiliar que força consistência entre essas duas representações. Então, na prática, esse subproblema roda como um pequeno laço interno com três etapas repetidas: melhorar a solução, projetar ou ajustar para o conjunto válido, e corrigir o acoplamento entre as variáveis auxiliares. Um exemplo intuitivo seria: imagine que a BS tenta ajustar o filtro de recepção para separar melhor dois usuários, mas toda vez que faz isso precisa garantir que esse filtro continue dentro da estrutura geométrica exigida. Então o algoritmo alterna entre melhorar o desempenho e reimpor a validade da solução. É por isso que esse é um dos blocos mais caros do algoritmo.</a:t>
                </a:r>
              </a:p>
              <a:p>
                <a:endParaRPr lang="pt-BR" dirty="0"/>
              </a:p>
              <a:p>
                <a:r>
                  <a:rPr lang="pt-BR" dirty="0"/>
                  <a:t>No quarto subproblema, das </a:t>
                </a:r>
                <a:r>
                  <a:rPr lang="pt-BR" dirty="0" err="1"/>
                  <a:t>fluid</a:t>
                </a:r>
                <a:r>
                  <a:rPr lang="pt-BR" dirty="0"/>
                  <a:t> </a:t>
                </a:r>
                <a:r>
                  <a:rPr lang="pt-BR" dirty="0" err="1"/>
                  <a:t>antennas</a:t>
                </a:r>
                <a:r>
                  <a:rPr lang="pt-BR" dirty="0"/>
                  <a:t>, eles também evitam uma solução conjunta completa. Em vez de tentar mover todas as antenas ao mesmo tempo, o algoritmo faz uma atualização </a:t>
                </a:r>
                <a:r>
                  <a:rPr lang="pt-BR" b="1" dirty="0"/>
                  <a:t>sequencial</a:t>
                </a:r>
                <a:r>
                  <a:rPr lang="pt-BR" dirty="0"/>
                  <a:t>. Ele escolhe uma antena, otimiza a posição dela mantendo as demais fixas, depois passa para a próxima, e assim por diante. Cada atualização leva em conta duas restrições físicas: a antena precisa permanecer dentro da área do painel e não pode ficar perto demais das outras. Então, em termos práticos, esse bloco funciona como uma varredura antena por antena. </a:t>
                </a:r>
              </a:p>
              <a:p>
                <a:endParaRPr lang="pt-BR" dirty="0"/>
              </a:p>
              <a:p>
                <a:r>
                  <a:rPr lang="pt-BR" dirty="0"/>
                  <a:t>Então, resumindo a complexidade, P1 e P2 são leves, porque têm solução direta ou quase direta. Já P3 e P4 concentram o custo real do algoritmo, porque envolvem iterações internas e restrições geométricas mais difíceis. E, como tudo roda em sequência dentro do BCD, o resultado atualizado de um bloco influencia o comportamento do próximo.</a:t>
                </a:r>
              </a:p>
              <a:p>
                <a:endParaRPr lang="pt-BR" dirty="0"/>
              </a:p>
              <a:p>
                <a:endParaRPr lang="pt-BR" dirty="0"/>
              </a:p>
              <a:p>
                <a:r>
                  <a:rPr lang="pt-BR" dirty="0"/>
                  <a:t>Os autores só dão explicitamente a complexidade de </a:t>
                </a:r>
                <a:r>
                  <a:rPr lang="pt-BR" b="1" dirty="0"/>
                  <a:t>dois</a:t>
                </a:r>
                <a:r>
                  <a:rPr lang="pt-BR" dirty="0"/>
                  <a:t> subproblemas. Eles afirmam que a complexidade de </a:t>
                </a:r>
                <a:r>
                  <a:rPr lang="pt-BR" sz="1200" i="0" kern="1200">
                    <a:solidFill>
                      <a:schemeClr val="tx1"/>
                    </a:solidFill>
                    <a:latin typeface="+mn-lt"/>
                    <a:ea typeface="+mn-ea"/>
                    <a:cs typeface="+mn-cs"/>
                  </a:rPr>
                  <a:t>𝑃1</a:t>
                </a:r>
                <a:r>
                  <a:rPr lang="pt-BR" dirty="0"/>
                  <a:t>e </a:t>
                </a:r>
                <a:r>
                  <a:rPr lang="pt-BR" sz="1200" i="0" kern="1200">
                    <a:solidFill>
                      <a:schemeClr val="tx1"/>
                    </a:solidFill>
                    <a:latin typeface="+mn-lt"/>
                    <a:ea typeface="+mn-ea"/>
                    <a:cs typeface="+mn-cs"/>
                  </a:rPr>
                  <a:t>𝑃2</a:t>
                </a:r>
                <a:r>
                  <a:rPr lang="pt-BR" dirty="0"/>
                  <a:t>é </a:t>
                </a:r>
                <a:r>
                  <a:rPr lang="pt-BR" sz="1200" i="0" kern="1200">
                    <a:solidFill>
                      <a:schemeClr val="tx1"/>
                    </a:solidFill>
                    <a:latin typeface="+mn-lt"/>
                    <a:ea typeface="+mn-ea"/>
                    <a:cs typeface="+mn-cs"/>
                  </a:rPr>
                  <a:t>𝑂</a:t>
                </a:r>
                <a:r>
                  <a:rPr lang="ar-AE" sz="1200" i="0" kern="1200">
                    <a:solidFill>
                      <a:schemeClr val="tx1"/>
                    </a:solidFill>
                    <a:latin typeface="+mn-lt"/>
                    <a:ea typeface="+mn-ea"/>
                    <a:cs typeface="+mn-cs"/>
                  </a:rPr>
                  <a:t>(𝑈)</a:t>
                </a:r>
                <a:r>
                  <a:rPr lang="ar-AE" dirty="0"/>
                  <a:t>, </a:t>
                </a:r>
                <a:r>
                  <a:rPr lang="pt-BR" dirty="0"/>
                  <a:t>isto é, linear no número de usuários. Depois disso, eles </a:t>
                </a:r>
                <a:r>
                  <a:rPr lang="pt-BR" b="1" dirty="0"/>
                  <a:t>não expandem</a:t>
                </a:r>
                <a:r>
                  <a:rPr lang="pt-BR" dirty="0"/>
                  <a:t> a complexidade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dentro deste </a:t>
                </a:r>
                <a:r>
                  <a:rPr lang="pt-BR" dirty="0" err="1"/>
                  <a:t>paper</a:t>
                </a:r>
                <a:r>
                  <a:rPr lang="pt-BR" dirty="0"/>
                  <a:t>. Em vez disso, dizem que as complexidades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são dadas nas referências </a:t>
                </a:r>
                <a:r>
                  <a:rPr lang="pt-BR" b="1" dirty="0"/>
                  <a:t>[7]</a:t>
                </a:r>
                <a:r>
                  <a:rPr lang="pt-BR" dirty="0"/>
                  <a:t> e </a:t>
                </a:r>
                <a:r>
                  <a:rPr lang="pt-BR" b="1" dirty="0"/>
                  <a:t>[4]</a:t>
                </a:r>
                <a:r>
                  <a:rPr lang="pt-BR" dirty="0"/>
                  <a:t>, respectivamente.</a:t>
                </a:r>
              </a:p>
            </p:txBody>
          </p:sp>
        </mc:Fallback>
      </mc:AlternateContent>
      <p:sp>
        <p:nvSpPr>
          <p:cNvPr id="4" name="Slide Number Placeholder 3">
            <a:extLst>
              <a:ext uri="{FF2B5EF4-FFF2-40B4-BE49-F238E27FC236}">
                <a16:creationId xmlns:a16="http://schemas.microsoft.com/office/drawing/2014/main" id="{F1D45194-A835-9184-52AA-2C5ABBC24E78}"/>
              </a:ext>
            </a:extLst>
          </p:cNvPr>
          <p:cNvSpPr>
            <a:spLocks noGrp="1"/>
          </p:cNvSpPr>
          <p:nvPr>
            <p:ph type="sldNum" sz="quarter" idx="5"/>
          </p:nvPr>
        </p:nvSpPr>
        <p:spPr/>
        <p:txBody>
          <a:bodyPr/>
          <a:lstStyle/>
          <a:p>
            <a:fld id="{6FC8D850-966F-45A6-8DE7-15B891E7D40D}" type="slidenum">
              <a:rPr lang="pt-BR" smtClean="0"/>
              <a:t>29</a:t>
            </a:fld>
            <a:endParaRPr lang="pt-BR"/>
          </a:p>
        </p:txBody>
      </p:sp>
    </p:spTree>
    <p:extLst>
      <p:ext uri="{BB962C8B-B14F-4D97-AF65-F5344CB8AC3E}">
        <p14:creationId xmlns:p14="http://schemas.microsoft.com/office/powerpoint/2010/main" val="29756925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7CEC4-1F5F-F05C-1B40-B4960BC558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9081E3-DDAF-57BA-BF79-BB7A13020B7F}"/>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083EF0D-435D-CAE8-4FBD-9260E6131D8E}"/>
                  </a:ext>
                </a:extLst>
              </p:cNvPr>
              <p:cNvSpPr>
                <a:spLocks noGrp="1"/>
              </p:cNvSpPr>
              <p:nvPr>
                <p:ph type="body" idx="1"/>
              </p:nvPr>
            </p:nvSpPr>
            <p:spPr/>
            <p:txBody>
              <a:bodyPr/>
              <a:lstStyle/>
              <a:p>
                <a:endParaRPr lang="pt-BR" dirty="0"/>
              </a:p>
            </p:txBody>
          </p:sp>
        </mc:Choice>
        <mc:Fallback xmlns="">
          <p:sp>
            <p:nvSpPr>
              <p:cNvPr id="3" name="Notes Placeholder 2">
                <a:extLst>
                  <a:ext uri="{FF2B5EF4-FFF2-40B4-BE49-F238E27FC236}">
                    <a16:creationId xmlns:a16="http://schemas.microsoft.com/office/drawing/2014/main" id="{BC4A4DA6-AAD5-7B9F-C6CD-1BF515A984C5}"/>
                  </a:ext>
                </a:extLst>
              </p:cNvPr>
              <p:cNvSpPr>
                <a:spLocks noGrp="1"/>
              </p:cNvSpPr>
              <p:nvPr>
                <p:ph type="body" idx="1"/>
              </p:nvPr>
            </p:nvSpPr>
            <p:spPr/>
            <p:txBody>
              <a:bodyPr/>
              <a:lstStyle/>
              <a:p>
                <a:r>
                  <a:rPr lang="pt-BR" dirty="0"/>
                  <a:t>Este slide resume os quatro subproblemas usados na solução. A Seção III do </a:t>
                </a:r>
                <a:r>
                  <a:rPr lang="pt-BR" dirty="0" err="1"/>
                  <a:t>paper</a:t>
                </a:r>
                <a:r>
                  <a:rPr lang="pt-BR" dirty="0"/>
                  <a:t> é bem carregada de matemática, com vários lemas, reformulações e atualizações iterativas. Então, em vez de entrar em todas as equações, eu preferi traduzir a lógica prática do que cada bloco faz.</a:t>
                </a:r>
              </a:p>
              <a:p>
                <a:endParaRPr lang="pt-BR" dirty="0"/>
              </a:p>
              <a:p>
                <a:r>
                  <a:rPr lang="pt-BR" dirty="0"/>
                  <a:t>No primeiro subproblema, da frequência do servidor, a solução é relativamente simples. Como o problema é convexo, os autores conseguem obter uma solução fechada usando as condições </a:t>
                </a:r>
                <a:r>
                  <a:rPr lang="pt-BR" b="1" dirty="0"/>
                  <a:t>KKT</a:t>
                </a:r>
                <a:r>
                  <a:rPr lang="pt-BR" dirty="0"/>
                  <a:t>, que No primeiro subproblema, da frequência do servidor, a solução é relativamente simples. Como o problema é convexo, os autores conseguem obter uma solução fechada usando as condições KKT. Em termos práticos, isso quer dizer que eles não precisam iterar muito nem testar várias divisões possíveis de recurso. Eles já têm uma expressão direta que calcula quanto de processamento cada usuário deve receber com base na carga computacional associada a ele. Um exemplo simples seria este: imagine que o servidor tem 100 unidades de processamento para distribuir entre 3 usuários. O método não divide isso igualmente. Ele calcula uma divisão mais inteligente, dando mais recurso para quem tem tarefa mais pesada. Por isso, esse bloco é barato e tem complexidade linear no número de usuários</a:t>
                </a:r>
              </a:p>
              <a:p>
                <a:endParaRPr lang="pt-BR" dirty="0"/>
              </a:p>
              <a:p>
                <a:endParaRPr lang="pt-BR" dirty="0"/>
              </a:p>
              <a:p>
                <a:r>
                  <a:rPr lang="pt-BR" dirty="0"/>
                  <a:t>No segundo subproblema, da quantização, a lógica é a seguinte. O problema original é discreto, porque os bits permitidos são só 4, 8, 16 ou 32. Resolver isso diretamente seria mais difícil. Então eles fazem primeiro uma </a:t>
                </a:r>
                <a:r>
                  <a:rPr lang="pt-BR" b="1" dirty="0"/>
                  <a:t>relaxação contínua</a:t>
                </a:r>
                <a:r>
                  <a:rPr lang="pt-BR" dirty="0"/>
                  <a:t>, isto é, fingem temporariamente que o número de bits pode assumir qualquer valor real positivo. Depois disso, analisam a função do subproblema e mostram que ela é estritamente convexa. Isso é importante porque significa que existe um único ponto ótimo contínuo. A partir daí, eles derivam a condição de ótimo desse problema relaxado e obtêm diretamente o valor contínuo ótimo de </a:t>
                </a:r>
                <a:r>
                  <a:rPr lang="ar-AE" sz="1200" i="0" kern="1200">
                    <a:solidFill>
                      <a:schemeClr val="tx1"/>
                    </a:solidFill>
                    <a:latin typeface="+mn-lt"/>
                    <a:ea typeface="+mn-ea"/>
                    <a:cs typeface="+mn-cs"/>
                  </a:rPr>
                  <a:t>𝑞_𝑢</a:t>
                </a:r>
                <a:r>
                  <a:rPr lang="pt-BR" dirty="0"/>
                  <a:t>para cada usuário. Em seguida, como esse valor contínuo não é necessariamente permitido na prática, eles fazem uma </a:t>
                </a:r>
                <a:r>
                  <a:rPr lang="pt-BR" b="1" dirty="0"/>
                  <a:t>projeção para o conjunto discreto viável</a:t>
                </a:r>
                <a:r>
                  <a:rPr lang="pt-BR" dirty="0"/>
                  <a:t>, escolhendo o valor mais próximo entre 4, 8, 16 e 32. Um exemplo simples seria este: suponha que o valor ótimo contínuo calculado fosse 15.5 bits. Como esse valor não é permitido, eles projetam para o conjunto viável e escolhem o mais próximo: 16.</a:t>
                </a:r>
              </a:p>
              <a:p>
                <a:endParaRPr lang="pt-BR" dirty="0"/>
              </a:p>
              <a:p>
                <a:r>
                  <a:rPr lang="pt-BR" dirty="0"/>
                  <a:t>No terceiro subproblema, do </a:t>
                </a:r>
                <a:r>
                  <a:rPr lang="pt-BR" dirty="0" err="1"/>
                  <a:t>beamforming</a:t>
                </a:r>
                <a:r>
                  <a:rPr lang="pt-BR" dirty="0"/>
                  <a:t>, a dificuldade aumenta bastante. Aqui eles usam RADMM, que é uma forma de resolver o problema separando a variável em partes auxiliares e atualizando essas partes de maneira alternada. Em termos simples, o algoritmo faz o seguinte: primeiro ele atualiza uma versão do </a:t>
                </a:r>
                <a:r>
                  <a:rPr lang="pt-BR" dirty="0" err="1"/>
                  <a:t>beamforming</a:t>
                </a:r>
                <a:r>
                  <a:rPr lang="pt-BR" dirty="0"/>
                  <a:t> tentando melhorar a taxa </a:t>
                </a:r>
                <a:r>
                  <a:rPr lang="pt-BR" dirty="0" err="1"/>
                  <a:t>uplink</a:t>
                </a:r>
                <a:r>
                  <a:rPr lang="pt-BR" dirty="0"/>
                  <a:t>. Depois ele corrige essa solução para que ela continue respeitando a restrição geométrica de norma unitária. Em seguida, ele atualiza um termo auxiliar que força consistência entre essas duas representações. Então, na prática, esse subproblema roda como um pequeno laço interno com três etapas repetidas: melhorar a solução, projetar ou ajustar para o conjunto válido, e corrigir o acoplamento entre as variáveis auxiliares. Um exemplo intuitivo seria: imagine que a BS tenta ajustar o filtro de recepção para separar melhor dois usuários, mas toda vez que faz isso precisa garantir que esse filtro continue dentro da estrutura geométrica exigida. Então o algoritmo alterna entre melhorar o desempenho e reimpor a validade da solução. É por isso que esse é um dos blocos mais caros do algoritmo.</a:t>
                </a:r>
              </a:p>
              <a:p>
                <a:endParaRPr lang="pt-BR" dirty="0"/>
              </a:p>
              <a:p>
                <a:r>
                  <a:rPr lang="pt-BR" dirty="0"/>
                  <a:t>No quarto subproblema, das </a:t>
                </a:r>
                <a:r>
                  <a:rPr lang="pt-BR" dirty="0" err="1"/>
                  <a:t>fluid</a:t>
                </a:r>
                <a:r>
                  <a:rPr lang="pt-BR" dirty="0"/>
                  <a:t> </a:t>
                </a:r>
                <a:r>
                  <a:rPr lang="pt-BR" dirty="0" err="1"/>
                  <a:t>antennas</a:t>
                </a:r>
                <a:r>
                  <a:rPr lang="pt-BR" dirty="0"/>
                  <a:t>, eles também evitam uma solução conjunta completa. Em vez de tentar mover todas as antenas ao mesmo tempo, o algoritmo faz uma atualização </a:t>
                </a:r>
                <a:r>
                  <a:rPr lang="pt-BR" b="1" dirty="0"/>
                  <a:t>sequencial</a:t>
                </a:r>
                <a:r>
                  <a:rPr lang="pt-BR" dirty="0"/>
                  <a:t>. Ele escolhe uma antena, otimiza a posição dela mantendo as demais fixas, depois passa para a próxima, e assim por diante. Cada atualização leva em conta duas restrições físicas: a antena precisa permanecer dentro da área do painel e não pode ficar perto demais das outras. Então, em termos práticos, esse bloco funciona como uma varredura antena por antena. </a:t>
                </a:r>
              </a:p>
              <a:p>
                <a:endParaRPr lang="pt-BR" dirty="0"/>
              </a:p>
              <a:p>
                <a:r>
                  <a:rPr lang="pt-BR" dirty="0"/>
                  <a:t>Então, resumindo a complexidade, P1 e P2 são leves, porque têm solução direta ou quase direta. Já P3 e P4 concentram o custo real do algoritmo, porque envolvem iterações internas e restrições geométricas mais difíceis. E, como tudo roda em sequência dentro do BCD, o resultado atualizado de um bloco influencia o comportamento do próximo.</a:t>
                </a:r>
              </a:p>
              <a:p>
                <a:endParaRPr lang="pt-BR" dirty="0"/>
              </a:p>
              <a:p>
                <a:endParaRPr lang="pt-BR" dirty="0"/>
              </a:p>
              <a:p>
                <a:r>
                  <a:rPr lang="pt-BR" dirty="0"/>
                  <a:t>Os autores só dão explicitamente a complexidade de </a:t>
                </a:r>
                <a:r>
                  <a:rPr lang="pt-BR" b="1" dirty="0"/>
                  <a:t>dois</a:t>
                </a:r>
                <a:r>
                  <a:rPr lang="pt-BR" dirty="0"/>
                  <a:t> subproblemas. Eles afirmam que a complexidade de </a:t>
                </a:r>
                <a:r>
                  <a:rPr lang="pt-BR" sz="1200" i="0" kern="1200">
                    <a:solidFill>
                      <a:schemeClr val="tx1"/>
                    </a:solidFill>
                    <a:latin typeface="+mn-lt"/>
                    <a:ea typeface="+mn-ea"/>
                    <a:cs typeface="+mn-cs"/>
                  </a:rPr>
                  <a:t>𝑃1</a:t>
                </a:r>
                <a:r>
                  <a:rPr lang="pt-BR" dirty="0"/>
                  <a:t>e </a:t>
                </a:r>
                <a:r>
                  <a:rPr lang="pt-BR" sz="1200" i="0" kern="1200">
                    <a:solidFill>
                      <a:schemeClr val="tx1"/>
                    </a:solidFill>
                    <a:latin typeface="+mn-lt"/>
                    <a:ea typeface="+mn-ea"/>
                    <a:cs typeface="+mn-cs"/>
                  </a:rPr>
                  <a:t>𝑃2</a:t>
                </a:r>
                <a:r>
                  <a:rPr lang="pt-BR" dirty="0"/>
                  <a:t>é </a:t>
                </a:r>
                <a:r>
                  <a:rPr lang="pt-BR" sz="1200" i="0" kern="1200">
                    <a:solidFill>
                      <a:schemeClr val="tx1"/>
                    </a:solidFill>
                    <a:latin typeface="+mn-lt"/>
                    <a:ea typeface="+mn-ea"/>
                    <a:cs typeface="+mn-cs"/>
                  </a:rPr>
                  <a:t>𝑂</a:t>
                </a:r>
                <a:r>
                  <a:rPr lang="ar-AE" sz="1200" i="0" kern="1200">
                    <a:solidFill>
                      <a:schemeClr val="tx1"/>
                    </a:solidFill>
                    <a:latin typeface="+mn-lt"/>
                    <a:ea typeface="+mn-ea"/>
                    <a:cs typeface="+mn-cs"/>
                  </a:rPr>
                  <a:t>(𝑈)</a:t>
                </a:r>
                <a:r>
                  <a:rPr lang="ar-AE" dirty="0"/>
                  <a:t>, </a:t>
                </a:r>
                <a:r>
                  <a:rPr lang="pt-BR" dirty="0"/>
                  <a:t>isto é, linear no número de usuários. Depois disso, eles </a:t>
                </a:r>
                <a:r>
                  <a:rPr lang="pt-BR" b="1" dirty="0"/>
                  <a:t>não expandem</a:t>
                </a:r>
                <a:r>
                  <a:rPr lang="pt-BR" dirty="0"/>
                  <a:t> a complexidade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dentro deste </a:t>
                </a:r>
                <a:r>
                  <a:rPr lang="pt-BR" dirty="0" err="1"/>
                  <a:t>paper</a:t>
                </a:r>
                <a:r>
                  <a:rPr lang="pt-BR" dirty="0"/>
                  <a:t>. Em vez disso, dizem que as complexidades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são dadas nas referências </a:t>
                </a:r>
                <a:r>
                  <a:rPr lang="pt-BR" b="1" dirty="0"/>
                  <a:t>[7]</a:t>
                </a:r>
                <a:r>
                  <a:rPr lang="pt-BR" dirty="0"/>
                  <a:t> e </a:t>
                </a:r>
                <a:r>
                  <a:rPr lang="pt-BR" b="1" dirty="0"/>
                  <a:t>[4]</a:t>
                </a:r>
                <a:r>
                  <a:rPr lang="pt-BR" dirty="0"/>
                  <a:t>, respectivamente.</a:t>
                </a:r>
              </a:p>
            </p:txBody>
          </p:sp>
        </mc:Fallback>
      </mc:AlternateContent>
      <p:sp>
        <p:nvSpPr>
          <p:cNvPr id="4" name="Slide Number Placeholder 3">
            <a:extLst>
              <a:ext uri="{FF2B5EF4-FFF2-40B4-BE49-F238E27FC236}">
                <a16:creationId xmlns:a16="http://schemas.microsoft.com/office/drawing/2014/main" id="{499536CF-CC42-3D63-018A-311494F3122F}"/>
              </a:ext>
            </a:extLst>
          </p:cNvPr>
          <p:cNvSpPr>
            <a:spLocks noGrp="1"/>
          </p:cNvSpPr>
          <p:nvPr>
            <p:ph type="sldNum" sz="quarter" idx="5"/>
          </p:nvPr>
        </p:nvSpPr>
        <p:spPr/>
        <p:txBody>
          <a:bodyPr/>
          <a:lstStyle/>
          <a:p>
            <a:fld id="{6FC8D850-966F-45A6-8DE7-15B891E7D40D}" type="slidenum">
              <a:rPr lang="pt-BR" smtClean="0"/>
              <a:t>30</a:t>
            </a:fld>
            <a:endParaRPr lang="pt-BR"/>
          </a:p>
        </p:txBody>
      </p:sp>
    </p:spTree>
    <p:extLst>
      <p:ext uri="{BB962C8B-B14F-4D97-AF65-F5344CB8AC3E}">
        <p14:creationId xmlns:p14="http://schemas.microsoft.com/office/powerpoint/2010/main" val="38054620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DF5CB-0A55-727B-1C1E-6849D6D4E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114F7C-A825-4F14-9292-716B03CAFCDB}"/>
              </a:ext>
            </a:extLst>
          </p:cNvPr>
          <p:cNvSpPr>
            <a:spLocks noGrp="1" noRot="1" noChangeAspect="1"/>
          </p:cNvSpPr>
          <p:nvPr>
            <p:ph type="sldImg"/>
          </p:nvPr>
        </p:nvSpPr>
        <p:spPr/>
        <p:txBody>
          <a:bodyPr/>
          <a:lstStyle/>
          <a:p>
            <a:endParaRPr lang="pt-BR"/>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3DE653D-CDFA-038A-DA00-01BACB01396F}"/>
                  </a:ext>
                </a:extLst>
              </p:cNvPr>
              <p:cNvSpPr>
                <a:spLocks noGrp="1"/>
              </p:cNvSpPr>
              <p:nvPr>
                <p:ph type="body" idx="1"/>
              </p:nvPr>
            </p:nvSpPr>
            <p:spPr/>
            <p:txBody>
              <a:bodyPr/>
              <a:lstStyle/>
              <a:p>
                <a:endParaRPr lang="pt-BR" dirty="0"/>
              </a:p>
            </p:txBody>
          </p:sp>
        </mc:Choice>
        <mc:Fallback xmlns="">
          <p:sp>
            <p:nvSpPr>
              <p:cNvPr id="3" name="Notes Placeholder 2">
                <a:extLst>
                  <a:ext uri="{FF2B5EF4-FFF2-40B4-BE49-F238E27FC236}">
                    <a16:creationId xmlns:a16="http://schemas.microsoft.com/office/drawing/2014/main" id="{BC4A4DA6-AAD5-7B9F-C6CD-1BF515A984C5}"/>
                  </a:ext>
                </a:extLst>
              </p:cNvPr>
              <p:cNvSpPr>
                <a:spLocks noGrp="1"/>
              </p:cNvSpPr>
              <p:nvPr>
                <p:ph type="body" idx="1"/>
              </p:nvPr>
            </p:nvSpPr>
            <p:spPr/>
            <p:txBody>
              <a:bodyPr/>
              <a:lstStyle/>
              <a:p>
                <a:r>
                  <a:rPr lang="pt-BR" dirty="0"/>
                  <a:t>Este slide resume os quatro subproblemas usados na solução. A Seção III do </a:t>
                </a:r>
                <a:r>
                  <a:rPr lang="pt-BR" dirty="0" err="1"/>
                  <a:t>paper</a:t>
                </a:r>
                <a:r>
                  <a:rPr lang="pt-BR" dirty="0"/>
                  <a:t> é bem carregada de matemática, com vários lemas, reformulações e atualizações iterativas. Então, em vez de entrar em todas as equações, eu preferi traduzir a lógica prática do que cada bloco faz.</a:t>
                </a:r>
              </a:p>
              <a:p>
                <a:endParaRPr lang="pt-BR" dirty="0"/>
              </a:p>
              <a:p>
                <a:r>
                  <a:rPr lang="pt-BR" dirty="0"/>
                  <a:t>No primeiro subproblema, da frequência do servidor, a solução é relativamente simples. Como o problema é convexo, os autores conseguem obter uma solução fechada usando as condições </a:t>
                </a:r>
                <a:r>
                  <a:rPr lang="pt-BR" b="1" dirty="0"/>
                  <a:t>KKT</a:t>
                </a:r>
                <a:r>
                  <a:rPr lang="pt-BR" dirty="0"/>
                  <a:t>, que No primeiro subproblema, da frequência do servidor, a solução é relativamente simples. Como o problema é convexo, os autores conseguem obter uma solução fechada usando as condições KKT. Em termos práticos, isso quer dizer que eles não precisam iterar muito nem testar várias divisões possíveis de recurso. Eles já têm uma expressão direta que calcula quanto de processamento cada usuário deve receber com base na carga computacional associada a ele. Um exemplo simples seria este: imagine que o servidor tem 100 unidades de processamento para distribuir entre 3 usuários. O método não divide isso igualmente. Ele calcula uma divisão mais inteligente, dando mais recurso para quem tem tarefa mais pesada. Por isso, esse bloco é barato e tem complexidade linear no número de usuários</a:t>
                </a:r>
              </a:p>
              <a:p>
                <a:endParaRPr lang="pt-BR" dirty="0"/>
              </a:p>
              <a:p>
                <a:endParaRPr lang="pt-BR" dirty="0"/>
              </a:p>
              <a:p>
                <a:r>
                  <a:rPr lang="pt-BR" dirty="0"/>
                  <a:t>No segundo subproblema, da quantização, a lógica é a seguinte. O problema original é discreto, porque os bits permitidos são só 4, 8, 16 ou 32. Resolver isso diretamente seria mais difícil. Então eles fazem primeiro uma </a:t>
                </a:r>
                <a:r>
                  <a:rPr lang="pt-BR" b="1" dirty="0"/>
                  <a:t>relaxação contínua</a:t>
                </a:r>
                <a:r>
                  <a:rPr lang="pt-BR" dirty="0"/>
                  <a:t>, isto é, fingem temporariamente que o número de bits pode assumir qualquer valor real positivo. Depois disso, analisam a função do subproblema e mostram que ela é estritamente convexa. Isso é importante porque significa que existe um único ponto ótimo contínuo. A partir daí, eles derivam a condição de ótimo desse problema relaxado e obtêm diretamente o valor contínuo ótimo de </a:t>
                </a:r>
                <a:r>
                  <a:rPr lang="ar-AE" sz="1200" i="0" kern="1200">
                    <a:solidFill>
                      <a:schemeClr val="tx1"/>
                    </a:solidFill>
                    <a:latin typeface="+mn-lt"/>
                    <a:ea typeface="+mn-ea"/>
                    <a:cs typeface="+mn-cs"/>
                  </a:rPr>
                  <a:t>𝑞_𝑢</a:t>
                </a:r>
                <a:r>
                  <a:rPr lang="pt-BR" dirty="0"/>
                  <a:t>para cada usuário. Em seguida, como esse valor contínuo não é necessariamente permitido na prática, eles fazem uma </a:t>
                </a:r>
                <a:r>
                  <a:rPr lang="pt-BR" b="1" dirty="0"/>
                  <a:t>projeção para o conjunto discreto viável</a:t>
                </a:r>
                <a:r>
                  <a:rPr lang="pt-BR" dirty="0"/>
                  <a:t>, escolhendo o valor mais próximo entre 4, 8, 16 e 32. Um exemplo simples seria este: suponha que o valor ótimo contínuo calculado fosse 15.5 bits. Como esse valor não é permitido, eles projetam para o conjunto viável e escolhem o mais próximo: 16.</a:t>
                </a:r>
              </a:p>
              <a:p>
                <a:endParaRPr lang="pt-BR" dirty="0"/>
              </a:p>
              <a:p>
                <a:r>
                  <a:rPr lang="pt-BR" dirty="0"/>
                  <a:t>No terceiro subproblema, do </a:t>
                </a:r>
                <a:r>
                  <a:rPr lang="pt-BR" dirty="0" err="1"/>
                  <a:t>beamforming</a:t>
                </a:r>
                <a:r>
                  <a:rPr lang="pt-BR" dirty="0"/>
                  <a:t>, a dificuldade aumenta bastante. Aqui eles usam RADMM, que é uma forma de resolver o problema separando a variável em partes auxiliares e atualizando essas partes de maneira alternada. Em termos simples, o algoritmo faz o seguinte: primeiro ele atualiza uma versão do </a:t>
                </a:r>
                <a:r>
                  <a:rPr lang="pt-BR" dirty="0" err="1"/>
                  <a:t>beamforming</a:t>
                </a:r>
                <a:r>
                  <a:rPr lang="pt-BR" dirty="0"/>
                  <a:t> tentando melhorar a taxa </a:t>
                </a:r>
                <a:r>
                  <a:rPr lang="pt-BR" dirty="0" err="1"/>
                  <a:t>uplink</a:t>
                </a:r>
                <a:r>
                  <a:rPr lang="pt-BR" dirty="0"/>
                  <a:t>. Depois ele corrige essa solução para que ela continue respeitando a restrição geométrica de norma unitária. Em seguida, ele atualiza um termo auxiliar que força consistência entre essas duas representações. Então, na prática, esse subproblema roda como um pequeno laço interno com três etapas repetidas: melhorar a solução, projetar ou ajustar para o conjunto válido, e corrigir o acoplamento entre as variáveis auxiliares. Um exemplo intuitivo seria: imagine que a BS tenta ajustar o filtro de recepção para separar melhor dois usuários, mas toda vez que faz isso precisa garantir que esse filtro continue dentro da estrutura geométrica exigida. Então o algoritmo alterna entre melhorar o desempenho e reimpor a validade da solução. É por isso que esse é um dos blocos mais caros do algoritmo.</a:t>
                </a:r>
              </a:p>
              <a:p>
                <a:endParaRPr lang="pt-BR" dirty="0"/>
              </a:p>
              <a:p>
                <a:r>
                  <a:rPr lang="pt-BR" dirty="0"/>
                  <a:t>No quarto subproblema, das </a:t>
                </a:r>
                <a:r>
                  <a:rPr lang="pt-BR" dirty="0" err="1"/>
                  <a:t>fluid</a:t>
                </a:r>
                <a:r>
                  <a:rPr lang="pt-BR" dirty="0"/>
                  <a:t> </a:t>
                </a:r>
                <a:r>
                  <a:rPr lang="pt-BR" dirty="0" err="1"/>
                  <a:t>antennas</a:t>
                </a:r>
                <a:r>
                  <a:rPr lang="pt-BR" dirty="0"/>
                  <a:t>, eles também evitam uma solução conjunta completa. Em vez de tentar mover todas as antenas ao mesmo tempo, o algoritmo faz uma atualização </a:t>
                </a:r>
                <a:r>
                  <a:rPr lang="pt-BR" b="1" dirty="0"/>
                  <a:t>sequencial</a:t>
                </a:r>
                <a:r>
                  <a:rPr lang="pt-BR" dirty="0"/>
                  <a:t>. Ele escolhe uma antena, otimiza a posição dela mantendo as demais fixas, depois passa para a próxima, e assim por diante. Cada atualização leva em conta duas restrições físicas: a antena precisa permanecer dentro da área do painel e não pode ficar perto demais das outras. Então, em termos práticos, esse bloco funciona como uma varredura antena por antena. </a:t>
                </a:r>
              </a:p>
              <a:p>
                <a:endParaRPr lang="pt-BR" dirty="0"/>
              </a:p>
              <a:p>
                <a:r>
                  <a:rPr lang="pt-BR" dirty="0"/>
                  <a:t>Então, resumindo a complexidade, P1 e P2 são leves, porque têm solução direta ou quase direta. Já P3 e P4 concentram o custo real do algoritmo, porque envolvem iterações internas e restrições geométricas mais difíceis. E, como tudo roda em sequência dentro do BCD, o resultado atualizado de um bloco influencia o comportamento do próximo.</a:t>
                </a:r>
              </a:p>
              <a:p>
                <a:endParaRPr lang="pt-BR" dirty="0"/>
              </a:p>
              <a:p>
                <a:endParaRPr lang="pt-BR" dirty="0"/>
              </a:p>
              <a:p>
                <a:r>
                  <a:rPr lang="pt-BR" dirty="0"/>
                  <a:t>Os autores só dão explicitamente a complexidade de </a:t>
                </a:r>
                <a:r>
                  <a:rPr lang="pt-BR" b="1" dirty="0"/>
                  <a:t>dois</a:t>
                </a:r>
                <a:r>
                  <a:rPr lang="pt-BR" dirty="0"/>
                  <a:t> subproblemas. Eles afirmam que a complexidade de </a:t>
                </a:r>
                <a:r>
                  <a:rPr lang="pt-BR" sz="1200" i="0" kern="1200">
                    <a:solidFill>
                      <a:schemeClr val="tx1"/>
                    </a:solidFill>
                    <a:latin typeface="+mn-lt"/>
                    <a:ea typeface="+mn-ea"/>
                    <a:cs typeface="+mn-cs"/>
                  </a:rPr>
                  <a:t>𝑃1</a:t>
                </a:r>
                <a:r>
                  <a:rPr lang="pt-BR" dirty="0"/>
                  <a:t>e </a:t>
                </a:r>
                <a:r>
                  <a:rPr lang="pt-BR" sz="1200" i="0" kern="1200">
                    <a:solidFill>
                      <a:schemeClr val="tx1"/>
                    </a:solidFill>
                    <a:latin typeface="+mn-lt"/>
                    <a:ea typeface="+mn-ea"/>
                    <a:cs typeface="+mn-cs"/>
                  </a:rPr>
                  <a:t>𝑃2</a:t>
                </a:r>
                <a:r>
                  <a:rPr lang="pt-BR" dirty="0"/>
                  <a:t>é </a:t>
                </a:r>
                <a:r>
                  <a:rPr lang="pt-BR" sz="1200" i="0" kern="1200">
                    <a:solidFill>
                      <a:schemeClr val="tx1"/>
                    </a:solidFill>
                    <a:latin typeface="+mn-lt"/>
                    <a:ea typeface="+mn-ea"/>
                    <a:cs typeface="+mn-cs"/>
                  </a:rPr>
                  <a:t>𝑂</a:t>
                </a:r>
                <a:r>
                  <a:rPr lang="ar-AE" sz="1200" i="0" kern="1200">
                    <a:solidFill>
                      <a:schemeClr val="tx1"/>
                    </a:solidFill>
                    <a:latin typeface="+mn-lt"/>
                    <a:ea typeface="+mn-ea"/>
                    <a:cs typeface="+mn-cs"/>
                  </a:rPr>
                  <a:t>(𝑈)</a:t>
                </a:r>
                <a:r>
                  <a:rPr lang="ar-AE" dirty="0"/>
                  <a:t>, </a:t>
                </a:r>
                <a:r>
                  <a:rPr lang="pt-BR" dirty="0"/>
                  <a:t>isto é, linear no número de usuários. Depois disso, eles </a:t>
                </a:r>
                <a:r>
                  <a:rPr lang="pt-BR" b="1" dirty="0"/>
                  <a:t>não expandem</a:t>
                </a:r>
                <a:r>
                  <a:rPr lang="pt-BR" dirty="0"/>
                  <a:t> a complexidade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dentro deste </a:t>
                </a:r>
                <a:r>
                  <a:rPr lang="pt-BR" dirty="0" err="1"/>
                  <a:t>paper</a:t>
                </a:r>
                <a:r>
                  <a:rPr lang="pt-BR" dirty="0"/>
                  <a:t>. Em vez disso, dizem que as complexidades de </a:t>
                </a:r>
                <a:r>
                  <a:rPr lang="pt-BR" sz="1200" i="0" kern="1200">
                    <a:solidFill>
                      <a:schemeClr val="tx1"/>
                    </a:solidFill>
                    <a:latin typeface="+mn-lt"/>
                    <a:ea typeface="+mn-ea"/>
                    <a:cs typeface="+mn-cs"/>
                  </a:rPr>
                  <a:t>𝑃3</a:t>
                </a:r>
                <a:r>
                  <a:rPr lang="pt-BR" dirty="0"/>
                  <a:t>e </a:t>
                </a:r>
                <a:r>
                  <a:rPr lang="pt-BR" sz="1200" i="0" kern="1200">
                    <a:solidFill>
                      <a:schemeClr val="tx1"/>
                    </a:solidFill>
                    <a:latin typeface="+mn-lt"/>
                    <a:ea typeface="+mn-ea"/>
                    <a:cs typeface="+mn-cs"/>
                  </a:rPr>
                  <a:t>𝑃4</a:t>
                </a:r>
                <a:r>
                  <a:rPr lang="pt-BR" dirty="0"/>
                  <a:t>são dadas nas referências </a:t>
                </a:r>
                <a:r>
                  <a:rPr lang="pt-BR" b="1" dirty="0"/>
                  <a:t>[7]</a:t>
                </a:r>
                <a:r>
                  <a:rPr lang="pt-BR" dirty="0"/>
                  <a:t> e </a:t>
                </a:r>
                <a:r>
                  <a:rPr lang="pt-BR" b="1" dirty="0"/>
                  <a:t>[4]</a:t>
                </a:r>
                <a:r>
                  <a:rPr lang="pt-BR" dirty="0"/>
                  <a:t>, respectivamente.</a:t>
                </a:r>
              </a:p>
            </p:txBody>
          </p:sp>
        </mc:Fallback>
      </mc:AlternateContent>
      <p:sp>
        <p:nvSpPr>
          <p:cNvPr id="4" name="Slide Number Placeholder 3">
            <a:extLst>
              <a:ext uri="{FF2B5EF4-FFF2-40B4-BE49-F238E27FC236}">
                <a16:creationId xmlns:a16="http://schemas.microsoft.com/office/drawing/2014/main" id="{CA5E9F0B-247F-AA59-1ED7-ACBB09A946E2}"/>
              </a:ext>
            </a:extLst>
          </p:cNvPr>
          <p:cNvSpPr>
            <a:spLocks noGrp="1"/>
          </p:cNvSpPr>
          <p:nvPr>
            <p:ph type="sldNum" sz="quarter" idx="5"/>
          </p:nvPr>
        </p:nvSpPr>
        <p:spPr/>
        <p:txBody>
          <a:bodyPr/>
          <a:lstStyle/>
          <a:p>
            <a:fld id="{6FC8D850-966F-45A6-8DE7-15B891E7D40D}" type="slidenum">
              <a:rPr lang="pt-BR" smtClean="0"/>
              <a:t>31</a:t>
            </a:fld>
            <a:endParaRPr lang="pt-BR"/>
          </a:p>
        </p:txBody>
      </p:sp>
    </p:spTree>
    <p:extLst>
      <p:ext uri="{BB962C8B-B14F-4D97-AF65-F5344CB8AC3E}">
        <p14:creationId xmlns:p14="http://schemas.microsoft.com/office/powerpoint/2010/main" val="7315859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fld id="{6FC8D850-966F-45A6-8DE7-15B891E7D40D}" type="slidenum">
              <a:rPr lang="pt-BR" smtClean="0"/>
              <a:t>33</a:t>
            </a:fld>
            <a:endParaRPr lang="pt-BR"/>
          </a:p>
        </p:txBody>
      </p:sp>
    </p:spTree>
    <p:extLst>
      <p:ext uri="{BB962C8B-B14F-4D97-AF65-F5344CB8AC3E}">
        <p14:creationId xmlns:p14="http://schemas.microsoft.com/office/powerpoint/2010/main" val="13419382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6FC8D850-966F-45A6-8DE7-15B891E7D40D}" type="slidenum">
              <a:rPr lang="pt-BR" smtClean="0"/>
              <a:t>36</a:t>
            </a:fld>
            <a:endParaRPr lang="pt-BR"/>
          </a:p>
        </p:txBody>
      </p:sp>
    </p:spTree>
    <p:extLst>
      <p:ext uri="{BB962C8B-B14F-4D97-AF65-F5344CB8AC3E}">
        <p14:creationId xmlns:p14="http://schemas.microsoft.com/office/powerpoint/2010/main" val="1115625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B9B4FF-B06E-403C-A326-BDC64D8FF9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47BDFCE-746E-45BF-A319-4733D58D1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EDE2778-5372-4104-B96D-968184DA8288}"/>
              </a:ext>
            </a:extLst>
          </p:cNvPr>
          <p:cNvSpPr>
            <a:spLocks noGrp="1"/>
          </p:cNvSpPr>
          <p:nvPr>
            <p:ph type="dt" sz="half" idx="10"/>
          </p:nvPr>
        </p:nvSpPr>
        <p:spPr/>
        <p:txBody>
          <a:bodyPr/>
          <a:lstStyle/>
          <a:p>
            <a:fld id="{708DD511-5376-4C60-A4B1-F569E747FD97}" type="datetime1">
              <a:rPr lang="pt-BR" smtClean="0"/>
              <a:t>04/05/2026</a:t>
            </a:fld>
            <a:endParaRPr lang="pt-BR"/>
          </a:p>
        </p:txBody>
      </p:sp>
      <p:sp>
        <p:nvSpPr>
          <p:cNvPr id="5" name="Espaço Reservado para Rodapé 4">
            <a:extLst>
              <a:ext uri="{FF2B5EF4-FFF2-40B4-BE49-F238E27FC236}">
                <a16:creationId xmlns:a16="http://schemas.microsoft.com/office/drawing/2014/main" id="{C1DD0F41-C861-4051-988D-3024A37A4B9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7E5967E-D980-431A-A5DB-3F0C5030A81E}"/>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64975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D44A5-8F21-4626-A01D-48A1C874B1D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B79E8085-65A9-48AA-951D-71D978BFF4ED}"/>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05BE1AF-51EA-425D-B188-DE7BD675009F}"/>
              </a:ext>
            </a:extLst>
          </p:cNvPr>
          <p:cNvSpPr>
            <a:spLocks noGrp="1"/>
          </p:cNvSpPr>
          <p:nvPr>
            <p:ph type="dt" sz="half" idx="10"/>
          </p:nvPr>
        </p:nvSpPr>
        <p:spPr/>
        <p:txBody>
          <a:bodyPr/>
          <a:lstStyle/>
          <a:p>
            <a:fld id="{4EED664D-11F8-4898-96DA-EB20BD65F243}" type="datetime1">
              <a:rPr lang="pt-BR" smtClean="0"/>
              <a:t>04/05/2026</a:t>
            </a:fld>
            <a:endParaRPr lang="pt-BR"/>
          </a:p>
        </p:txBody>
      </p:sp>
      <p:sp>
        <p:nvSpPr>
          <p:cNvPr id="5" name="Espaço Reservado para Rodapé 4">
            <a:extLst>
              <a:ext uri="{FF2B5EF4-FFF2-40B4-BE49-F238E27FC236}">
                <a16:creationId xmlns:a16="http://schemas.microsoft.com/office/drawing/2014/main" id="{121BE632-29CF-4CB9-B365-C9EF38F89BE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0CF3DD1-9AEC-4A57-B461-4E4DD86FAC1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687907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AB2FF0-A4D7-4E28-991D-FF26140D5988}"/>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E2AC45B0-4145-40DB-8E61-1054611706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50F1D3FB-740A-4EBA-A309-2CE71D12ECFB}"/>
              </a:ext>
            </a:extLst>
          </p:cNvPr>
          <p:cNvSpPr>
            <a:spLocks noGrp="1"/>
          </p:cNvSpPr>
          <p:nvPr>
            <p:ph type="dt" sz="half" idx="10"/>
          </p:nvPr>
        </p:nvSpPr>
        <p:spPr/>
        <p:txBody>
          <a:bodyPr/>
          <a:lstStyle/>
          <a:p>
            <a:fld id="{EEA9C168-D1FE-4349-9608-4E60F81C1DBC}" type="datetime1">
              <a:rPr lang="pt-BR" smtClean="0"/>
              <a:t>04/05/2026</a:t>
            </a:fld>
            <a:endParaRPr lang="pt-BR"/>
          </a:p>
        </p:txBody>
      </p:sp>
      <p:sp>
        <p:nvSpPr>
          <p:cNvPr id="5" name="Espaço Reservado para Rodapé 4">
            <a:extLst>
              <a:ext uri="{FF2B5EF4-FFF2-40B4-BE49-F238E27FC236}">
                <a16:creationId xmlns:a16="http://schemas.microsoft.com/office/drawing/2014/main" id="{BDCAB18F-8715-4465-A940-F9C193A2AC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53466C6-8248-429F-8056-FF040BF509EB}"/>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46522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BB9F0-F14B-4A91-B2B7-35BC47FE4DE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C1FC1C4-73DA-47A6-8496-B0B457F7D39A}"/>
              </a:ext>
            </a:extLst>
          </p:cNvPr>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E92F06A8-A449-4D92-9912-76873E529B38}"/>
              </a:ext>
            </a:extLst>
          </p:cNvPr>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938070A4-BC2F-4D55-BD8D-DEAF11BB9EE9}"/>
              </a:ext>
            </a:extLst>
          </p:cNvPr>
          <p:cNvSpPr>
            <a:spLocks noGrp="1"/>
          </p:cNvSpPr>
          <p:nvPr>
            <p:ph type="dt" sz="half" idx="10"/>
          </p:nvPr>
        </p:nvSpPr>
        <p:spPr/>
        <p:txBody>
          <a:bodyPr/>
          <a:lstStyle/>
          <a:p>
            <a:fld id="{29DD712D-DF33-4608-A1B2-F7B150BFFB9C}" type="datetime1">
              <a:rPr lang="pt-BR" smtClean="0"/>
              <a:t>04/05/2026</a:t>
            </a:fld>
            <a:endParaRPr lang="pt-BR"/>
          </a:p>
        </p:txBody>
      </p:sp>
      <p:sp>
        <p:nvSpPr>
          <p:cNvPr id="6" name="Espaço Reservado para Rodapé 5">
            <a:extLst>
              <a:ext uri="{FF2B5EF4-FFF2-40B4-BE49-F238E27FC236}">
                <a16:creationId xmlns:a16="http://schemas.microsoft.com/office/drawing/2014/main" id="{45CC2DB8-844A-465F-BA9A-7734C80C7F4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CC606A8-097B-4040-94E0-CD8C88280D8F}"/>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89854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D66686-0143-4CB6-8C09-BA326F1E7ACA}"/>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0227AB85-F59E-4BCE-B846-4FA0992C2F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3373456C-7319-4D0A-827D-D29F6B083F5D}"/>
              </a:ext>
            </a:extLst>
          </p:cNvPr>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4CD109D0-2E83-4262-8029-A871CEC47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AD706E3A-CFBB-4A6C-A65F-D0360A9E74FE}"/>
              </a:ext>
            </a:extLst>
          </p:cNvPr>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4172C0E5-5AF0-4805-BB51-443733CD2BD5}"/>
              </a:ext>
            </a:extLst>
          </p:cNvPr>
          <p:cNvSpPr>
            <a:spLocks noGrp="1"/>
          </p:cNvSpPr>
          <p:nvPr>
            <p:ph type="dt" sz="half" idx="10"/>
          </p:nvPr>
        </p:nvSpPr>
        <p:spPr/>
        <p:txBody>
          <a:bodyPr/>
          <a:lstStyle/>
          <a:p>
            <a:fld id="{F5ED21D9-36F9-4F50-8DEF-B52348D6B44D}" type="datetime1">
              <a:rPr lang="pt-BR" smtClean="0"/>
              <a:t>04/05/2026</a:t>
            </a:fld>
            <a:endParaRPr lang="pt-BR"/>
          </a:p>
        </p:txBody>
      </p:sp>
      <p:sp>
        <p:nvSpPr>
          <p:cNvPr id="8" name="Espaço Reservado para Rodapé 7">
            <a:extLst>
              <a:ext uri="{FF2B5EF4-FFF2-40B4-BE49-F238E27FC236}">
                <a16:creationId xmlns:a16="http://schemas.microsoft.com/office/drawing/2014/main" id="{0E801648-156F-497E-99CF-797DF48051E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EEE23D32-80E7-4796-A137-66BF842E4B53}"/>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72245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CE2379-C78F-47E1-8CFC-B846E7AF148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42600A9-7F92-4E22-9D94-E4717252A817}"/>
              </a:ext>
            </a:extLst>
          </p:cNvPr>
          <p:cNvSpPr>
            <a:spLocks noGrp="1"/>
          </p:cNvSpPr>
          <p:nvPr>
            <p:ph type="dt" sz="half" idx="10"/>
          </p:nvPr>
        </p:nvSpPr>
        <p:spPr/>
        <p:txBody>
          <a:bodyPr/>
          <a:lstStyle/>
          <a:p>
            <a:fld id="{811B2EBB-C4EA-4652-BDE1-A6C50C0B8D25}" type="datetime1">
              <a:rPr lang="pt-BR" smtClean="0"/>
              <a:t>04/05/2026</a:t>
            </a:fld>
            <a:endParaRPr lang="pt-BR"/>
          </a:p>
        </p:txBody>
      </p:sp>
      <p:sp>
        <p:nvSpPr>
          <p:cNvPr id="4" name="Espaço Reservado para Rodapé 3">
            <a:extLst>
              <a:ext uri="{FF2B5EF4-FFF2-40B4-BE49-F238E27FC236}">
                <a16:creationId xmlns:a16="http://schemas.microsoft.com/office/drawing/2014/main" id="{192E6BED-F546-40CC-A2DF-99CBA853654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6091CC40-A8C4-4063-80EB-CC509962167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244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D19515C-212C-4EAE-84A3-8FF4BC844F1B}"/>
              </a:ext>
            </a:extLst>
          </p:cNvPr>
          <p:cNvSpPr>
            <a:spLocks noGrp="1"/>
          </p:cNvSpPr>
          <p:nvPr>
            <p:ph type="dt" sz="half" idx="10"/>
          </p:nvPr>
        </p:nvSpPr>
        <p:spPr/>
        <p:txBody>
          <a:bodyPr/>
          <a:lstStyle/>
          <a:p>
            <a:fld id="{664E892E-BA3D-456C-B0A6-9CC49D6F9DBA}" type="datetime1">
              <a:rPr lang="pt-BR" smtClean="0"/>
              <a:t>04/05/2026</a:t>
            </a:fld>
            <a:endParaRPr lang="pt-BR"/>
          </a:p>
        </p:txBody>
      </p:sp>
      <p:sp>
        <p:nvSpPr>
          <p:cNvPr id="3" name="Espaço Reservado para Rodapé 2">
            <a:extLst>
              <a:ext uri="{FF2B5EF4-FFF2-40B4-BE49-F238E27FC236}">
                <a16:creationId xmlns:a16="http://schemas.microsoft.com/office/drawing/2014/main" id="{94D3D120-B3E8-4C96-861D-7A4F12F49B3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42E49B68-FA1B-468B-9F17-D5C09243D454}"/>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181232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17BCBE-A897-4319-85EC-D87909C2498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4226F885-0204-4913-868B-4B8B82576F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00F9F784-A858-441B-8AB5-697098141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A4DC363A-5000-472E-8B17-02E7DCB8840A}"/>
              </a:ext>
            </a:extLst>
          </p:cNvPr>
          <p:cNvSpPr>
            <a:spLocks noGrp="1"/>
          </p:cNvSpPr>
          <p:nvPr>
            <p:ph type="dt" sz="half" idx="10"/>
          </p:nvPr>
        </p:nvSpPr>
        <p:spPr/>
        <p:txBody>
          <a:bodyPr/>
          <a:lstStyle/>
          <a:p>
            <a:fld id="{05E0994A-F2E2-4207-9BF3-B388014DC8A9}" type="datetime1">
              <a:rPr lang="pt-BR" smtClean="0"/>
              <a:t>04/05/2026</a:t>
            </a:fld>
            <a:endParaRPr lang="pt-BR"/>
          </a:p>
        </p:txBody>
      </p:sp>
      <p:sp>
        <p:nvSpPr>
          <p:cNvPr id="6" name="Espaço Reservado para Rodapé 5">
            <a:extLst>
              <a:ext uri="{FF2B5EF4-FFF2-40B4-BE49-F238E27FC236}">
                <a16:creationId xmlns:a16="http://schemas.microsoft.com/office/drawing/2014/main" id="{5548425D-2C21-4C56-BAD4-662978775C2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63E9726-E64C-42B2-AE8A-8C235A956B4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588610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086A78-3E74-450C-96A6-CA8AC37AF77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5F5B7312-975A-4DBC-9B2F-3652ADA00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AAF805F5-1DFF-41C6-944C-7D79FE0D0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02113D81-8665-4516-BD81-C6A1F254EECD}"/>
              </a:ext>
            </a:extLst>
          </p:cNvPr>
          <p:cNvSpPr>
            <a:spLocks noGrp="1"/>
          </p:cNvSpPr>
          <p:nvPr>
            <p:ph type="dt" sz="half" idx="10"/>
          </p:nvPr>
        </p:nvSpPr>
        <p:spPr/>
        <p:txBody>
          <a:bodyPr/>
          <a:lstStyle/>
          <a:p>
            <a:fld id="{0A95E1C0-EB12-4A55-94DB-C3DACCDE6605}" type="datetime1">
              <a:rPr lang="pt-BR" smtClean="0"/>
              <a:t>04/05/2026</a:t>
            </a:fld>
            <a:endParaRPr lang="pt-BR"/>
          </a:p>
        </p:txBody>
      </p:sp>
      <p:sp>
        <p:nvSpPr>
          <p:cNvPr id="6" name="Espaço Reservado para Rodapé 5">
            <a:extLst>
              <a:ext uri="{FF2B5EF4-FFF2-40B4-BE49-F238E27FC236}">
                <a16:creationId xmlns:a16="http://schemas.microsoft.com/office/drawing/2014/main" id="{2B00C88B-FF32-40AA-A187-727D96FD786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04D1A2D-69F7-4B8F-A730-BC26DC340BA6}"/>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03464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36C49F-3E68-4175-81BA-3C3FEE44308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426FA736-3DD3-4D4E-B57B-BBE1D8F7D424}"/>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9E8855C-D8FD-48F6-B14E-861E0DE4D915}"/>
              </a:ext>
            </a:extLst>
          </p:cNvPr>
          <p:cNvSpPr>
            <a:spLocks noGrp="1"/>
          </p:cNvSpPr>
          <p:nvPr>
            <p:ph type="dt" sz="half" idx="10"/>
          </p:nvPr>
        </p:nvSpPr>
        <p:spPr/>
        <p:txBody>
          <a:bodyPr/>
          <a:lstStyle/>
          <a:p>
            <a:fld id="{EC578684-DE8A-46BB-A7AC-270F275806FB}" type="datetime1">
              <a:rPr lang="pt-BR" smtClean="0"/>
              <a:t>04/05/2026</a:t>
            </a:fld>
            <a:endParaRPr lang="pt-BR"/>
          </a:p>
        </p:txBody>
      </p:sp>
      <p:sp>
        <p:nvSpPr>
          <p:cNvPr id="5" name="Espaço Reservado para Rodapé 4">
            <a:extLst>
              <a:ext uri="{FF2B5EF4-FFF2-40B4-BE49-F238E27FC236}">
                <a16:creationId xmlns:a16="http://schemas.microsoft.com/office/drawing/2014/main" id="{97C0BB88-2F21-42A5-ACFF-83DA47F2D34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CB462B3-1F22-4C05-B4B8-7A279FB7D5E9}"/>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553481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AEAB728-701C-4207-A9D5-23FF45C6050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BA8C8CCF-7823-480A-9A19-0F664DD17E3B}"/>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21D5734-7B1F-425D-942F-6EB73344027C}"/>
              </a:ext>
            </a:extLst>
          </p:cNvPr>
          <p:cNvSpPr>
            <a:spLocks noGrp="1"/>
          </p:cNvSpPr>
          <p:nvPr>
            <p:ph type="dt" sz="half" idx="10"/>
          </p:nvPr>
        </p:nvSpPr>
        <p:spPr/>
        <p:txBody>
          <a:bodyPr/>
          <a:lstStyle/>
          <a:p>
            <a:fld id="{CEBE5343-9554-44F5-B62D-898A9211AAD4}" type="datetime1">
              <a:rPr lang="pt-BR" smtClean="0"/>
              <a:t>04/05/2026</a:t>
            </a:fld>
            <a:endParaRPr lang="pt-BR"/>
          </a:p>
        </p:txBody>
      </p:sp>
      <p:sp>
        <p:nvSpPr>
          <p:cNvPr id="5" name="Espaço Reservado para Rodapé 4">
            <a:extLst>
              <a:ext uri="{FF2B5EF4-FFF2-40B4-BE49-F238E27FC236}">
                <a16:creationId xmlns:a16="http://schemas.microsoft.com/office/drawing/2014/main" id="{1E1AAEAC-F08D-45FE-89EC-B1B349A868C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AA44493-9911-47B2-87A6-C2141A972BC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1824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E69A0273-1966-4A1B-9370-4C1CE5036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3B9CF87A-0448-49A7-AB25-EBC1D56A4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EF7B1F2-BB5A-44D0-816D-16AD2C7143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0E027-05FF-4DD2-96BD-C645F6FDFE4A}" type="datetime1">
              <a:rPr lang="pt-BR" smtClean="0"/>
              <a:t>04/05/2026</a:t>
            </a:fld>
            <a:endParaRPr lang="pt-BR"/>
          </a:p>
        </p:txBody>
      </p:sp>
      <p:sp>
        <p:nvSpPr>
          <p:cNvPr id="5" name="Espaço Reservado para Rodapé 4">
            <a:extLst>
              <a:ext uri="{FF2B5EF4-FFF2-40B4-BE49-F238E27FC236}">
                <a16:creationId xmlns:a16="http://schemas.microsoft.com/office/drawing/2014/main" id="{C703F94C-2CC8-4DAA-BC35-14FC3E841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64051336-7048-457A-8B61-D94291D71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7E88B7-70CE-4035-AE73-13FA6FB985D4}" type="slidenum">
              <a:rPr lang="pt-BR" smtClean="0"/>
              <a:t>‹#›</a:t>
            </a:fld>
            <a:endParaRPr lang="pt-BR"/>
          </a:p>
        </p:txBody>
      </p:sp>
    </p:spTree>
    <p:extLst>
      <p:ext uri="{BB962C8B-B14F-4D97-AF65-F5344CB8AC3E}">
        <p14:creationId xmlns:p14="http://schemas.microsoft.com/office/powerpoint/2010/main" val="2836292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forms.gle/BVNU8KLtxvJSaC5V9"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666AC8-2E17-4DB4-B0F5-60C640CCFD2E}"/>
              </a:ext>
            </a:extLst>
          </p:cNvPr>
          <p:cNvSpPr>
            <a:spLocks noGrp="1"/>
          </p:cNvSpPr>
          <p:nvPr>
            <p:ph type="ctrTitle"/>
          </p:nvPr>
        </p:nvSpPr>
        <p:spPr>
          <a:xfrm>
            <a:off x="393306" y="1425288"/>
            <a:ext cx="11526840" cy="2690156"/>
          </a:xfrm>
        </p:spPr>
        <p:txBody>
          <a:bodyPr>
            <a:normAutofit fontScale="90000"/>
          </a:bodyPr>
          <a:lstStyle/>
          <a:p>
            <a:r>
              <a:rPr lang="en-US" sz="5400" noProof="1"/>
              <a:t>TP558 - Tópicos avançados em Machine Learning:</a:t>
            </a:r>
            <a:br>
              <a:rPr lang="en-US" noProof="1"/>
            </a:br>
            <a:r>
              <a:rPr lang="en-US" sz="4400" b="1" i="1" noProof="1"/>
              <a:t>DIY Your EasyNAS for Vision: Convolution Operation Merging, Map Channel Reducing, and Search Space to Supernet Conversion Tooling</a:t>
            </a:r>
            <a:br>
              <a:rPr lang="en-US" sz="4400" b="1" i="1" noProof="1"/>
            </a:br>
            <a:r>
              <a:rPr lang="en-US" sz="2700" b="1" i="1" noProof="1"/>
              <a:t>IEEE TRANSACTIONS ON PATTERN ANALYSIS AND MACHINE INTELLIGENCE 2023</a:t>
            </a:r>
            <a:endParaRPr lang="en-US" b="1" i="1" noProof="1"/>
          </a:p>
        </p:txBody>
      </p:sp>
      <p:sp>
        <p:nvSpPr>
          <p:cNvPr id="4" name="CaixaDeTexto 3">
            <a:extLst>
              <a:ext uri="{FF2B5EF4-FFF2-40B4-BE49-F238E27FC236}">
                <a16:creationId xmlns:a16="http://schemas.microsoft.com/office/drawing/2014/main" id="{430EB894-B7D4-434C-9D1A-A14094D9BEEC}"/>
              </a:ext>
            </a:extLst>
          </p:cNvPr>
          <p:cNvSpPr txBox="1"/>
          <p:nvPr/>
        </p:nvSpPr>
        <p:spPr>
          <a:xfrm>
            <a:off x="7915801" y="5780602"/>
            <a:ext cx="4004345" cy="677108"/>
          </a:xfrm>
          <a:prstGeom prst="rect">
            <a:avLst/>
          </a:prstGeom>
          <a:noFill/>
        </p:spPr>
        <p:txBody>
          <a:bodyPr wrap="square" rtlCol="0">
            <a:spAutoFit/>
          </a:bodyPr>
          <a:lstStyle/>
          <a:p>
            <a:r>
              <a:rPr lang="en-US" sz="2000" noProof="1"/>
              <a:t>Matheus Ferreira Silva</a:t>
            </a:r>
          </a:p>
          <a:p>
            <a:r>
              <a:rPr lang="en-US" noProof="1"/>
              <a:t>matheus.f@inatel.br</a:t>
            </a:r>
          </a:p>
        </p:txBody>
      </p:sp>
      <p:pic>
        <p:nvPicPr>
          <p:cNvPr id="1026" name="Picture 2" descr="Logo">
            <a:extLst>
              <a:ext uri="{FF2B5EF4-FFF2-40B4-BE49-F238E27FC236}">
                <a16:creationId xmlns:a16="http://schemas.microsoft.com/office/drawing/2014/main" id="{3F2642E0-4F6A-4196-8F58-E77D36E9A33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759" b="28872"/>
          <a:stretch/>
        </p:blipFill>
        <p:spPr bwMode="auto">
          <a:xfrm>
            <a:off x="393306" y="5780602"/>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id="{810CE0A2-4102-44A6-A370-175E7896CDC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193" t="8107" r="14530" b="5794"/>
          <a:stretch/>
        </p:blipFill>
        <p:spPr bwMode="auto">
          <a:xfrm>
            <a:off x="4965305" y="4220649"/>
            <a:ext cx="2261389" cy="223706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9C1A7F08-FA7B-B342-833B-AAF9C399C6F2}"/>
              </a:ext>
            </a:extLst>
          </p:cNvPr>
          <p:cNvSpPr>
            <a:spLocks noGrp="1"/>
          </p:cNvSpPr>
          <p:nvPr>
            <p:ph type="sldNum" sz="quarter" idx="12"/>
          </p:nvPr>
        </p:nvSpPr>
        <p:spPr/>
        <p:txBody>
          <a:bodyPr/>
          <a:lstStyle/>
          <a:p>
            <a:fld id="{1A7E88B7-70CE-4035-AE73-13FA6FB985D4}" type="slidenum">
              <a:rPr lang="en-US" noProof="1" smtClean="0"/>
              <a:t>1</a:t>
            </a:fld>
            <a:endParaRPr lang="en-US" noProof="1"/>
          </a:p>
        </p:txBody>
      </p:sp>
    </p:spTree>
    <p:extLst>
      <p:ext uri="{BB962C8B-B14F-4D97-AF65-F5344CB8AC3E}">
        <p14:creationId xmlns:p14="http://schemas.microsoft.com/office/powerpoint/2010/main" val="68665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5FF925-67DE-CC62-E869-C6E3C1D771E6}"/>
              </a:ext>
            </a:extLst>
          </p:cNvPr>
          <p:cNvSpPr>
            <a:spLocks noGrp="1"/>
          </p:cNvSpPr>
          <p:nvPr>
            <p:ph type="title"/>
          </p:nvPr>
        </p:nvSpPr>
        <p:spPr>
          <a:xfrm>
            <a:off x="838200" y="-86519"/>
            <a:ext cx="10515600" cy="1325563"/>
          </a:xfrm>
        </p:spPr>
        <p:txBody>
          <a:bodyPr/>
          <a:lstStyle/>
          <a:p>
            <a:r>
              <a:rPr lang="en-US" noProof="1"/>
              <a:t>Contexto do Tema</a:t>
            </a:r>
          </a:p>
        </p:txBody>
      </p:sp>
      <p:sp>
        <p:nvSpPr>
          <p:cNvPr id="3" name="Espaço Reservado para Conteúdo 2">
            <a:extLst>
              <a:ext uri="{FF2B5EF4-FFF2-40B4-BE49-F238E27FC236}">
                <a16:creationId xmlns:a16="http://schemas.microsoft.com/office/drawing/2014/main" id="{7DA84068-671A-9D40-4F76-2C57E4F720C2}"/>
              </a:ext>
            </a:extLst>
          </p:cNvPr>
          <p:cNvSpPr>
            <a:spLocks noGrp="1"/>
          </p:cNvSpPr>
          <p:nvPr>
            <p:ph idx="1"/>
          </p:nvPr>
        </p:nvSpPr>
        <p:spPr>
          <a:xfrm>
            <a:off x="316673" y="1111310"/>
            <a:ext cx="5655202" cy="869950"/>
          </a:xfrm>
        </p:spPr>
        <p:txBody>
          <a:bodyPr>
            <a:noAutofit/>
          </a:bodyPr>
          <a:lstStyle/>
          <a:p>
            <a:pPr fontAlgn="base"/>
            <a:r>
              <a:rPr lang="en-US" b="1" noProof="1"/>
              <a:t>NAS, Neural Architecture Search:</a:t>
            </a:r>
          </a:p>
          <a:p>
            <a:pPr fontAlgn="base"/>
            <a:r>
              <a:rPr lang="pt-BR" dirty="0"/>
              <a:t>A área que busca </a:t>
            </a:r>
            <a:r>
              <a:rPr lang="pt-BR" b="1" dirty="0"/>
              <a:t>descobrir automaticamente arquiteturas neurais</a:t>
            </a:r>
            <a:r>
              <a:rPr lang="pt-BR" dirty="0"/>
              <a:t>, reduzindo a dependência de tentativa e erro.</a:t>
            </a:r>
            <a:endParaRPr lang="en-US" b="1" noProof="1"/>
          </a:p>
        </p:txBody>
      </p:sp>
      <p:sp>
        <p:nvSpPr>
          <p:cNvPr id="6" name="TextBox 5">
            <a:extLst>
              <a:ext uri="{FF2B5EF4-FFF2-40B4-BE49-F238E27FC236}">
                <a16:creationId xmlns:a16="http://schemas.microsoft.com/office/drawing/2014/main" id="{F43DEAE9-D979-24A9-C027-9F067FAFD8E0}"/>
              </a:ext>
            </a:extLst>
          </p:cNvPr>
          <p:cNvSpPr txBox="1"/>
          <p:nvPr/>
        </p:nvSpPr>
        <p:spPr>
          <a:xfrm>
            <a:off x="-1" y="6356350"/>
            <a:ext cx="10609385" cy="461665"/>
          </a:xfrm>
          <a:prstGeom prst="rect">
            <a:avLst/>
          </a:prstGeom>
          <a:noFill/>
        </p:spPr>
        <p:txBody>
          <a:bodyPr wrap="square">
            <a:spAutoFit/>
          </a:bodyPr>
          <a:lstStyle/>
          <a:p>
            <a:r>
              <a:rPr lang="pt-BR" sz="1200" dirty="0"/>
              <a:t>DIY </a:t>
            </a:r>
            <a:r>
              <a:rPr lang="pt-BR" sz="1200" dirty="0" err="1"/>
              <a:t>Your</a:t>
            </a:r>
            <a:r>
              <a:rPr lang="pt-BR" sz="1200" dirty="0"/>
              <a:t> </a:t>
            </a:r>
            <a:r>
              <a:rPr lang="pt-BR" sz="1200" dirty="0" err="1"/>
              <a:t>EasyNAS</a:t>
            </a:r>
            <a:r>
              <a:rPr lang="pt-BR" sz="1200" dirty="0"/>
              <a:t> for Vision: </a:t>
            </a:r>
            <a:r>
              <a:rPr lang="pt-BR" sz="1200" dirty="0" err="1"/>
              <a:t>Convolution</a:t>
            </a:r>
            <a:r>
              <a:rPr lang="pt-BR" sz="1200" dirty="0"/>
              <a:t> </a:t>
            </a:r>
            <a:r>
              <a:rPr lang="pt-BR" sz="1200" dirty="0" err="1"/>
              <a:t>Operation</a:t>
            </a:r>
            <a:r>
              <a:rPr lang="pt-BR" sz="1200" dirty="0"/>
              <a:t> </a:t>
            </a:r>
            <a:r>
              <a:rPr lang="pt-BR" sz="1200" dirty="0" err="1"/>
              <a:t>Merging</a:t>
            </a:r>
            <a:r>
              <a:rPr lang="pt-BR" sz="1200" dirty="0"/>
              <a:t>, Map </a:t>
            </a:r>
            <a:r>
              <a:rPr lang="pt-BR" sz="1200" dirty="0" err="1"/>
              <a:t>Channel</a:t>
            </a:r>
            <a:r>
              <a:rPr lang="pt-BR" sz="1200" dirty="0"/>
              <a:t> </a:t>
            </a:r>
            <a:r>
              <a:rPr lang="pt-BR" sz="1200" dirty="0" err="1"/>
              <a:t>Reducing</a:t>
            </a:r>
            <a:r>
              <a:rPr lang="pt-BR" sz="1200" dirty="0"/>
              <a:t>, </a:t>
            </a:r>
            <a:r>
              <a:rPr lang="pt-BR" sz="1200" dirty="0" err="1"/>
              <a:t>and</a:t>
            </a:r>
            <a:r>
              <a:rPr lang="pt-BR" sz="1200" dirty="0"/>
              <a:t> Search Space </a:t>
            </a:r>
            <a:r>
              <a:rPr lang="pt-BR" sz="1200" dirty="0" err="1"/>
              <a:t>to</a:t>
            </a:r>
            <a:r>
              <a:rPr lang="pt-BR" sz="1200" dirty="0"/>
              <a:t> </a:t>
            </a:r>
            <a:r>
              <a:rPr lang="pt-BR" sz="1200" dirty="0" err="1"/>
              <a:t>Supernet</a:t>
            </a:r>
            <a:r>
              <a:rPr lang="pt-BR" sz="1200" dirty="0"/>
              <a:t> </a:t>
            </a:r>
            <a:r>
              <a:rPr lang="pt-BR" sz="1200" dirty="0" err="1"/>
              <a:t>Conversion</a:t>
            </a:r>
            <a:r>
              <a:rPr lang="pt-BR" sz="1200" dirty="0"/>
              <a:t> </a:t>
            </a:r>
            <a:r>
              <a:rPr lang="pt-BR" sz="1200" dirty="0" err="1"/>
              <a:t>Tooling</a:t>
            </a:r>
            <a:r>
              <a:rPr lang="pt-BR" sz="1200" dirty="0"/>
              <a:t>, </a:t>
            </a:r>
            <a:r>
              <a:rPr lang="pt-BR" sz="1200" i="1" dirty="0"/>
              <a:t>IEEE </a:t>
            </a:r>
            <a:r>
              <a:rPr lang="pt-BR" sz="1200" i="1" dirty="0" err="1"/>
              <a:t>Transactions</a:t>
            </a:r>
            <a:r>
              <a:rPr lang="pt-BR" sz="1200" i="1" dirty="0"/>
              <a:t> </a:t>
            </a:r>
            <a:r>
              <a:rPr lang="pt-BR" sz="1200" i="1" dirty="0" err="1"/>
              <a:t>on</a:t>
            </a:r>
            <a:r>
              <a:rPr lang="pt-BR" sz="1200" i="1" dirty="0"/>
              <a:t> </a:t>
            </a:r>
            <a:r>
              <a:rPr lang="pt-BR" sz="1200" i="1" dirty="0" err="1"/>
              <a:t>Pattern</a:t>
            </a:r>
            <a:r>
              <a:rPr lang="pt-BR" sz="1200" i="1" dirty="0"/>
              <a:t> </a:t>
            </a:r>
            <a:r>
              <a:rPr lang="pt-BR" sz="1200" i="1" dirty="0" err="1"/>
              <a:t>Analysis</a:t>
            </a:r>
            <a:r>
              <a:rPr lang="pt-BR" sz="1200" i="1" dirty="0"/>
              <a:t> </a:t>
            </a:r>
            <a:r>
              <a:rPr lang="pt-BR" sz="1200" i="1" dirty="0" err="1"/>
              <a:t>and</a:t>
            </a:r>
            <a:r>
              <a:rPr lang="pt-BR" sz="1200" i="1" dirty="0"/>
              <a:t> Machine </a:t>
            </a:r>
            <a:r>
              <a:rPr lang="pt-BR" sz="1200" i="1" dirty="0" err="1"/>
              <a:t>Intelligence</a:t>
            </a:r>
            <a:r>
              <a:rPr lang="pt-BR" sz="1200" dirty="0"/>
              <a:t>, Nov. 2023.</a:t>
            </a:r>
            <a:endParaRPr lang="en-US" sz="1200" noProof="1"/>
          </a:p>
        </p:txBody>
      </p:sp>
      <p:sp>
        <p:nvSpPr>
          <p:cNvPr id="4" name="Slide Number Placeholder 3">
            <a:extLst>
              <a:ext uri="{FF2B5EF4-FFF2-40B4-BE49-F238E27FC236}">
                <a16:creationId xmlns:a16="http://schemas.microsoft.com/office/drawing/2014/main" id="{1ABEA3CC-8562-5A07-39F9-4CEF564AF768}"/>
              </a:ext>
            </a:extLst>
          </p:cNvPr>
          <p:cNvSpPr>
            <a:spLocks noGrp="1"/>
          </p:cNvSpPr>
          <p:nvPr>
            <p:ph type="sldNum" sz="quarter" idx="12"/>
          </p:nvPr>
        </p:nvSpPr>
        <p:spPr/>
        <p:txBody>
          <a:bodyPr/>
          <a:lstStyle/>
          <a:p>
            <a:fld id="{1A7E88B7-70CE-4035-AE73-13FA6FB985D4}" type="slidenum">
              <a:rPr lang="en-US" noProof="1" smtClean="0"/>
              <a:t>2</a:t>
            </a:fld>
            <a:endParaRPr lang="en-US" noProof="1"/>
          </a:p>
        </p:txBody>
      </p:sp>
      <p:pic>
        <p:nvPicPr>
          <p:cNvPr id="1026" name="Picture 2" descr="What is neural architecture search? - TechTalks">
            <a:extLst>
              <a:ext uri="{FF2B5EF4-FFF2-40B4-BE49-F238E27FC236}">
                <a16:creationId xmlns:a16="http://schemas.microsoft.com/office/drawing/2014/main" id="{02760D24-58B0-BB73-9573-F2E052313B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4558" y="3336368"/>
            <a:ext cx="4677507" cy="292344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D6F43A71-8B78-F514-57BD-A0398E37B870}"/>
              </a:ext>
            </a:extLst>
          </p:cNvPr>
          <p:cNvPicPr>
            <a:picLocks noChangeAspect="1"/>
          </p:cNvPicPr>
          <p:nvPr/>
        </p:nvPicPr>
        <p:blipFill>
          <a:blip r:embed="rId4"/>
          <a:stretch>
            <a:fillRect/>
          </a:stretch>
        </p:blipFill>
        <p:spPr>
          <a:xfrm>
            <a:off x="5875317" y="335504"/>
            <a:ext cx="6234622" cy="5947752"/>
          </a:xfrm>
          <a:prstGeom prst="rect">
            <a:avLst/>
          </a:prstGeom>
        </p:spPr>
      </p:pic>
    </p:spTree>
    <p:extLst>
      <p:ext uri="{BB962C8B-B14F-4D97-AF65-F5344CB8AC3E}">
        <p14:creationId xmlns:p14="http://schemas.microsoft.com/office/powerpoint/2010/main" val="364118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0BE41-EA52-F7D5-C71C-9FCE2ADC392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98984DA-DD33-44DC-A039-346231952B1A}"/>
              </a:ext>
            </a:extLst>
          </p:cNvPr>
          <p:cNvSpPr>
            <a:spLocks noGrp="1"/>
          </p:cNvSpPr>
          <p:nvPr>
            <p:ph type="title"/>
          </p:nvPr>
        </p:nvSpPr>
        <p:spPr>
          <a:xfrm>
            <a:off x="838200" y="83771"/>
            <a:ext cx="10515600" cy="1325563"/>
          </a:xfrm>
        </p:spPr>
        <p:txBody>
          <a:bodyPr/>
          <a:lstStyle/>
          <a:p>
            <a:r>
              <a:rPr lang="en-US" noProof="1"/>
              <a:t>Contexto do Tema</a:t>
            </a:r>
          </a:p>
        </p:txBody>
      </p:sp>
      <p:sp>
        <p:nvSpPr>
          <p:cNvPr id="3" name="Espaço Reservado para Conteúdo 2">
            <a:extLst>
              <a:ext uri="{FF2B5EF4-FFF2-40B4-BE49-F238E27FC236}">
                <a16:creationId xmlns:a16="http://schemas.microsoft.com/office/drawing/2014/main" id="{F6C76EC2-2D1F-3420-2E84-58C2084A5FA4}"/>
              </a:ext>
            </a:extLst>
          </p:cNvPr>
          <p:cNvSpPr>
            <a:spLocks noGrp="1"/>
          </p:cNvSpPr>
          <p:nvPr>
            <p:ph idx="1"/>
          </p:nvPr>
        </p:nvSpPr>
        <p:spPr>
          <a:xfrm>
            <a:off x="838200" y="1239520"/>
            <a:ext cx="10515600" cy="5252719"/>
          </a:xfrm>
        </p:spPr>
        <p:txBody>
          <a:bodyPr>
            <a:normAutofit/>
          </a:bodyPr>
          <a:lstStyle/>
          <a:p>
            <a:pPr algn="just"/>
            <a:r>
              <a:rPr lang="pt-BR" dirty="0"/>
              <a:t>A motivação vem do fato de que arquiteturas projetadas por especialistas podem ter alto desempenho, mas exigem </a:t>
            </a:r>
            <a:r>
              <a:rPr lang="pt-BR" b="1" dirty="0"/>
              <a:t>muito ajuste empírico e conhecimento especializado</a:t>
            </a:r>
            <a:r>
              <a:rPr lang="pt-BR" dirty="0"/>
              <a:t>.</a:t>
            </a:r>
          </a:p>
          <a:p>
            <a:pPr algn="just"/>
            <a:endParaRPr lang="en-US" noProof="1"/>
          </a:p>
          <a:p>
            <a:pPr algn="just"/>
            <a:r>
              <a:rPr lang="pt-BR" b="1" dirty="0"/>
              <a:t>Neural </a:t>
            </a:r>
            <a:r>
              <a:rPr lang="pt-BR" b="1" dirty="0" err="1"/>
              <a:t>Architecture</a:t>
            </a:r>
            <a:r>
              <a:rPr lang="pt-BR" b="1" dirty="0"/>
              <a:t> Search, NAS</a:t>
            </a:r>
            <a:r>
              <a:rPr lang="pt-BR" dirty="0"/>
              <a:t>, busca automatizar o projeto de arquiteturas neurais, substituindo parte do ajuste manual de operações, conexões e larguras por um processo de busca orientado por desempenho e custo.</a:t>
            </a:r>
          </a:p>
          <a:p>
            <a:pPr algn="just"/>
            <a:endParaRPr lang="en-US" noProof="1"/>
          </a:p>
          <a:p>
            <a:pPr algn="just"/>
            <a:r>
              <a:rPr lang="pt-BR" dirty="0"/>
              <a:t>Entre as linhas de NAS, uma das mais influentes é o </a:t>
            </a:r>
            <a:r>
              <a:rPr lang="pt-BR" b="1" dirty="0"/>
              <a:t>DARTS, </a:t>
            </a:r>
            <a:r>
              <a:rPr lang="pt-BR" b="1" dirty="0" err="1"/>
              <a:t>Differentiable</a:t>
            </a:r>
            <a:r>
              <a:rPr lang="pt-BR" b="1" dirty="0"/>
              <a:t> </a:t>
            </a:r>
            <a:r>
              <a:rPr lang="pt-BR" b="1" dirty="0" err="1"/>
              <a:t>Architecture</a:t>
            </a:r>
            <a:r>
              <a:rPr lang="pt-BR" b="1" dirty="0"/>
              <a:t> Search</a:t>
            </a:r>
            <a:r>
              <a:rPr lang="pt-BR" dirty="0"/>
              <a:t>.</a:t>
            </a:r>
            <a:endParaRPr lang="en-US" noProof="1"/>
          </a:p>
        </p:txBody>
      </p:sp>
      <p:sp>
        <p:nvSpPr>
          <p:cNvPr id="4" name="Slide Number Placeholder 3">
            <a:extLst>
              <a:ext uri="{FF2B5EF4-FFF2-40B4-BE49-F238E27FC236}">
                <a16:creationId xmlns:a16="http://schemas.microsoft.com/office/drawing/2014/main" id="{D263DE7E-C862-6A21-6D46-A182474C10AF}"/>
              </a:ext>
            </a:extLst>
          </p:cNvPr>
          <p:cNvSpPr>
            <a:spLocks noGrp="1"/>
          </p:cNvSpPr>
          <p:nvPr>
            <p:ph type="sldNum" sz="quarter" idx="12"/>
          </p:nvPr>
        </p:nvSpPr>
        <p:spPr/>
        <p:txBody>
          <a:bodyPr/>
          <a:lstStyle/>
          <a:p>
            <a:fld id="{1A7E88B7-70CE-4035-AE73-13FA6FB985D4}" type="slidenum">
              <a:rPr lang="en-US" noProof="1" smtClean="0"/>
              <a:t>3</a:t>
            </a:fld>
            <a:endParaRPr lang="en-US" noProof="1"/>
          </a:p>
        </p:txBody>
      </p:sp>
    </p:spTree>
    <p:extLst>
      <p:ext uri="{BB962C8B-B14F-4D97-AF65-F5344CB8AC3E}">
        <p14:creationId xmlns:p14="http://schemas.microsoft.com/office/powerpoint/2010/main" val="2512909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D7D87-531B-3DE0-C12F-10C3A91AC1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1B0C873-59FB-23E7-7DCE-6931A9ECCE99}"/>
              </a:ext>
            </a:extLst>
          </p:cNvPr>
          <p:cNvSpPr>
            <a:spLocks noGrp="1"/>
          </p:cNvSpPr>
          <p:nvPr>
            <p:ph type="title"/>
          </p:nvPr>
        </p:nvSpPr>
        <p:spPr>
          <a:xfrm>
            <a:off x="838200" y="83771"/>
            <a:ext cx="10515600" cy="1325563"/>
          </a:xfrm>
        </p:spPr>
        <p:txBody>
          <a:bodyPr/>
          <a:lstStyle/>
          <a:p>
            <a:r>
              <a:rPr lang="en-US" noProof="1"/>
              <a:t>DARTS, </a:t>
            </a:r>
            <a:r>
              <a:rPr lang="pt-BR" dirty="0" err="1"/>
              <a:t>Differentiable</a:t>
            </a:r>
            <a:r>
              <a:rPr lang="pt-BR" dirty="0"/>
              <a:t> </a:t>
            </a:r>
            <a:r>
              <a:rPr lang="pt-BR" dirty="0" err="1"/>
              <a:t>Architecture</a:t>
            </a:r>
            <a:r>
              <a:rPr lang="pt-BR" dirty="0"/>
              <a:t> Search</a:t>
            </a:r>
            <a:endParaRPr lang="en-US" noProof="1"/>
          </a:p>
        </p:txBody>
      </p:sp>
      <p:sp>
        <p:nvSpPr>
          <p:cNvPr id="3" name="Espaço Reservado para Conteúdo 2">
            <a:extLst>
              <a:ext uri="{FF2B5EF4-FFF2-40B4-BE49-F238E27FC236}">
                <a16:creationId xmlns:a16="http://schemas.microsoft.com/office/drawing/2014/main" id="{5DCB9536-05D9-A1FE-16E8-DE59FB8EA7AC}"/>
              </a:ext>
            </a:extLst>
          </p:cNvPr>
          <p:cNvSpPr>
            <a:spLocks noGrp="1"/>
          </p:cNvSpPr>
          <p:nvPr>
            <p:ph idx="1"/>
          </p:nvPr>
        </p:nvSpPr>
        <p:spPr>
          <a:xfrm>
            <a:off x="838200" y="1239520"/>
            <a:ext cx="10515600" cy="1234049"/>
          </a:xfrm>
        </p:spPr>
        <p:txBody>
          <a:bodyPr>
            <a:normAutofit lnSpcReduction="10000"/>
          </a:bodyPr>
          <a:lstStyle/>
          <a:p>
            <a:pPr algn="just"/>
            <a:r>
              <a:rPr lang="pt-BR" dirty="0"/>
              <a:t>O </a:t>
            </a:r>
            <a:r>
              <a:rPr lang="pt-BR" b="1" dirty="0"/>
              <a:t>DARTS</a:t>
            </a:r>
            <a:r>
              <a:rPr lang="pt-BR" dirty="0"/>
              <a:t> é um método de NAS que transforma a busca de arquitetura em um problema </a:t>
            </a:r>
            <a:r>
              <a:rPr lang="pt-BR" b="1" dirty="0" err="1"/>
              <a:t>diferenciável</a:t>
            </a:r>
            <a:r>
              <a:rPr lang="pt-BR" dirty="0"/>
              <a:t>, permitindo otimização por gradiente em vez de busca puramente discreta.</a:t>
            </a:r>
          </a:p>
        </p:txBody>
      </p:sp>
      <p:sp>
        <p:nvSpPr>
          <p:cNvPr id="4" name="Slide Number Placeholder 3">
            <a:extLst>
              <a:ext uri="{FF2B5EF4-FFF2-40B4-BE49-F238E27FC236}">
                <a16:creationId xmlns:a16="http://schemas.microsoft.com/office/drawing/2014/main" id="{B97B6E27-49F3-5258-B046-D06A956B370F}"/>
              </a:ext>
            </a:extLst>
          </p:cNvPr>
          <p:cNvSpPr>
            <a:spLocks noGrp="1"/>
          </p:cNvSpPr>
          <p:nvPr>
            <p:ph type="sldNum" sz="quarter" idx="12"/>
          </p:nvPr>
        </p:nvSpPr>
        <p:spPr/>
        <p:txBody>
          <a:bodyPr/>
          <a:lstStyle/>
          <a:p>
            <a:fld id="{1A7E88B7-70CE-4035-AE73-13FA6FB985D4}" type="slidenum">
              <a:rPr lang="en-US" noProof="1" smtClean="0"/>
              <a:t>4</a:t>
            </a:fld>
            <a:endParaRPr lang="en-US" noProof="1"/>
          </a:p>
        </p:txBody>
      </p:sp>
      <p:pic>
        <p:nvPicPr>
          <p:cNvPr id="6" name="Picture 5">
            <a:extLst>
              <a:ext uri="{FF2B5EF4-FFF2-40B4-BE49-F238E27FC236}">
                <a16:creationId xmlns:a16="http://schemas.microsoft.com/office/drawing/2014/main" id="{1D7A575F-F789-4866-AE13-1AF479C16416}"/>
              </a:ext>
            </a:extLst>
          </p:cNvPr>
          <p:cNvPicPr>
            <a:picLocks noChangeAspect="1"/>
          </p:cNvPicPr>
          <p:nvPr/>
        </p:nvPicPr>
        <p:blipFill>
          <a:blip r:embed="rId3"/>
          <a:stretch>
            <a:fillRect/>
          </a:stretch>
        </p:blipFill>
        <p:spPr>
          <a:xfrm>
            <a:off x="1904999" y="2429348"/>
            <a:ext cx="8382000" cy="4027869"/>
          </a:xfrm>
          <a:prstGeom prst="rect">
            <a:avLst/>
          </a:prstGeom>
        </p:spPr>
      </p:pic>
      <p:sp>
        <p:nvSpPr>
          <p:cNvPr id="8" name="TextBox 7">
            <a:extLst>
              <a:ext uri="{FF2B5EF4-FFF2-40B4-BE49-F238E27FC236}">
                <a16:creationId xmlns:a16="http://schemas.microsoft.com/office/drawing/2014/main" id="{B0838022-2219-4BD6-1FAA-E988412B2D7A}"/>
              </a:ext>
            </a:extLst>
          </p:cNvPr>
          <p:cNvSpPr txBox="1"/>
          <p:nvPr/>
        </p:nvSpPr>
        <p:spPr>
          <a:xfrm>
            <a:off x="64476" y="6581001"/>
            <a:ext cx="12063047" cy="276999"/>
          </a:xfrm>
          <a:prstGeom prst="rect">
            <a:avLst/>
          </a:prstGeom>
          <a:noFill/>
        </p:spPr>
        <p:txBody>
          <a:bodyPr wrap="square">
            <a:spAutoFit/>
          </a:bodyPr>
          <a:lstStyle>
            <a:defPPr>
              <a:defRPr lang="pt-BR"/>
            </a:defPPr>
            <a:lvl1pPr>
              <a:defRPr sz="1200"/>
            </a:lvl1pPr>
          </a:lstStyle>
          <a:p>
            <a:r>
              <a:rPr lang="en-US" dirty="0"/>
              <a:t>H. Liu, K. Simonyan, and Y. Yang, "DARTS: Differentiable Architecture Search," in Proc. Int. Conf. Learn. Representations (ICLR), 2019</a:t>
            </a:r>
            <a:endParaRPr lang="pt-BR" dirty="0"/>
          </a:p>
        </p:txBody>
      </p:sp>
    </p:spTree>
    <p:extLst>
      <p:ext uri="{BB962C8B-B14F-4D97-AF65-F5344CB8AC3E}">
        <p14:creationId xmlns:p14="http://schemas.microsoft.com/office/powerpoint/2010/main" val="2222515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7944B-3372-1D90-B28C-FB39520968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452B460-304F-8D6A-49E2-170E86973EFE}"/>
              </a:ext>
            </a:extLst>
          </p:cNvPr>
          <p:cNvSpPr>
            <a:spLocks noGrp="1"/>
          </p:cNvSpPr>
          <p:nvPr>
            <p:ph type="title"/>
          </p:nvPr>
        </p:nvSpPr>
        <p:spPr>
          <a:xfrm>
            <a:off x="838200" y="-47509"/>
            <a:ext cx="10515600" cy="1325563"/>
          </a:xfrm>
        </p:spPr>
        <p:txBody>
          <a:bodyPr/>
          <a:lstStyle/>
          <a:p>
            <a:r>
              <a:rPr lang="en-US" noProof="1"/>
              <a:t>Introdução do artigo</a:t>
            </a:r>
          </a:p>
        </p:txBody>
      </p:sp>
      <p:sp>
        <p:nvSpPr>
          <p:cNvPr id="3" name="Espaço Reservado para Conteúdo 2">
            <a:extLst>
              <a:ext uri="{FF2B5EF4-FFF2-40B4-BE49-F238E27FC236}">
                <a16:creationId xmlns:a16="http://schemas.microsoft.com/office/drawing/2014/main" id="{A9FDF00C-07E3-57DD-2C43-753297609C4B}"/>
              </a:ext>
            </a:extLst>
          </p:cNvPr>
          <p:cNvSpPr>
            <a:spLocks noGrp="1"/>
          </p:cNvSpPr>
          <p:nvPr>
            <p:ph idx="1"/>
          </p:nvPr>
        </p:nvSpPr>
        <p:spPr>
          <a:xfrm>
            <a:off x="838200" y="1139824"/>
            <a:ext cx="10515600" cy="4864736"/>
          </a:xfrm>
        </p:spPr>
        <p:txBody>
          <a:bodyPr>
            <a:noAutofit/>
          </a:bodyPr>
          <a:lstStyle/>
          <a:p>
            <a:r>
              <a:rPr lang="pt-BR" sz="2400" noProof="1">
                <a:solidFill>
                  <a:srgbClr val="1C2430"/>
                </a:solidFill>
              </a:rPr>
              <a:t>O paper parte da seguinte limitação:</a:t>
            </a:r>
          </a:p>
          <a:p>
            <a:pPr lvl="1"/>
            <a:r>
              <a:rPr lang="pt-BR" sz="2000" noProof="1">
                <a:solidFill>
                  <a:srgbClr val="1C2430"/>
                </a:solidFill>
              </a:rPr>
              <a:t>NAS differentiable, como DARTS, funciona bem em classificação,</a:t>
            </a:r>
          </a:p>
          <a:p>
            <a:pPr lvl="1"/>
            <a:r>
              <a:rPr lang="pt-BR" sz="2000" noProof="1">
                <a:solidFill>
                  <a:srgbClr val="1C2430"/>
                </a:solidFill>
              </a:rPr>
              <a:t>mas sua aplicação direta em detecção e segmentação ainda é limitada pelo custo do supernet.</a:t>
            </a:r>
          </a:p>
          <a:p>
            <a:r>
              <a:rPr lang="pt-BR" sz="2400" noProof="1">
                <a:solidFill>
                  <a:srgbClr val="1C2430"/>
                </a:solidFill>
              </a:rPr>
              <a:t>Há dois problemas centrais:</a:t>
            </a:r>
          </a:p>
          <a:p>
            <a:pPr lvl="1"/>
            <a:r>
              <a:rPr lang="pt-BR" sz="2000" noProof="1">
                <a:solidFill>
                  <a:srgbClr val="1C2430"/>
                </a:solidFill>
              </a:rPr>
              <a:t>alto custo de memória e computação para buscar arquiteturas em tarefas complexas,</a:t>
            </a:r>
          </a:p>
          <a:p>
            <a:pPr lvl="1"/>
            <a:r>
              <a:rPr lang="pt-BR" sz="2000" noProof="1">
                <a:solidFill>
                  <a:srgbClr val="1C2430"/>
                </a:solidFill>
              </a:rPr>
              <a:t>falta de uma ferramenta reutilizável e configurável para transformar diferentes search spaces em supernets treináveis.</a:t>
            </a:r>
          </a:p>
          <a:p>
            <a:r>
              <a:rPr lang="pt-BR" sz="2400" noProof="1">
                <a:solidFill>
                  <a:srgbClr val="1C2430"/>
                </a:solidFill>
              </a:rPr>
              <a:t>Métodos anteriores que reduzem custo por sampling ativam apenas parte do supernet a cada iteração. </a:t>
            </a:r>
          </a:p>
          <a:p>
            <a:pPr marL="0" indent="0" algn="ctr">
              <a:buNone/>
            </a:pPr>
            <a:endParaRPr lang="pt-BR" sz="2400" b="1" noProof="1">
              <a:solidFill>
                <a:srgbClr val="FF0000"/>
              </a:solidFill>
            </a:endParaRPr>
          </a:p>
          <a:p>
            <a:pPr marL="0" indent="0" algn="ctr">
              <a:buNone/>
            </a:pPr>
            <a:r>
              <a:rPr lang="pt-BR" sz="2400" b="1" noProof="1">
                <a:solidFill>
                  <a:srgbClr val="FF0000"/>
                </a:solidFill>
              </a:rPr>
              <a:t>Porém, isso introduz uma estrutura dinâmica durante a busca, o que pode dificultar a convergência, especialmente em tarefas complexas.</a:t>
            </a:r>
          </a:p>
        </p:txBody>
      </p:sp>
      <p:sp>
        <p:nvSpPr>
          <p:cNvPr id="4" name="Slide Number Placeholder 3">
            <a:extLst>
              <a:ext uri="{FF2B5EF4-FFF2-40B4-BE49-F238E27FC236}">
                <a16:creationId xmlns:a16="http://schemas.microsoft.com/office/drawing/2014/main" id="{5F674CDA-BEE6-E5C1-855E-5935D1F6BF87}"/>
              </a:ext>
            </a:extLst>
          </p:cNvPr>
          <p:cNvSpPr>
            <a:spLocks noGrp="1"/>
          </p:cNvSpPr>
          <p:nvPr>
            <p:ph type="sldNum" sz="quarter" idx="12"/>
          </p:nvPr>
        </p:nvSpPr>
        <p:spPr/>
        <p:txBody>
          <a:bodyPr/>
          <a:lstStyle/>
          <a:p>
            <a:fld id="{1A7E88B7-70CE-4035-AE73-13FA6FB985D4}" type="slidenum">
              <a:rPr lang="en-US" noProof="1" smtClean="0"/>
              <a:t>5</a:t>
            </a:fld>
            <a:endParaRPr lang="en-US" noProof="1"/>
          </a:p>
        </p:txBody>
      </p:sp>
    </p:spTree>
    <p:extLst>
      <p:ext uri="{BB962C8B-B14F-4D97-AF65-F5344CB8AC3E}">
        <p14:creationId xmlns:p14="http://schemas.microsoft.com/office/powerpoint/2010/main" val="2982830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63793-C166-62EC-165F-98E48C1A852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DEF6A6-8072-DB93-2000-178B31F34AF0}"/>
              </a:ext>
            </a:extLst>
          </p:cNvPr>
          <p:cNvSpPr>
            <a:spLocks noGrp="1"/>
          </p:cNvSpPr>
          <p:nvPr>
            <p:ph type="title"/>
          </p:nvPr>
        </p:nvSpPr>
        <p:spPr>
          <a:xfrm>
            <a:off x="838200" y="-47509"/>
            <a:ext cx="10515600" cy="1325563"/>
          </a:xfrm>
        </p:spPr>
        <p:txBody>
          <a:bodyPr/>
          <a:lstStyle/>
          <a:p>
            <a:r>
              <a:rPr lang="en-US" noProof="1"/>
              <a:t>Introdução do artigo</a:t>
            </a:r>
          </a:p>
        </p:txBody>
      </p:sp>
      <p:sp>
        <p:nvSpPr>
          <p:cNvPr id="3" name="Espaço Reservado para Conteúdo 2">
            <a:extLst>
              <a:ext uri="{FF2B5EF4-FFF2-40B4-BE49-F238E27FC236}">
                <a16:creationId xmlns:a16="http://schemas.microsoft.com/office/drawing/2014/main" id="{7FC7767B-B92D-ED07-C938-E40EE923EC65}"/>
              </a:ext>
            </a:extLst>
          </p:cNvPr>
          <p:cNvSpPr>
            <a:spLocks noGrp="1"/>
          </p:cNvSpPr>
          <p:nvPr>
            <p:ph idx="1"/>
          </p:nvPr>
        </p:nvSpPr>
        <p:spPr>
          <a:xfrm>
            <a:off x="838200" y="1139824"/>
            <a:ext cx="10515600" cy="4864736"/>
          </a:xfrm>
        </p:spPr>
        <p:txBody>
          <a:bodyPr>
            <a:noAutofit/>
          </a:bodyPr>
          <a:lstStyle/>
          <a:p>
            <a:pPr marL="0" lvl="0" indent="0">
              <a:lnSpc>
                <a:spcPct val="100000"/>
              </a:lnSpc>
              <a:spcBef>
                <a:spcPts val="0"/>
              </a:spcBef>
              <a:buNone/>
              <a:defRPr/>
            </a:pPr>
            <a:r>
              <a:rPr lang="pt-BR" noProof="1">
                <a:solidFill>
                  <a:srgbClr val="1C2430"/>
                </a:solidFill>
              </a:rPr>
              <a:t>A proposta do artigo é o </a:t>
            </a:r>
            <a:r>
              <a:rPr lang="pt-BR" b="1" noProof="1">
                <a:solidFill>
                  <a:srgbClr val="1C2430"/>
                </a:solidFill>
              </a:rPr>
              <a:t>EasyNAS</a:t>
            </a:r>
            <a:r>
              <a:rPr lang="pt-BR" noProof="1">
                <a:solidFill>
                  <a:srgbClr val="1C2430"/>
                </a:solidFill>
              </a:rPr>
              <a:t>, um framework de NAS para visão com três ideias principais: </a:t>
            </a:r>
          </a:p>
          <a:p>
            <a:pPr marL="628650" lvl="1" indent="-171450">
              <a:lnSpc>
                <a:spcPct val="100000"/>
              </a:lnSpc>
              <a:spcBef>
                <a:spcPts val="0"/>
              </a:spcBef>
              <a:defRPr/>
            </a:pPr>
            <a:r>
              <a:rPr lang="pt-BR" b="1" noProof="1">
                <a:solidFill>
                  <a:srgbClr val="1C2430"/>
                </a:solidFill>
              </a:rPr>
              <a:t>convolution operator merging</a:t>
            </a:r>
            <a:r>
              <a:rPr lang="pt-BR" noProof="1">
                <a:solidFill>
                  <a:srgbClr val="1C2430"/>
                </a:solidFill>
              </a:rPr>
              <a:t>, para mesclar convoluções candidatas em uma única convolução compartilhada,</a:t>
            </a:r>
          </a:p>
          <a:p>
            <a:pPr marL="628650" lvl="1" indent="-171450">
              <a:lnSpc>
                <a:spcPct val="100000"/>
              </a:lnSpc>
              <a:spcBef>
                <a:spcPts val="0"/>
              </a:spcBef>
              <a:defRPr/>
            </a:pPr>
            <a:r>
              <a:rPr lang="pt-BR" b="1" noProof="1">
                <a:solidFill>
                  <a:srgbClr val="1C2430"/>
                </a:solidFill>
              </a:rPr>
              <a:t>dynamic channel refinement</a:t>
            </a:r>
            <a:r>
              <a:rPr lang="pt-BR" noProof="1">
                <a:solidFill>
                  <a:srgbClr val="1C2430"/>
                </a:solidFill>
              </a:rPr>
              <a:t>, para buscar redução de canais sem computação redundante,</a:t>
            </a:r>
          </a:p>
          <a:p>
            <a:pPr marL="628650" lvl="1" indent="-171450">
              <a:lnSpc>
                <a:spcPct val="100000"/>
              </a:lnSpc>
              <a:spcBef>
                <a:spcPts val="0"/>
              </a:spcBef>
              <a:defRPr/>
            </a:pPr>
            <a:r>
              <a:rPr lang="pt-BR" b="1" noProof="1">
                <a:solidFill>
                  <a:srgbClr val="1C2430"/>
                </a:solidFill>
              </a:rPr>
              <a:t>search space to supernet conversion tooling</a:t>
            </a:r>
            <a:r>
              <a:rPr lang="pt-BR" noProof="1">
                <a:solidFill>
                  <a:srgbClr val="1C2430"/>
                </a:solidFill>
              </a:rPr>
              <a:t>, baseado em atomic search components, para construir supernets configuráveis para diferentes tarefas.</a:t>
            </a:r>
          </a:p>
          <a:p>
            <a:pPr marL="628650" lvl="1" indent="-171450">
              <a:lnSpc>
                <a:spcPct val="100000"/>
              </a:lnSpc>
              <a:spcBef>
                <a:spcPts val="0"/>
              </a:spcBef>
              <a:defRPr/>
            </a:pPr>
            <a:endParaRPr lang="pt-BR" noProof="1">
              <a:solidFill>
                <a:srgbClr val="1C2430"/>
              </a:solidFill>
            </a:endParaRPr>
          </a:p>
          <a:p>
            <a:pPr marL="0" indent="0">
              <a:lnSpc>
                <a:spcPct val="100000"/>
              </a:lnSpc>
              <a:spcBef>
                <a:spcPts val="0"/>
              </a:spcBef>
              <a:buNone/>
              <a:defRPr/>
            </a:pPr>
            <a:r>
              <a:rPr lang="pt-BR" noProof="1">
                <a:solidFill>
                  <a:srgbClr val="FF0000"/>
                </a:solidFill>
              </a:rPr>
              <a:t>A meta do paper é:</a:t>
            </a:r>
          </a:p>
          <a:p>
            <a:pPr marL="914400" lvl="1" indent="-457200">
              <a:lnSpc>
                <a:spcPct val="100000"/>
              </a:lnSpc>
              <a:spcBef>
                <a:spcPts val="0"/>
              </a:spcBef>
              <a:buFont typeface="+mj-lt"/>
              <a:buAutoNum type="arabicPeriod"/>
              <a:defRPr/>
            </a:pPr>
            <a:r>
              <a:rPr lang="pt-BR" noProof="1">
                <a:solidFill>
                  <a:srgbClr val="FF0000"/>
                </a:solidFill>
              </a:rPr>
              <a:t>reduzir o custo da busca,</a:t>
            </a:r>
          </a:p>
          <a:p>
            <a:pPr marL="914400" lvl="1" indent="-457200">
              <a:lnSpc>
                <a:spcPct val="100000"/>
              </a:lnSpc>
              <a:spcBef>
                <a:spcPts val="0"/>
              </a:spcBef>
              <a:buFont typeface="+mj-lt"/>
              <a:buAutoNum type="arabicPeriod"/>
              <a:defRPr/>
            </a:pPr>
            <a:r>
              <a:rPr lang="pt-BR" noProof="1">
                <a:solidFill>
                  <a:srgbClr val="FF0000"/>
                </a:solidFill>
              </a:rPr>
              <a:t>manter melhor estabilidade de treinamento,</a:t>
            </a:r>
          </a:p>
          <a:p>
            <a:pPr marL="914400" lvl="1" indent="-457200">
              <a:lnSpc>
                <a:spcPct val="100000"/>
              </a:lnSpc>
              <a:spcBef>
                <a:spcPts val="0"/>
              </a:spcBef>
              <a:buFont typeface="+mj-lt"/>
              <a:buAutoNum type="arabicPeriod"/>
              <a:defRPr/>
            </a:pPr>
            <a:r>
              <a:rPr lang="pt-BR" noProof="1">
                <a:solidFill>
                  <a:srgbClr val="FF0000"/>
                </a:solidFill>
              </a:rPr>
              <a:t>e tornar NAS mais reutilizável em classificação, detecção e segmentação.</a:t>
            </a:r>
          </a:p>
        </p:txBody>
      </p:sp>
      <p:sp>
        <p:nvSpPr>
          <p:cNvPr id="4" name="Slide Number Placeholder 3">
            <a:extLst>
              <a:ext uri="{FF2B5EF4-FFF2-40B4-BE49-F238E27FC236}">
                <a16:creationId xmlns:a16="http://schemas.microsoft.com/office/drawing/2014/main" id="{7DB8AF5B-F0F7-D38A-1176-E6984CEBD83E}"/>
              </a:ext>
            </a:extLst>
          </p:cNvPr>
          <p:cNvSpPr>
            <a:spLocks noGrp="1"/>
          </p:cNvSpPr>
          <p:nvPr>
            <p:ph type="sldNum" sz="quarter" idx="12"/>
          </p:nvPr>
        </p:nvSpPr>
        <p:spPr/>
        <p:txBody>
          <a:bodyPr/>
          <a:lstStyle/>
          <a:p>
            <a:fld id="{1A7E88B7-70CE-4035-AE73-13FA6FB985D4}" type="slidenum">
              <a:rPr lang="en-US" noProof="1" smtClean="0"/>
              <a:t>6</a:t>
            </a:fld>
            <a:endParaRPr lang="en-US" noProof="1"/>
          </a:p>
        </p:txBody>
      </p:sp>
    </p:spTree>
    <p:extLst>
      <p:ext uri="{BB962C8B-B14F-4D97-AF65-F5344CB8AC3E}">
        <p14:creationId xmlns:p14="http://schemas.microsoft.com/office/powerpoint/2010/main" val="1730483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8123C-14C0-5275-CA5D-B60C355DE6F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19B6F04-4DBE-B7B1-6597-95967AFC18FE}"/>
              </a:ext>
            </a:extLst>
          </p:cNvPr>
          <p:cNvSpPr>
            <a:spLocks noGrp="1"/>
          </p:cNvSpPr>
          <p:nvPr>
            <p:ph type="title"/>
          </p:nvPr>
        </p:nvSpPr>
        <p:spPr>
          <a:xfrm>
            <a:off x="529441" y="0"/>
            <a:ext cx="10515600" cy="1325563"/>
          </a:xfrm>
        </p:spPr>
        <p:txBody>
          <a:bodyPr/>
          <a:lstStyle/>
          <a:p>
            <a:pPr fontAlgn="base"/>
            <a:r>
              <a:rPr lang="en-US" noProof="1"/>
              <a:t>Trabalhos relacionados</a:t>
            </a:r>
          </a:p>
        </p:txBody>
      </p:sp>
      <p:sp>
        <p:nvSpPr>
          <p:cNvPr id="4" name="Slide Number Placeholder 3">
            <a:extLst>
              <a:ext uri="{FF2B5EF4-FFF2-40B4-BE49-F238E27FC236}">
                <a16:creationId xmlns:a16="http://schemas.microsoft.com/office/drawing/2014/main" id="{6C501EB7-F6C5-F969-A1A6-8110ADCA1B9C}"/>
              </a:ext>
            </a:extLst>
          </p:cNvPr>
          <p:cNvSpPr>
            <a:spLocks noGrp="1"/>
          </p:cNvSpPr>
          <p:nvPr>
            <p:ph type="sldNum" sz="quarter" idx="12"/>
          </p:nvPr>
        </p:nvSpPr>
        <p:spPr/>
        <p:txBody>
          <a:bodyPr/>
          <a:lstStyle/>
          <a:p>
            <a:fld id="{1A7E88B7-70CE-4035-AE73-13FA6FB985D4}" type="slidenum">
              <a:rPr lang="en-US" noProof="1" smtClean="0"/>
              <a:t>7</a:t>
            </a:fld>
            <a:endParaRPr lang="en-US" noProof="1"/>
          </a:p>
        </p:txBody>
      </p:sp>
      <p:sp>
        <p:nvSpPr>
          <p:cNvPr id="7" name="Shape 3">
            <a:extLst>
              <a:ext uri="{FF2B5EF4-FFF2-40B4-BE49-F238E27FC236}">
                <a16:creationId xmlns:a16="http://schemas.microsoft.com/office/drawing/2014/main" id="{21DDE153-A280-A470-74A3-2B39774E30D0}"/>
              </a:ext>
            </a:extLst>
          </p:cNvPr>
          <p:cNvSpPr/>
          <p:nvPr/>
        </p:nvSpPr>
        <p:spPr>
          <a:xfrm>
            <a:off x="777240" y="1089152"/>
            <a:ext cx="3154680" cy="4315968"/>
          </a:xfrm>
          <a:prstGeom prst="roundRect">
            <a:avLst/>
          </a:prstGeom>
          <a:solidFill>
            <a:srgbClr val="EAF1F7"/>
          </a:solidFill>
          <a:ln w="12700">
            <a:solidFill>
              <a:srgbClr val="C8D3E0"/>
            </a:solidFill>
            <a:prstDash val="solid"/>
          </a:ln>
        </p:spPr>
        <p:txBody>
          <a:bodyPr/>
          <a:lstStyle/>
          <a:p>
            <a:endParaRPr lang="en-US" noProof="1"/>
          </a:p>
        </p:txBody>
      </p:sp>
      <p:sp>
        <p:nvSpPr>
          <p:cNvPr id="8" name="Text 4">
            <a:extLst>
              <a:ext uri="{FF2B5EF4-FFF2-40B4-BE49-F238E27FC236}">
                <a16:creationId xmlns:a16="http://schemas.microsoft.com/office/drawing/2014/main" id="{B4703585-684E-F4FD-C76F-2BC28B81F8CE}"/>
              </a:ext>
            </a:extLst>
          </p:cNvPr>
          <p:cNvSpPr/>
          <p:nvPr/>
        </p:nvSpPr>
        <p:spPr>
          <a:xfrm>
            <a:off x="978408" y="1363472"/>
            <a:ext cx="2697480" cy="530352"/>
          </a:xfrm>
          <a:prstGeom prst="rect">
            <a:avLst/>
          </a:prstGeom>
          <a:noFill/>
          <a:ln/>
        </p:spPr>
        <p:txBody>
          <a:bodyPr wrap="square" lIns="0" tIns="0" rIns="0" bIns="0" rtlCol="0" anchor="ctr"/>
          <a:lstStyle/>
          <a:p>
            <a:pPr marL="0" indent="0" algn="ctr">
              <a:buNone/>
            </a:pPr>
            <a:r>
              <a:rPr lang="en-US" sz="1700" b="1" noProof="1">
                <a:solidFill>
                  <a:srgbClr val="10253F"/>
                </a:solidFill>
              </a:rPr>
              <a:t>NAS para classificação</a:t>
            </a:r>
            <a:endParaRPr lang="en-US" sz="1700" noProof="1"/>
          </a:p>
        </p:txBody>
      </p:sp>
      <p:sp>
        <p:nvSpPr>
          <p:cNvPr id="9" name="Text 5">
            <a:extLst>
              <a:ext uri="{FF2B5EF4-FFF2-40B4-BE49-F238E27FC236}">
                <a16:creationId xmlns:a16="http://schemas.microsoft.com/office/drawing/2014/main" id="{A58E3874-760C-3B06-EAB6-BBD0F84261DD}"/>
              </a:ext>
            </a:extLst>
          </p:cNvPr>
          <p:cNvSpPr/>
          <p:nvPr/>
        </p:nvSpPr>
        <p:spPr>
          <a:xfrm>
            <a:off x="978408" y="2131568"/>
            <a:ext cx="2724912" cy="2651760"/>
          </a:xfrm>
          <a:prstGeom prst="rect">
            <a:avLst/>
          </a:prstGeom>
          <a:noFill/>
          <a:ln/>
        </p:spPr>
        <p:txBody>
          <a:bodyPr wrap="square" lIns="0" tIns="0" rIns="0" bIns="0" rtlCol="0" anchor="ctr"/>
          <a:lstStyle/>
          <a:p>
            <a:pPr marL="0" indent="0" algn="ctr">
              <a:buNone/>
            </a:pPr>
            <a:r>
              <a:rPr lang="en-US" noProof="1">
                <a:solidFill>
                  <a:srgbClr val="1C2430"/>
                </a:solidFill>
              </a:rPr>
              <a:t>A</a:t>
            </a:r>
            <a:r>
              <a:rPr lang="pt-BR" noProof="1">
                <a:solidFill>
                  <a:srgbClr val="1C2430"/>
                </a:solidFill>
              </a:rPr>
              <a:t> literatura inclui abordagens por reinforcement learning, algoritmos evolutivos e métodos differentiable. </a:t>
            </a:r>
          </a:p>
          <a:p>
            <a:pPr marL="0" indent="0" algn="ctr">
              <a:buNone/>
            </a:pPr>
            <a:endParaRPr lang="pt-BR" noProof="1">
              <a:solidFill>
                <a:srgbClr val="1C2430"/>
              </a:solidFill>
            </a:endParaRPr>
          </a:p>
          <a:p>
            <a:pPr marL="0" indent="0" algn="ctr">
              <a:buNone/>
            </a:pPr>
            <a:r>
              <a:rPr lang="pt-BR" noProof="1">
                <a:solidFill>
                  <a:srgbClr val="1C2430"/>
                </a:solidFill>
              </a:rPr>
              <a:t>O DARTS se consolidou porque reduz o custo de busca ao tratar NAS como otimização bi-level em um supernet treinado por gradiente.</a:t>
            </a:r>
            <a:endParaRPr lang="en-US" noProof="1"/>
          </a:p>
        </p:txBody>
      </p:sp>
      <p:sp>
        <p:nvSpPr>
          <p:cNvPr id="10" name="Shape 6">
            <a:extLst>
              <a:ext uri="{FF2B5EF4-FFF2-40B4-BE49-F238E27FC236}">
                <a16:creationId xmlns:a16="http://schemas.microsoft.com/office/drawing/2014/main" id="{BEA96250-8BA2-5470-D49F-12111A428A96}"/>
              </a:ext>
            </a:extLst>
          </p:cNvPr>
          <p:cNvSpPr/>
          <p:nvPr/>
        </p:nvSpPr>
        <p:spPr>
          <a:xfrm>
            <a:off x="4187952" y="1089152"/>
            <a:ext cx="3154680" cy="4315968"/>
          </a:xfrm>
          <a:prstGeom prst="roundRect">
            <a:avLst/>
          </a:prstGeom>
          <a:solidFill>
            <a:srgbClr val="DCEFE9"/>
          </a:solidFill>
          <a:ln w="12700">
            <a:solidFill>
              <a:srgbClr val="C8D3E0"/>
            </a:solidFill>
            <a:prstDash val="solid"/>
          </a:ln>
        </p:spPr>
        <p:txBody>
          <a:bodyPr/>
          <a:lstStyle/>
          <a:p>
            <a:endParaRPr lang="en-US" noProof="1"/>
          </a:p>
        </p:txBody>
      </p:sp>
      <p:sp>
        <p:nvSpPr>
          <p:cNvPr id="11" name="Text 7">
            <a:extLst>
              <a:ext uri="{FF2B5EF4-FFF2-40B4-BE49-F238E27FC236}">
                <a16:creationId xmlns:a16="http://schemas.microsoft.com/office/drawing/2014/main" id="{B2373546-866A-62C6-B066-2628A2D28FCE}"/>
              </a:ext>
            </a:extLst>
          </p:cNvPr>
          <p:cNvSpPr/>
          <p:nvPr/>
        </p:nvSpPr>
        <p:spPr>
          <a:xfrm>
            <a:off x="4389120" y="1363472"/>
            <a:ext cx="2697480" cy="530352"/>
          </a:xfrm>
          <a:prstGeom prst="rect">
            <a:avLst/>
          </a:prstGeom>
          <a:noFill/>
          <a:ln/>
        </p:spPr>
        <p:txBody>
          <a:bodyPr wrap="square" lIns="0" tIns="0" rIns="0" bIns="0" rtlCol="0" anchor="ctr"/>
          <a:lstStyle/>
          <a:p>
            <a:pPr marL="0" indent="0" algn="ctr">
              <a:buNone/>
            </a:pPr>
            <a:r>
              <a:rPr lang="en-US" sz="1700" b="1" noProof="1">
                <a:solidFill>
                  <a:srgbClr val="10253F"/>
                </a:solidFill>
              </a:rPr>
              <a:t>NAS para detecção</a:t>
            </a:r>
            <a:endParaRPr lang="en-US" sz="1700" noProof="1"/>
          </a:p>
        </p:txBody>
      </p:sp>
      <p:sp>
        <p:nvSpPr>
          <p:cNvPr id="12" name="Text 8">
            <a:extLst>
              <a:ext uri="{FF2B5EF4-FFF2-40B4-BE49-F238E27FC236}">
                <a16:creationId xmlns:a16="http://schemas.microsoft.com/office/drawing/2014/main" id="{840D905B-A7C3-1003-37C5-39F649F40AB4}"/>
              </a:ext>
            </a:extLst>
          </p:cNvPr>
          <p:cNvSpPr/>
          <p:nvPr/>
        </p:nvSpPr>
        <p:spPr>
          <a:xfrm>
            <a:off x="4389120" y="2131568"/>
            <a:ext cx="2724912" cy="2651760"/>
          </a:xfrm>
          <a:prstGeom prst="rect">
            <a:avLst/>
          </a:prstGeom>
          <a:noFill/>
          <a:ln/>
        </p:spPr>
        <p:txBody>
          <a:bodyPr wrap="square" lIns="0" tIns="0" rIns="0" bIns="0" rtlCol="0" anchor="ctr"/>
          <a:lstStyle/>
          <a:p>
            <a:pPr marL="0" indent="0" algn="just">
              <a:buNone/>
            </a:pPr>
            <a:r>
              <a:rPr lang="en-US" noProof="1">
                <a:solidFill>
                  <a:srgbClr val="1C2430"/>
                </a:solidFill>
              </a:rPr>
              <a:t>O</a:t>
            </a:r>
            <a:r>
              <a:rPr lang="pt-BR" noProof="1">
                <a:solidFill>
                  <a:srgbClr val="1C2430"/>
                </a:solidFill>
              </a:rPr>
              <a:t>s trabalhos anteriores podem ser organizados em três linhas: </a:t>
            </a:r>
          </a:p>
          <a:p>
            <a:pPr marL="285750" indent="-285750" algn="just">
              <a:buFont typeface="Arial" panose="020B0604020202020204" pitchFamily="34" charset="0"/>
              <a:buChar char="•"/>
            </a:pPr>
            <a:r>
              <a:rPr lang="pt-BR" noProof="1">
                <a:solidFill>
                  <a:srgbClr val="1C2430"/>
                </a:solidFill>
              </a:rPr>
              <a:t>busca apenas do backbone, </a:t>
            </a:r>
          </a:p>
          <a:p>
            <a:pPr marL="285750" indent="-285750" algn="just">
              <a:buFont typeface="Arial" panose="020B0604020202020204" pitchFamily="34" charset="0"/>
              <a:buChar char="•"/>
            </a:pPr>
            <a:r>
              <a:rPr lang="pt-BR" noProof="1">
                <a:solidFill>
                  <a:srgbClr val="1C2430"/>
                </a:solidFill>
              </a:rPr>
              <a:t>busca apenas da FPN, </a:t>
            </a:r>
          </a:p>
          <a:p>
            <a:pPr marL="285750" indent="-285750" algn="just">
              <a:buFont typeface="Arial" panose="020B0604020202020204" pitchFamily="34" charset="0"/>
              <a:buChar char="•"/>
            </a:pPr>
            <a:r>
              <a:rPr lang="pt-BR" noProof="1">
                <a:solidFill>
                  <a:srgbClr val="1C2430"/>
                </a:solidFill>
              </a:rPr>
              <a:t>ou busca conjunta de backbone e FPN. </a:t>
            </a:r>
          </a:p>
          <a:p>
            <a:pPr marL="0" indent="0" algn="ctr">
              <a:buNone/>
            </a:pPr>
            <a:endParaRPr lang="pt-BR" noProof="1">
              <a:solidFill>
                <a:srgbClr val="1C2430"/>
              </a:solidFill>
            </a:endParaRPr>
          </a:p>
          <a:p>
            <a:pPr marL="0" indent="0" algn="ctr">
              <a:buNone/>
            </a:pPr>
            <a:r>
              <a:rPr lang="pt-BR" noProof="1">
                <a:solidFill>
                  <a:srgbClr val="1C2430"/>
                </a:solidFill>
              </a:rPr>
              <a:t>O problema é que muitos desses métodos ainda exigem alto custo de busca.</a:t>
            </a:r>
            <a:endParaRPr lang="en-US" noProof="1"/>
          </a:p>
        </p:txBody>
      </p:sp>
      <p:sp>
        <p:nvSpPr>
          <p:cNvPr id="13" name="Shape 9">
            <a:extLst>
              <a:ext uri="{FF2B5EF4-FFF2-40B4-BE49-F238E27FC236}">
                <a16:creationId xmlns:a16="http://schemas.microsoft.com/office/drawing/2014/main" id="{EC023AE5-2EF4-E20E-E0B5-33492FD1CE33}"/>
              </a:ext>
            </a:extLst>
          </p:cNvPr>
          <p:cNvSpPr/>
          <p:nvPr/>
        </p:nvSpPr>
        <p:spPr>
          <a:xfrm>
            <a:off x="7598664" y="1089152"/>
            <a:ext cx="3154680" cy="4315968"/>
          </a:xfrm>
          <a:prstGeom prst="roundRect">
            <a:avLst/>
          </a:prstGeom>
          <a:solidFill>
            <a:srgbClr val="F0ECF8"/>
          </a:solidFill>
          <a:ln w="12700">
            <a:solidFill>
              <a:srgbClr val="C8D3E0"/>
            </a:solidFill>
            <a:prstDash val="solid"/>
          </a:ln>
        </p:spPr>
        <p:txBody>
          <a:bodyPr/>
          <a:lstStyle/>
          <a:p>
            <a:endParaRPr lang="en-US" noProof="1"/>
          </a:p>
        </p:txBody>
      </p:sp>
      <p:sp>
        <p:nvSpPr>
          <p:cNvPr id="14" name="Text 10">
            <a:extLst>
              <a:ext uri="{FF2B5EF4-FFF2-40B4-BE49-F238E27FC236}">
                <a16:creationId xmlns:a16="http://schemas.microsoft.com/office/drawing/2014/main" id="{7A12821C-88B8-A04B-22FF-2A607211C520}"/>
              </a:ext>
            </a:extLst>
          </p:cNvPr>
          <p:cNvSpPr/>
          <p:nvPr/>
        </p:nvSpPr>
        <p:spPr>
          <a:xfrm>
            <a:off x="7799832" y="1363472"/>
            <a:ext cx="2697480" cy="530352"/>
          </a:xfrm>
          <a:prstGeom prst="rect">
            <a:avLst/>
          </a:prstGeom>
          <a:noFill/>
          <a:ln/>
        </p:spPr>
        <p:txBody>
          <a:bodyPr wrap="square" lIns="0" tIns="0" rIns="0" bIns="0" rtlCol="0" anchor="ctr"/>
          <a:lstStyle/>
          <a:p>
            <a:pPr marL="0" indent="0" algn="ctr">
              <a:buNone/>
            </a:pPr>
            <a:r>
              <a:rPr lang="en-US" sz="1700" b="1" noProof="1">
                <a:solidFill>
                  <a:srgbClr val="10253F"/>
                </a:solidFill>
              </a:rPr>
              <a:t>NAS para segmentação</a:t>
            </a:r>
            <a:endParaRPr lang="en-US" sz="1700" noProof="1"/>
          </a:p>
        </p:txBody>
      </p:sp>
      <p:sp>
        <p:nvSpPr>
          <p:cNvPr id="15" name="Text 11">
            <a:extLst>
              <a:ext uri="{FF2B5EF4-FFF2-40B4-BE49-F238E27FC236}">
                <a16:creationId xmlns:a16="http://schemas.microsoft.com/office/drawing/2014/main" id="{32EA777A-014D-ED7D-A5CA-225616867FCF}"/>
              </a:ext>
            </a:extLst>
          </p:cNvPr>
          <p:cNvSpPr/>
          <p:nvPr/>
        </p:nvSpPr>
        <p:spPr>
          <a:xfrm>
            <a:off x="7854696" y="2184018"/>
            <a:ext cx="2642616" cy="2640585"/>
          </a:xfrm>
          <a:prstGeom prst="rect">
            <a:avLst/>
          </a:prstGeom>
          <a:noFill/>
          <a:ln/>
        </p:spPr>
        <p:txBody>
          <a:bodyPr wrap="square" lIns="0" tIns="0" rIns="0" bIns="0" rtlCol="0" anchor="ctr"/>
          <a:lstStyle/>
          <a:p>
            <a:pPr marL="0" indent="0" algn="ctr">
              <a:buNone/>
            </a:pPr>
            <a:r>
              <a:rPr lang="pt-BR" noProof="1">
                <a:solidFill>
                  <a:srgbClr val="1C2430"/>
                </a:solidFill>
              </a:rPr>
              <a:t>Métodos como Auto-DeepLab e FasterSeg já mostraram que NAS pode ser aplicado à segmentação semântica.</a:t>
            </a:r>
          </a:p>
          <a:p>
            <a:pPr marL="0" indent="0" algn="ctr">
              <a:buNone/>
            </a:pPr>
            <a:endParaRPr lang="pt-BR" noProof="1">
              <a:solidFill>
                <a:srgbClr val="1C2430"/>
              </a:solidFill>
            </a:endParaRPr>
          </a:p>
          <a:p>
            <a:pPr marL="0" indent="0" algn="ctr">
              <a:buNone/>
            </a:pPr>
            <a:r>
              <a:rPr lang="pt-BR" noProof="1">
                <a:solidFill>
                  <a:srgbClr val="1C2430"/>
                </a:solidFill>
              </a:rPr>
              <a:t>Porém, o treinamento do supernet continua pesado em memória e computação.</a:t>
            </a:r>
            <a:endParaRPr lang="en-US" noProof="1"/>
          </a:p>
        </p:txBody>
      </p:sp>
      <p:sp>
        <p:nvSpPr>
          <p:cNvPr id="16" name="Shape 12">
            <a:extLst>
              <a:ext uri="{FF2B5EF4-FFF2-40B4-BE49-F238E27FC236}">
                <a16:creationId xmlns:a16="http://schemas.microsoft.com/office/drawing/2014/main" id="{04B633EA-7B07-3F32-A885-CDA836DA6A9D}"/>
              </a:ext>
            </a:extLst>
          </p:cNvPr>
          <p:cNvSpPr/>
          <p:nvPr/>
        </p:nvSpPr>
        <p:spPr>
          <a:xfrm>
            <a:off x="777240" y="5642864"/>
            <a:ext cx="10012680" cy="981456"/>
          </a:xfrm>
          <a:prstGeom prst="roundRect">
            <a:avLst/>
          </a:prstGeom>
          <a:solidFill>
            <a:srgbClr val="FFF5F5"/>
          </a:solidFill>
          <a:ln w="12700">
            <a:solidFill>
              <a:srgbClr val="A84D4D"/>
            </a:solidFill>
            <a:prstDash val="solid"/>
          </a:ln>
        </p:spPr>
        <p:txBody>
          <a:bodyPr/>
          <a:lstStyle/>
          <a:p>
            <a:endParaRPr lang="en-US" noProof="1"/>
          </a:p>
        </p:txBody>
      </p:sp>
      <p:sp>
        <p:nvSpPr>
          <p:cNvPr id="17" name="Text 13">
            <a:extLst>
              <a:ext uri="{FF2B5EF4-FFF2-40B4-BE49-F238E27FC236}">
                <a16:creationId xmlns:a16="http://schemas.microsoft.com/office/drawing/2014/main" id="{A606A57E-8940-4E54-2CEC-96A6C6EA5E2A}"/>
              </a:ext>
            </a:extLst>
          </p:cNvPr>
          <p:cNvSpPr/>
          <p:nvPr/>
        </p:nvSpPr>
        <p:spPr>
          <a:xfrm>
            <a:off x="1024128" y="5933440"/>
            <a:ext cx="9555480" cy="422910"/>
          </a:xfrm>
          <a:prstGeom prst="rect">
            <a:avLst/>
          </a:prstGeom>
          <a:noFill/>
          <a:ln/>
        </p:spPr>
        <p:txBody>
          <a:bodyPr wrap="square" lIns="0" tIns="0" rIns="0" bIns="0" rtlCol="0" anchor="ctr"/>
          <a:lstStyle/>
          <a:p>
            <a:pPr marL="0" indent="0" algn="ctr">
              <a:buNone/>
            </a:pPr>
            <a:r>
              <a:rPr lang="en-US" sz="2000" b="1" noProof="1">
                <a:solidFill>
                  <a:srgbClr val="A84D4D"/>
                </a:solidFill>
              </a:rPr>
              <a:t>Limitação comum destacada pelos autores: </a:t>
            </a:r>
            <a:r>
              <a:rPr lang="pt-BR" sz="2000" b="1" noProof="1">
                <a:solidFill>
                  <a:srgbClr val="A84D4D"/>
                </a:solidFill>
              </a:rPr>
              <a:t>NAS já foi estendido para classificação, detecção e segmentação, mas ainda falta uma abordagem que seja ao mesmo tempo eficiente em custo e reutilizável entre diferentes tarefas de visão.</a:t>
            </a:r>
            <a:endParaRPr lang="en-US" sz="2000" noProof="1"/>
          </a:p>
        </p:txBody>
      </p:sp>
    </p:spTree>
    <p:extLst>
      <p:ext uri="{BB962C8B-B14F-4D97-AF65-F5344CB8AC3E}">
        <p14:creationId xmlns:p14="http://schemas.microsoft.com/office/powerpoint/2010/main" val="2478371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3BB5C-1109-ACE5-78CC-8F539D7B759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B1EE4BD-43D6-ACF3-13C4-BAE8BD5F6676}"/>
              </a:ext>
            </a:extLst>
          </p:cNvPr>
          <p:cNvSpPr>
            <a:spLocks noGrp="1"/>
          </p:cNvSpPr>
          <p:nvPr>
            <p:ph type="title"/>
          </p:nvPr>
        </p:nvSpPr>
        <p:spPr>
          <a:xfrm>
            <a:off x="529441" y="0"/>
            <a:ext cx="10515600" cy="1325563"/>
          </a:xfrm>
        </p:spPr>
        <p:txBody>
          <a:bodyPr/>
          <a:lstStyle/>
          <a:p>
            <a:pPr fontAlgn="base"/>
            <a:r>
              <a:rPr lang="en-US" noProof="1"/>
              <a:t>Trabalhos relacionados</a:t>
            </a:r>
          </a:p>
        </p:txBody>
      </p:sp>
      <p:sp>
        <p:nvSpPr>
          <p:cNvPr id="4" name="Slide Number Placeholder 3">
            <a:extLst>
              <a:ext uri="{FF2B5EF4-FFF2-40B4-BE49-F238E27FC236}">
                <a16:creationId xmlns:a16="http://schemas.microsoft.com/office/drawing/2014/main" id="{0F06227A-C474-2260-4E96-EB2D4820367C}"/>
              </a:ext>
            </a:extLst>
          </p:cNvPr>
          <p:cNvSpPr>
            <a:spLocks noGrp="1"/>
          </p:cNvSpPr>
          <p:nvPr>
            <p:ph type="sldNum" sz="quarter" idx="12"/>
          </p:nvPr>
        </p:nvSpPr>
        <p:spPr/>
        <p:txBody>
          <a:bodyPr/>
          <a:lstStyle/>
          <a:p>
            <a:fld id="{1A7E88B7-70CE-4035-AE73-13FA6FB985D4}" type="slidenum">
              <a:rPr lang="en-US" noProof="1" smtClean="0"/>
              <a:t>8</a:t>
            </a:fld>
            <a:endParaRPr lang="en-US" noProof="1"/>
          </a:p>
        </p:txBody>
      </p:sp>
      <p:sp>
        <p:nvSpPr>
          <p:cNvPr id="3" name="Shape 3">
            <a:extLst>
              <a:ext uri="{FF2B5EF4-FFF2-40B4-BE49-F238E27FC236}">
                <a16:creationId xmlns:a16="http://schemas.microsoft.com/office/drawing/2014/main" id="{B52B1306-3D10-F63A-9250-1AA983FC1C0C}"/>
              </a:ext>
            </a:extLst>
          </p:cNvPr>
          <p:cNvSpPr/>
          <p:nvPr/>
        </p:nvSpPr>
        <p:spPr>
          <a:xfrm>
            <a:off x="701040" y="1112520"/>
            <a:ext cx="10652760" cy="1234440"/>
          </a:xfrm>
          <a:prstGeom prst="roundRect">
            <a:avLst/>
          </a:prstGeom>
          <a:solidFill>
            <a:srgbClr val="EAF1F7"/>
          </a:solidFill>
          <a:ln w="12700">
            <a:solidFill>
              <a:srgbClr val="235A8C"/>
            </a:solidFill>
            <a:prstDash val="solid"/>
          </a:ln>
        </p:spPr>
        <p:txBody>
          <a:bodyPr/>
          <a:lstStyle/>
          <a:p>
            <a:endParaRPr lang="en-US" noProof="1"/>
          </a:p>
        </p:txBody>
      </p:sp>
      <p:sp>
        <p:nvSpPr>
          <p:cNvPr id="5" name="Text 4">
            <a:extLst>
              <a:ext uri="{FF2B5EF4-FFF2-40B4-BE49-F238E27FC236}">
                <a16:creationId xmlns:a16="http://schemas.microsoft.com/office/drawing/2014/main" id="{1BA31BC6-2D70-028A-946C-5F835945D319}"/>
              </a:ext>
            </a:extLst>
          </p:cNvPr>
          <p:cNvSpPr/>
          <p:nvPr/>
        </p:nvSpPr>
        <p:spPr>
          <a:xfrm>
            <a:off x="947928" y="1632332"/>
            <a:ext cx="2926080" cy="219456"/>
          </a:xfrm>
          <a:prstGeom prst="rect">
            <a:avLst/>
          </a:prstGeom>
          <a:noFill/>
          <a:ln/>
        </p:spPr>
        <p:txBody>
          <a:bodyPr wrap="square" lIns="0" tIns="0" rIns="0" bIns="0" rtlCol="0" anchor="ctr"/>
          <a:lstStyle/>
          <a:p>
            <a:pPr marL="0" indent="0" algn="ctr">
              <a:buNone/>
            </a:pPr>
            <a:r>
              <a:rPr lang="en-US" sz="2800" b="1" noProof="1">
                <a:solidFill>
                  <a:srgbClr val="10253F"/>
                </a:solidFill>
              </a:rPr>
              <a:t>DARTS</a:t>
            </a:r>
            <a:endParaRPr lang="en-US" sz="1650" noProof="1"/>
          </a:p>
        </p:txBody>
      </p:sp>
      <p:sp>
        <p:nvSpPr>
          <p:cNvPr id="6" name="Text 5">
            <a:extLst>
              <a:ext uri="{FF2B5EF4-FFF2-40B4-BE49-F238E27FC236}">
                <a16:creationId xmlns:a16="http://schemas.microsoft.com/office/drawing/2014/main" id="{38B82E0E-C6E2-C4AF-F621-50D133003DC9}"/>
              </a:ext>
            </a:extLst>
          </p:cNvPr>
          <p:cNvSpPr/>
          <p:nvPr/>
        </p:nvSpPr>
        <p:spPr>
          <a:xfrm>
            <a:off x="3901440" y="1398524"/>
            <a:ext cx="6903720" cy="623570"/>
          </a:xfrm>
          <a:prstGeom prst="rect">
            <a:avLst/>
          </a:prstGeom>
          <a:noFill/>
          <a:ln/>
        </p:spPr>
        <p:txBody>
          <a:bodyPr wrap="square" lIns="0" tIns="0" rIns="0" bIns="0" rtlCol="0" anchor="ctr"/>
          <a:lstStyle/>
          <a:p>
            <a:pPr marL="0" indent="0">
              <a:buNone/>
            </a:pPr>
            <a:r>
              <a:rPr lang="en-US" noProof="1">
                <a:solidFill>
                  <a:srgbClr val="1C2430"/>
                </a:solidFill>
              </a:rPr>
              <a:t>T</a:t>
            </a:r>
            <a:r>
              <a:rPr lang="pt-BR" noProof="1">
                <a:solidFill>
                  <a:srgbClr val="1C2430"/>
                </a:solidFill>
              </a:rPr>
              <a:t>rabalhos recentes tentam reduzir o custo do DARTS por três estratégias principais: sampling de sub-redes, ativação parcial de canais e pruning progressivo de operações fracas.</a:t>
            </a:r>
            <a:endParaRPr lang="en-US" noProof="1"/>
          </a:p>
        </p:txBody>
      </p:sp>
      <p:sp>
        <p:nvSpPr>
          <p:cNvPr id="18" name="Shape 6">
            <a:extLst>
              <a:ext uri="{FF2B5EF4-FFF2-40B4-BE49-F238E27FC236}">
                <a16:creationId xmlns:a16="http://schemas.microsoft.com/office/drawing/2014/main" id="{4C9F5F7C-C3C5-12B4-65F2-F967D5716A6A}"/>
              </a:ext>
            </a:extLst>
          </p:cNvPr>
          <p:cNvSpPr/>
          <p:nvPr/>
        </p:nvSpPr>
        <p:spPr>
          <a:xfrm>
            <a:off x="701040" y="2529840"/>
            <a:ext cx="10652760" cy="991870"/>
          </a:xfrm>
          <a:prstGeom prst="roundRect">
            <a:avLst/>
          </a:prstGeom>
          <a:solidFill>
            <a:srgbClr val="FFF3E6"/>
          </a:solidFill>
          <a:ln w="12700">
            <a:solidFill>
              <a:srgbClr val="D88937"/>
            </a:solidFill>
            <a:prstDash val="solid"/>
          </a:ln>
        </p:spPr>
        <p:txBody>
          <a:bodyPr/>
          <a:lstStyle/>
          <a:p>
            <a:endParaRPr lang="en-US" noProof="1"/>
          </a:p>
        </p:txBody>
      </p:sp>
      <p:sp>
        <p:nvSpPr>
          <p:cNvPr id="20" name="Text 8">
            <a:extLst>
              <a:ext uri="{FF2B5EF4-FFF2-40B4-BE49-F238E27FC236}">
                <a16:creationId xmlns:a16="http://schemas.microsoft.com/office/drawing/2014/main" id="{3342C9E2-EAB8-24E6-7A95-7FBE81BB60EF}"/>
              </a:ext>
            </a:extLst>
          </p:cNvPr>
          <p:cNvSpPr/>
          <p:nvPr/>
        </p:nvSpPr>
        <p:spPr>
          <a:xfrm>
            <a:off x="1207477" y="2653729"/>
            <a:ext cx="9570251" cy="699198"/>
          </a:xfrm>
          <a:prstGeom prst="rect">
            <a:avLst/>
          </a:prstGeom>
          <a:noFill/>
          <a:ln/>
        </p:spPr>
        <p:txBody>
          <a:bodyPr wrap="square" lIns="0" tIns="0" rIns="0" bIns="0" rtlCol="0" anchor="ctr"/>
          <a:lstStyle/>
          <a:p>
            <a:r>
              <a:rPr lang="pt-BR" b="1" dirty="0"/>
              <a:t>Vantagem dessas abordagens:</a:t>
            </a:r>
            <a:r>
              <a:rPr lang="pt-BR" dirty="0"/>
              <a:t> reduzir o custo de memória do </a:t>
            </a:r>
            <a:r>
              <a:rPr lang="pt-BR" dirty="0" err="1"/>
              <a:t>supernet</a:t>
            </a:r>
            <a:r>
              <a:rPr lang="pt-BR" dirty="0"/>
              <a:t>, tornando a busca mais leve do que o DARTS original. </a:t>
            </a:r>
            <a:endParaRPr lang="en-US" noProof="1"/>
          </a:p>
        </p:txBody>
      </p:sp>
      <p:sp>
        <p:nvSpPr>
          <p:cNvPr id="21" name="Shape 9">
            <a:extLst>
              <a:ext uri="{FF2B5EF4-FFF2-40B4-BE49-F238E27FC236}">
                <a16:creationId xmlns:a16="http://schemas.microsoft.com/office/drawing/2014/main" id="{A59B91AB-E086-F20F-A014-AA963A8D77EB}"/>
              </a:ext>
            </a:extLst>
          </p:cNvPr>
          <p:cNvSpPr/>
          <p:nvPr/>
        </p:nvSpPr>
        <p:spPr>
          <a:xfrm>
            <a:off x="701040" y="3704590"/>
            <a:ext cx="10652760" cy="1234440"/>
          </a:xfrm>
          <a:prstGeom prst="roundRect">
            <a:avLst/>
          </a:prstGeom>
          <a:solidFill>
            <a:srgbClr val="F0ECF8"/>
          </a:solidFill>
          <a:ln w="12700">
            <a:solidFill>
              <a:srgbClr val="1E7A8A"/>
            </a:solidFill>
            <a:prstDash val="solid"/>
          </a:ln>
        </p:spPr>
        <p:txBody>
          <a:bodyPr/>
          <a:lstStyle/>
          <a:p>
            <a:endParaRPr lang="en-US" noProof="1"/>
          </a:p>
        </p:txBody>
      </p:sp>
      <p:sp>
        <p:nvSpPr>
          <p:cNvPr id="23" name="Text 11">
            <a:extLst>
              <a:ext uri="{FF2B5EF4-FFF2-40B4-BE49-F238E27FC236}">
                <a16:creationId xmlns:a16="http://schemas.microsoft.com/office/drawing/2014/main" id="{44A82CB3-D5C7-D120-D3D6-BAA253A6C3F0}"/>
              </a:ext>
            </a:extLst>
          </p:cNvPr>
          <p:cNvSpPr/>
          <p:nvPr/>
        </p:nvSpPr>
        <p:spPr>
          <a:xfrm>
            <a:off x="1207477" y="4096512"/>
            <a:ext cx="9597683" cy="457200"/>
          </a:xfrm>
          <a:prstGeom prst="rect">
            <a:avLst/>
          </a:prstGeom>
          <a:noFill/>
          <a:ln/>
        </p:spPr>
        <p:txBody>
          <a:bodyPr wrap="square" lIns="0" tIns="0" rIns="0" bIns="0" rtlCol="0" anchor="ctr"/>
          <a:lstStyle/>
          <a:p>
            <a:r>
              <a:rPr lang="pt-BR" b="1" dirty="0"/>
              <a:t>Limitação identificada:</a:t>
            </a:r>
            <a:r>
              <a:rPr lang="pt-BR" dirty="0"/>
              <a:t> muitas dessas soluções tornam a estrutura do </a:t>
            </a:r>
            <a:r>
              <a:rPr lang="pt-BR" dirty="0" err="1"/>
              <a:t>supernet</a:t>
            </a:r>
            <a:r>
              <a:rPr lang="pt-BR" dirty="0"/>
              <a:t> dinâmica ao longo do treinamento, o que pode dificultar a convergência, especialmente em tarefas mais pesadas como detecção e segmentação.</a:t>
            </a:r>
            <a:endParaRPr lang="en-US" noProof="1"/>
          </a:p>
        </p:txBody>
      </p:sp>
      <p:sp>
        <p:nvSpPr>
          <p:cNvPr id="24" name="Text 12">
            <a:extLst>
              <a:ext uri="{FF2B5EF4-FFF2-40B4-BE49-F238E27FC236}">
                <a16:creationId xmlns:a16="http://schemas.microsoft.com/office/drawing/2014/main" id="{4FD4AFC6-78AF-97A2-FB15-BDD8C3329CE3}"/>
              </a:ext>
            </a:extLst>
          </p:cNvPr>
          <p:cNvSpPr/>
          <p:nvPr/>
        </p:nvSpPr>
        <p:spPr>
          <a:xfrm>
            <a:off x="838200" y="5745480"/>
            <a:ext cx="10515600" cy="82296"/>
          </a:xfrm>
          <a:prstGeom prst="rect">
            <a:avLst/>
          </a:prstGeom>
          <a:noFill/>
          <a:ln/>
        </p:spPr>
        <p:txBody>
          <a:bodyPr wrap="square" lIns="0" tIns="0" rIns="0" bIns="0" rtlCol="0" anchor="ctr"/>
          <a:lstStyle/>
          <a:p>
            <a:pPr marL="0" indent="0" algn="ctr">
              <a:buNone/>
            </a:pPr>
            <a:r>
              <a:rPr lang="en-US" sz="2400" b="1" noProof="1">
                <a:solidFill>
                  <a:srgbClr val="3D7A5C"/>
                </a:solidFill>
              </a:rPr>
              <a:t>Lacuna que o artigo ocupa: </a:t>
            </a:r>
            <a:r>
              <a:rPr lang="pt-BR" sz="2400" b="1" noProof="1">
                <a:solidFill>
                  <a:srgbClr val="3D7A5C"/>
                </a:solidFill>
              </a:rPr>
              <a:t>o EasyNAS reduz o custo sem depender dessa dinâmica de sampling ou pruning como mecanismo principal. A proposta é manter um supernet mais estável, usando operator merging, dynamic channel refinement e uma ferramenta configurável de search space to supernet conversion.</a:t>
            </a:r>
            <a:endParaRPr lang="en-US" sz="2400" noProof="1"/>
          </a:p>
        </p:txBody>
      </p:sp>
    </p:spTree>
    <p:extLst>
      <p:ext uri="{BB962C8B-B14F-4D97-AF65-F5344CB8AC3E}">
        <p14:creationId xmlns:p14="http://schemas.microsoft.com/office/powerpoint/2010/main" val="3043264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D1284-ABEA-F2E8-78DE-CC0A6483FCC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847F27F-0619-4660-8CD3-7C45763631F8}"/>
              </a:ext>
            </a:extLst>
          </p:cNvPr>
          <p:cNvSpPr>
            <a:spLocks noGrp="1"/>
          </p:cNvSpPr>
          <p:nvPr>
            <p:ph type="title"/>
          </p:nvPr>
        </p:nvSpPr>
        <p:spPr>
          <a:xfrm>
            <a:off x="529441" y="0"/>
            <a:ext cx="10515600" cy="1325563"/>
          </a:xfrm>
        </p:spPr>
        <p:txBody>
          <a:bodyPr/>
          <a:lstStyle/>
          <a:p>
            <a:pPr fontAlgn="base"/>
            <a:r>
              <a:rPr lang="en-US" noProof="1"/>
              <a:t>Trabalhos relacionados</a:t>
            </a:r>
          </a:p>
        </p:txBody>
      </p:sp>
      <p:sp>
        <p:nvSpPr>
          <p:cNvPr id="4" name="Slide Number Placeholder 3">
            <a:extLst>
              <a:ext uri="{FF2B5EF4-FFF2-40B4-BE49-F238E27FC236}">
                <a16:creationId xmlns:a16="http://schemas.microsoft.com/office/drawing/2014/main" id="{03FA119D-2AB4-47E3-AAEA-D9178DDF65B7}"/>
              </a:ext>
            </a:extLst>
          </p:cNvPr>
          <p:cNvSpPr>
            <a:spLocks noGrp="1"/>
          </p:cNvSpPr>
          <p:nvPr>
            <p:ph type="sldNum" sz="quarter" idx="12"/>
          </p:nvPr>
        </p:nvSpPr>
        <p:spPr/>
        <p:txBody>
          <a:bodyPr/>
          <a:lstStyle/>
          <a:p>
            <a:fld id="{1A7E88B7-70CE-4035-AE73-13FA6FB985D4}" type="slidenum">
              <a:rPr lang="en-US" noProof="1" smtClean="0"/>
              <a:t>9</a:t>
            </a:fld>
            <a:endParaRPr lang="en-US" noProof="1"/>
          </a:p>
        </p:txBody>
      </p:sp>
      <p:sp>
        <p:nvSpPr>
          <p:cNvPr id="18" name="Shape 6">
            <a:extLst>
              <a:ext uri="{FF2B5EF4-FFF2-40B4-BE49-F238E27FC236}">
                <a16:creationId xmlns:a16="http://schemas.microsoft.com/office/drawing/2014/main" id="{043CF8C3-2786-A6B4-B361-BC42FA655EF5}"/>
              </a:ext>
            </a:extLst>
          </p:cNvPr>
          <p:cNvSpPr/>
          <p:nvPr/>
        </p:nvSpPr>
        <p:spPr>
          <a:xfrm>
            <a:off x="1230925" y="1230923"/>
            <a:ext cx="9718430" cy="4911969"/>
          </a:xfrm>
          <a:prstGeom prst="roundRect">
            <a:avLst/>
          </a:prstGeom>
          <a:solidFill>
            <a:srgbClr val="FFF3E6"/>
          </a:solidFill>
          <a:ln w="12700">
            <a:solidFill>
              <a:srgbClr val="D88937"/>
            </a:solidFill>
            <a:prstDash val="solid"/>
          </a:ln>
        </p:spPr>
        <p:txBody>
          <a:bodyPr/>
          <a:lstStyle/>
          <a:p>
            <a:endParaRPr lang="en-US" noProof="1"/>
          </a:p>
        </p:txBody>
      </p:sp>
      <p:pic>
        <p:nvPicPr>
          <p:cNvPr id="8" name="Picture 7">
            <a:extLst>
              <a:ext uri="{FF2B5EF4-FFF2-40B4-BE49-F238E27FC236}">
                <a16:creationId xmlns:a16="http://schemas.microsoft.com/office/drawing/2014/main" id="{34849F06-4041-25A4-91C2-43F6D73FC8CE}"/>
              </a:ext>
            </a:extLst>
          </p:cNvPr>
          <p:cNvPicPr>
            <a:picLocks noChangeAspect="1"/>
          </p:cNvPicPr>
          <p:nvPr/>
        </p:nvPicPr>
        <p:blipFill>
          <a:blip r:embed="rId3"/>
          <a:stretch>
            <a:fillRect/>
          </a:stretch>
        </p:blipFill>
        <p:spPr>
          <a:xfrm>
            <a:off x="1666732" y="1589492"/>
            <a:ext cx="8858535" cy="4136216"/>
          </a:xfrm>
          <a:prstGeom prst="rect">
            <a:avLst/>
          </a:prstGeom>
        </p:spPr>
      </p:pic>
    </p:spTree>
    <p:extLst>
      <p:ext uri="{BB962C8B-B14F-4D97-AF65-F5344CB8AC3E}">
        <p14:creationId xmlns:p14="http://schemas.microsoft.com/office/powerpoint/2010/main" val="384303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3FFF02-0FC8-9F0B-AAB0-565FC99EA70D}"/>
              </a:ext>
            </a:extLst>
          </p:cNvPr>
          <p:cNvSpPr>
            <a:spLocks noGrp="1"/>
          </p:cNvSpPr>
          <p:nvPr>
            <p:ph type="title"/>
          </p:nvPr>
        </p:nvSpPr>
        <p:spPr>
          <a:xfrm>
            <a:off x="315686" y="-266700"/>
            <a:ext cx="10515600" cy="1325563"/>
          </a:xfrm>
        </p:spPr>
        <p:txBody>
          <a:bodyPr/>
          <a:lstStyle/>
          <a:p>
            <a:r>
              <a:rPr lang="en-US" noProof="1"/>
              <a:t>Modelo de Sistema</a:t>
            </a:r>
          </a:p>
        </p:txBody>
      </p:sp>
      <p:sp>
        <p:nvSpPr>
          <p:cNvPr id="6" name="Slide Number Placeholder 5">
            <a:extLst>
              <a:ext uri="{FF2B5EF4-FFF2-40B4-BE49-F238E27FC236}">
                <a16:creationId xmlns:a16="http://schemas.microsoft.com/office/drawing/2014/main" id="{3B121DBD-EBA2-0339-1851-ABB1ADAA1DEB}"/>
              </a:ext>
            </a:extLst>
          </p:cNvPr>
          <p:cNvSpPr>
            <a:spLocks noGrp="1"/>
          </p:cNvSpPr>
          <p:nvPr>
            <p:ph type="sldNum" sz="quarter" idx="12"/>
          </p:nvPr>
        </p:nvSpPr>
        <p:spPr/>
        <p:txBody>
          <a:bodyPr/>
          <a:lstStyle/>
          <a:p>
            <a:fld id="{1A7E88B7-70CE-4035-AE73-13FA6FB985D4}" type="slidenum">
              <a:rPr lang="en-US" noProof="1" smtClean="0"/>
              <a:t>10</a:t>
            </a:fld>
            <a:endParaRPr lang="en-US" noProof="1"/>
          </a:p>
        </p:txBody>
      </p:sp>
      <p:sp>
        <p:nvSpPr>
          <p:cNvPr id="8" name="TextBox 7">
            <a:extLst>
              <a:ext uri="{FF2B5EF4-FFF2-40B4-BE49-F238E27FC236}">
                <a16:creationId xmlns:a16="http://schemas.microsoft.com/office/drawing/2014/main" id="{115652D4-4293-20A1-894D-300E67DBD5A3}"/>
              </a:ext>
            </a:extLst>
          </p:cNvPr>
          <p:cNvSpPr txBox="1"/>
          <p:nvPr/>
        </p:nvSpPr>
        <p:spPr>
          <a:xfrm>
            <a:off x="0" y="6541354"/>
            <a:ext cx="10609385" cy="276999"/>
          </a:xfrm>
          <a:prstGeom prst="rect">
            <a:avLst/>
          </a:prstGeom>
          <a:noFill/>
        </p:spPr>
        <p:txBody>
          <a:bodyPr wrap="square">
            <a:spAutoFit/>
          </a:bodyPr>
          <a:lstStyle/>
          <a:p>
            <a:r>
              <a:rPr lang="pt-BR" sz="1200" dirty="0"/>
              <a:t>DIY </a:t>
            </a:r>
            <a:r>
              <a:rPr lang="pt-BR" sz="1200" dirty="0" err="1"/>
              <a:t>Your</a:t>
            </a:r>
            <a:r>
              <a:rPr lang="pt-BR" sz="1200" dirty="0"/>
              <a:t> </a:t>
            </a:r>
            <a:r>
              <a:rPr lang="pt-BR" sz="1200" dirty="0" err="1"/>
              <a:t>EasyNAS</a:t>
            </a:r>
            <a:r>
              <a:rPr lang="pt-BR" sz="1200" dirty="0"/>
              <a:t> for Vision: </a:t>
            </a:r>
            <a:r>
              <a:rPr lang="pt-BR" sz="1200" dirty="0" err="1"/>
              <a:t>Convolution</a:t>
            </a:r>
            <a:r>
              <a:rPr lang="pt-BR" sz="1200" dirty="0"/>
              <a:t> </a:t>
            </a:r>
            <a:r>
              <a:rPr lang="pt-BR" sz="1200" dirty="0" err="1"/>
              <a:t>Operation</a:t>
            </a:r>
            <a:r>
              <a:rPr lang="pt-BR" sz="1200" dirty="0"/>
              <a:t> </a:t>
            </a:r>
            <a:r>
              <a:rPr lang="pt-BR" sz="1200" dirty="0" err="1"/>
              <a:t>Merging</a:t>
            </a:r>
            <a:r>
              <a:rPr lang="pt-BR" sz="1200" dirty="0"/>
              <a:t>, Map </a:t>
            </a:r>
            <a:r>
              <a:rPr lang="pt-BR" sz="1200" dirty="0" err="1"/>
              <a:t>Channel</a:t>
            </a:r>
            <a:r>
              <a:rPr lang="pt-BR" sz="1200" dirty="0"/>
              <a:t> </a:t>
            </a:r>
            <a:r>
              <a:rPr lang="pt-BR" sz="1200" dirty="0" err="1"/>
              <a:t>Reducing</a:t>
            </a:r>
            <a:r>
              <a:rPr lang="pt-BR" sz="1200" dirty="0"/>
              <a:t>, </a:t>
            </a:r>
            <a:r>
              <a:rPr lang="pt-BR" sz="1200" dirty="0" err="1"/>
              <a:t>and</a:t>
            </a:r>
            <a:r>
              <a:rPr lang="pt-BR" sz="1200" dirty="0"/>
              <a:t> Search Space </a:t>
            </a:r>
            <a:r>
              <a:rPr lang="pt-BR" sz="1200" dirty="0" err="1"/>
              <a:t>to</a:t>
            </a:r>
            <a:r>
              <a:rPr lang="pt-BR" sz="1200" dirty="0"/>
              <a:t> </a:t>
            </a:r>
            <a:r>
              <a:rPr lang="pt-BR" sz="1200" dirty="0" err="1"/>
              <a:t>Supernet</a:t>
            </a:r>
            <a:r>
              <a:rPr lang="pt-BR" sz="1200" dirty="0"/>
              <a:t> </a:t>
            </a:r>
            <a:r>
              <a:rPr lang="pt-BR" sz="1200" dirty="0" err="1"/>
              <a:t>Conversion</a:t>
            </a:r>
            <a:r>
              <a:rPr lang="pt-BR" sz="1200" dirty="0"/>
              <a:t> </a:t>
            </a:r>
            <a:r>
              <a:rPr lang="pt-BR" sz="1200" dirty="0" err="1"/>
              <a:t>Tooling</a:t>
            </a:r>
            <a:r>
              <a:rPr lang="pt-BR" sz="1200" dirty="0"/>
              <a:t>, Nov. 2023.</a:t>
            </a:r>
            <a:endParaRPr lang="en-US" sz="1200" noProof="1"/>
          </a:p>
        </p:txBody>
      </p:sp>
      <p:pic>
        <p:nvPicPr>
          <p:cNvPr id="10" name="Picture 9">
            <a:extLst>
              <a:ext uri="{FF2B5EF4-FFF2-40B4-BE49-F238E27FC236}">
                <a16:creationId xmlns:a16="http://schemas.microsoft.com/office/drawing/2014/main" id="{7E8BD814-2CD6-6954-2468-3820EFE6976E}"/>
              </a:ext>
            </a:extLst>
          </p:cNvPr>
          <p:cNvPicPr>
            <a:picLocks noChangeAspect="1"/>
          </p:cNvPicPr>
          <p:nvPr/>
        </p:nvPicPr>
        <p:blipFill>
          <a:blip r:embed="rId3"/>
          <a:stretch>
            <a:fillRect/>
          </a:stretch>
        </p:blipFill>
        <p:spPr>
          <a:xfrm>
            <a:off x="503674" y="596073"/>
            <a:ext cx="11184652" cy="5665853"/>
          </a:xfrm>
          <a:prstGeom prst="rect">
            <a:avLst/>
          </a:prstGeom>
        </p:spPr>
      </p:pic>
      <p:pic>
        <p:nvPicPr>
          <p:cNvPr id="12" name="Picture 11">
            <a:extLst>
              <a:ext uri="{FF2B5EF4-FFF2-40B4-BE49-F238E27FC236}">
                <a16:creationId xmlns:a16="http://schemas.microsoft.com/office/drawing/2014/main" id="{71AEAA0F-79D5-2C62-ABAD-89AEB17A5523}"/>
              </a:ext>
            </a:extLst>
          </p:cNvPr>
          <p:cNvPicPr>
            <a:picLocks noChangeAspect="1"/>
          </p:cNvPicPr>
          <p:nvPr/>
        </p:nvPicPr>
        <p:blipFill>
          <a:blip r:embed="rId4"/>
          <a:stretch>
            <a:fillRect/>
          </a:stretch>
        </p:blipFill>
        <p:spPr>
          <a:xfrm>
            <a:off x="315686" y="5205581"/>
            <a:ext cx="2134974" cy="1243271"/>
          </a:xfrm>
          <a:prstGeom prst="rect">
            <a:avLst/>
          </a:prstGeom>
        </p:spPr>
      </p:pic>
    </p:spTree>
    <p:extLst>
      <p:ext uri="{BB962C8B-B14F-4D97-AF65-F5344CB8AC3E}">
        <p14:creationId xmlns:p14="http://schemas.microsoft.com/office/powerpoint/2010/main" val="1547259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A5107-ADCC-29A4-C248-3C50C3F83B1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E092A72-269F-4722-354E-FECDD62DD2F5}"/>
              </a:ext>
            </a:extLst>
          </p:cNvPr>
          <p:cNvSpPr>
            <a:spLocks noGrp="1"/>
          </p:cNvSpPr>
          <p:nvPr>
            <p:ph type="title"/>
          </p:nvPr>
        </p:nvSpPr>
        <p:spPr>
          <a:xfrm>
            <a:off x="315686" y="-266700"/>
            <a:ext cx="10515600" cy="1325563"/>
          </a:xfrm>
        </p:spPr>
        <p:txBody>
          <a:bodyPr/>
          <a:lstStyle/>
          <a:p>
            <a:r>
              <a:rPr lang="en-US" noProof="1"/>
              <a:t>Atomic search component</a:t>
            </a:r>
          </a:p>
        </p:txBody>
      </p:sp>
      <p:sp>
        <p:nvSpPr>
          <p:cNvPr id="6" name="Slide Number Placeholder 5">
            <a:extLst>
              <a:ext uri="{FF2B5EF4-FFF2-40B4-BE49-F238E27FC236}">
                <a16:creationId xmlns:a16="http://schemas.microsoft.com/office/drawing/2014/main" id="{E208E52A-5833-C845-671B-6E4BE80861EB}"/>
              </a:ext>
            </a:extLst>
          </p:cNvPr>
          <p:cNvSpPr>
            <a:spLocks noGrp="1"/>
          </p:cNvSpPr>
          <p:nvPr>
            <p:ph type="sldNum" sz="quarter" idx="12"/>
          </p:nvPr>
        </p:nvSpPr>
        <p:spPr/>
        <p:txBody>
          <a:bodyPr/>
          <a:lstStyle/>
          <a:p>
            <a:fld id="{1A7E88B7-70CE-4035-AE73-13FA6FB985D4}" type="slidenum">
              <a:rPr lang="en-US" noProof="1" smtClean="0"/>
              <a:t>11</a:t>
            </a:fld>
            <a:endParaRPr lang="en-US" noProof="1"/>
          </a:p>
        </p:txBody>
      </p:sp>
      <p:sp>
        <p:nvSpPr>
          <p:cNvPr id="8" name="TextBox 7">
            <a:extLst>
              <a:ext uri="{FF2B5EF4-FFF2-40B4-BE49-F238E27FC236}">
                <a16:creationId xmlns:a16="http://schemas.microsoft.com/office/drawing/2014/main" id="{6FFEDA04-F0E7-0E6D-87B4-B24F0BE71109}"/>
              </a:ext>
            </a:extLst>
          </p:cNvPr>
          <p:cNvSpPr txBox="1"/>
          <p:nvPr/>
        </p:nvSpPr>
        <p:spPr>
          <a:xfrm>
            <a:off x="0" y="6541354"/>
            <a:ext cx="10609385" cy="276999"/>
          </a:xfrm>
          <a:prstGeom prst="rect">
            <a:avLst/>
          </a:prstGeom>
          <a:noFill/>
        </p:spPr>
        <p:txBody>
          <a:bodyPr wrap="square">
            <a:spAutoFit/>
          </a:bodyPr>
          <a:lstStyle/>
          <a:p>
            <a:r>
              <a:rPr lang="pt-BR" sz="1200" dirty="0"/>
              <a:t>DIY </a:t>
            </a:r>
            <a:r>
              <a:rPr lang="pt-BR" sz="1200" dirty="0" err="1"/>
              <a:t>Your</a:t>
            </a:r>
            <a:r>
              <a:rPr lang="pt-BR" sz="1200" dirty="0"/>
              <a:t> </a:t>
            </a:r>
            <a:r>
              <a:rPr lang="pt-BR" sz="1200" dirty="0" err="1"/>
              <a:t>EasyNAS</a:t>
            </a:r>
            <a:r>
              <a:rPr lang="pt-BR" sz="1200" dirty="0"/>
              <a:t> for Vision: </a:t>
            </a:r>
            <a:r>
              <a:rPr lang="pt-BR" sz="1200" dirty="0" err="1"/>
              <a:t>Convolution</a:t>
            </a:r>
            <a:r>
              <a:rPr lang="pt-BR" sz="1200" dirty="0"/>
              <a:t> </a:t>
            </a:r>
            <a:r>
              <a:rPr lang="pt-BR" sz="1200" dirty="0" err="1"/>
              <a:t>Operation</a:t>
            </a:r>
            <a:r>
              <a:rPr lang="pt-BR" sz="1200" dirty="0"/>
              <a:t> </a:t>
            </a:r>
            <a:r>
              <a:rPr lang="pt-BR" sz="1200" dirty="0" err="1"/>
              <a:t>Merging</a:t>
            </a:r>
            <a:r>
              <a:rPr lang="pt-BR" sz="1200" dirty="0"/>
              <a:t>, Map </a:t>
            </a:r>
            <a:r>
              <a:rPr lang="pt-BR" sz="1200" dirty="0" err="1"/>
              <a:t>Channel</a:t>
            </a:r>
            <a:r>
              <a:rPr lang="pt-BR" sz="1200" dirty="0"/>
              <a:t> </a:t>
            </a:r>
            <a:r>
              <a:rPr lang="pt-BR" sz="1200" dirty="0" err="1"/>
              <a:t>Reducing</a:t>
            </a:r>
            <a:r>
              <a:rPr lang="pt-BR" sz="1200" dirty="0"/>
              <a:t>, </a:t>
            </a:r>
            <a:r>
              <a:rPr lang="pt-BR" sz="1200" dirty="0" err="1"/>
              <a:t>and</a:t>
            </a:r>
            <a:r>
              <a:rPr lang="pt-BR" sz="1200" dirty="0"/>
              <a:t> Search Space </a:t>
            </a:r>
            <a:r>
              <a:rPr lang="pt-BR" sz="1200" dirty="0" err="1"/>
              <a:t>to</a:t>
            </a:r>
            <a:r>
              <a:rPr lang="pt-BR" sz="1200" dirty="0"/>
              <a:t> </a:t>
            </a:r>
            <a:r>
              <a:rPr lang="pt-BR" sz="1200" dirty="0" err="1"/>
              <a:t>Supernet</a:t>
            </a:r>
            <a:r>
              <a:rPr lang="pt-BR" sz="1200" dirty="0"/>
              <a:t> </a:t>
            </a:r>
            <a:r>
              <a:rPr lang="pt-BR" sz="1200" dirty="0" err="1"/>
              <a:t>Conversion</a:t>
            </a:r>
            <a:r>
              <a:rPr lang="pt-BR" sz="1200" dirty="0"/>
              <a:t> </a:t>
            </a:r>
            <a:r>
              <a:rPr lang="pt-BR" sz="1200" dirty="0" err="1"/>
              <a:t>Tooling</a:t>
            </a:r>
            <a:r>
              <a:rPr lang="pt-BR" sz="1200" dirty="0"/>
              <a:t>, Nov. 2023.</a:t>
            </a:r>
            <a:endParaRPr lang="en-US" sz="1200" noProof="1"/>
          </a:p>
        </p:txBody>
      </p:sp>
      <p:pic>
        <p:nvPicPr>
          <p:cNvPr id="7" name="Picture 6">
            <a:extLst>
              <a:ext uri="{FF2B5EF4-FFF2-40B4-BE49-F238E27FC236}">
                <a16:creationId xmlns:a16="http://schemas.microsoft.com/office/drawing/2014/main" id="{3C578A4D-BBCE-10A0-9602-7B49AAE58F64}"/>
              </a:ext>
            </a:extLst>
          </p:cNvPr>
          <p:cNvPicPr>
            <a:picLocks noChangeAspect="1"/>
          </p:cNvPicPr>
          <p:nvPr/>
        </p:nvPicPr>
        <p:blipFill>
          <a:blip r:embed="rId3"/>
          <a:stretch>
            <a:fillRect/>
          </a:stretch>
        </p:blipFill>
        <p:spPr>
          <a:xfrm>
            <a:off x="875962" y="1014535"/>
            <a:ext cx="10088383" cy="1114581"/>
          </a:xfrm>
          <a:prstGeom prst="rect">
            <a:avLst/>
          </a:prstGeom>
          <a:ln w="38100">
            <a:solidFill>
              <a:schemeClr val="tx1"/>
            </a:solidFill>
          </a:ln>
        </p:spPr>
      </p:pic>
      <p:pic>
        <p:nvPicPr>
          <p:cNvPr id="11" name="Picture 10">
            <a:extLst>
              <a:ext uri="{FF2B5EF4-FFF2-40B4-BE49-F238E27FC236}">
                <a16:creationId xmlns:a16="http://schemas.microsoft.com/office/drawing/2014/main" id="{4076BCEA-5E9A-80E3-C98A-89E0C7DB9BE7}"/>
              </a:ext>
            </a:extLst>
          </p:cNvPr>
          <p:cNvPicPr>
            <a:picLocks noChangeAspect="1"/>
          </p:cNvPicPr>
          <p:nvPr/>
        </p:nvPicPr>
        <p:blipFill>
          <a:blip r:embed="rId4"/>
          <a:stretch>
            <a:fillRect/>
          </a:stretch>
        </p:blipFill>
        <p:spPr>
          <a:xfrm>
            <a:off x="2203823" y="2608471"/>
            <a:ext cx="5633745" cy="1457444"/>
          </a:xfrm>
          <a:prstGeom prst="rect">
            <a:avLst/>
          </a:prstGeom>
          <a:ln w="38100">
            <a:solidFill>
              <a:schemeClr val="tx1"/>
            </a:solidFill>
          </a:ln>
        </p:spPr>
      </p:pic>
      <p:pic>
        <p:nvPicPr>
          <p:cNvPr id="13" name="Picture 12">
            <a:extLst>
              <a:ext uri="{FF2B5EF4-FFF2-40B4-BE49-F238E27FC236}">
                <a16:creationId xmlns:a16="http://schemas.microsoft.com/office/drawing/2014/main" id="{4637B4D1-4702-C02C-8336-19CE076FD4BD}"/>
              </a:ext>
            </a:extLst>
          </p:cNvPr>
          <p:cNvPicPr>
            <a:picLocks noChangeAspect="1"/>
          </p:cNvPicPr>
          <p:nvPr/>
        </p:nvPicPr>
        <p:blipFill>
          <a:blip r:embed="rId5"/>
          <a:stretch>
            <a:fillRect/>
          </a:stretch>
        </p:blipFill>
        <p:spPr>
          <a:xfrm>
            <a:off x="2203822" y="4250919"/>
            <a:ext cx="5633745" cy="1592546"/>
          </a:xfrm>
          <a:prstGeom prst="rect">
            <a:avLst/>
          </a:prstGeom>
          <a:ln w="38100">
            <a:solidFill>
              <a:schemeClr val="tx1"/>
            </a:solidFill>
          </a:ln>
        </p:spPr>
      </p:pic>
      <p:pic>
        <p:nvPicPr>
          <p:cNvPr id="15" name="Picture 14">
            <a:extLst>
              <a:ext uri="{FF2B5EF4-FFF2-40B4-BE49-F238E27FC236}">
                <a16:creationId xmlns:a16="http://schemas.microsoft.com/office/drawing/2014/main" id="{3DA70D2A-25FD-59B7-A207-BF19089B742A}"/>
              </a:ext>
            </a:extLst>
          </p:cNvPr>
          <p:cNvPicPr>
            <a:picLocks noChangeAspect="1"/>
          </p:cNvPicPr>
          <p:nvPr/>
        </p:nvPicPr>
        <p:blipFill>
          <a:blip r:embed="rId6"/>
          <a:stretch>
            <a:fillRect/>
          </a:stretch>
        </p:blipFill>
        <p:spPr>
          <a:xfrm>
            <a:off x="8154078" y="3195145"/>
            <a:ext cx="2810267" cy="26483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TextBox 15">
            <a:extLst>
              <a:ext uri="{FF2B5EF4-FFF2-40B4-BE49-F238E27FC236}">
                <a16:creationId xmlns:a16="http://schemas.microsoft.com/office/drawing/2014/main" id="{CB116061-8B65-7386-E40D-ECB47D65CEBB}"/>
              </a:ext>
            </a:extLst>
          </p:cNvPr>
          <p:cNvSpPr txBox="1"/>
          <p:nvPr/>
        </p:nvSpPr>
        <p:spPr>
          <a:xfrm>
            <a:off x="533385" y="2737028"/>
            <a:ext cx="1670437" cy="1200329"/>
          </a:xfrm>
          <a:prstGeom prst="rect">
            <a:avLst/>
          </a:prstGeom>
          <a:noFill/>
        </p:spPr>
        <p:txBody>
          <a:bodyPr wrap="square" rtlCol="0">
            <a:spAutoFit/>
          </a:bodyPr>
          <a:lstStyle/>
          <a:p>
            <a:pPr algn="ctr"/>
            <a:r>
              <a:rPr lang="pt-BR" sz="2400" b="1" dirty="0"/>
              <a:t>Espaço de busca do bloco</a:t>
            </a:r>
          </a:p>
        </p:txBody>
      </p:sp>
      <p:sp>
        <p:nvSpPr>
          <p:cNvPr id="17" name="TextBox 16">
            <a:extLst>
              <a:ext uri="{FF2B5EF4-FFF2-40B4-BE49-F238E27FC236}">
                <a16:creationId xmlns:a16="http://schemas.microsoft.com/office/drawing/2014/main" id="{567E6928-C8BB-BCF3-0AA5-20C0AE2F2D24}"/>
              </a:ext>
            </a:extLst>
          </p:cNvPr>
          <p:cNvSpPr txBox="1"/>
          <p:nvPr/>
        </p:nvSpPr>
        <p:spPr>
          <a:xfrm>
            <a:off x="315686" y="4545269"/>
            <a:ext cx="1888136" cy="830997"/>
          </a:xfrm>
          <a:prstGeom prst="rect">
            <a:avLst/>
          </a:prstGeom>
          <a:noFill/>
        </p:spPr>
        <p:txBody>
          <a:bodyPr wrap="square" rtlCol="0">
            <a:spAutoFit/>
          </a:bodyPr>
          <a:lstStyle/>
          <a:p>
            <a:pPr algn="ctr"/>
            <a:r>
              <a:rPr lang="pt-BR" sz="2400" b="1" dirty="0"/>
              <a:t>Parâmetros arquiteturais</a:t>
            </a:r>
          </a:p>
        </p:txBody>
      </p:sp>
      <p:sp>
        <p:nvSpPr>
          <p:cNvPr id="18" name="TextBox 17">
            <a:extLst>
              <a:ext uri="{FF2B5EF4-FFF2-40B4-BE49-F238E27FC236}">
                <a16:creationId xmlns:a16="http://schemas.microsoft.com/office/drawing/2014/main" id="{287FB5B2-C82A-10BC-977D-016C53999C8C}"/>
              </a:ext>
            </a:extLst>
          </p:cNvPr>
          <p:cNvSpPr txBox="1"/>
          <p:nvPr/>
        </p:nvSpPr>
        <p:spPr>
          <a:xfrm>
            <a:off x="8304413" y="2682260"/>
            <a:ext cx="2509595" cy="461665"/>
          </a:xfrm>
          <a:prstGeom prst="rect">
            <a:avLst/>
          </a:prstGeom>
          <a:noFill/>
        </p:spPr>
        <p:txBody>
          <a:bodyPr wrap="square" rtlCol="0">
            <a:spAutoFit/>
          </a:bodyPr>
          <a:lstStyle/>
          <a:p>
            <a:pPr algn="ctr"/>
            <a:r>
              <a:rPr lang="pt-BR" sz="2400" b="1" dirty="0"/>
              <a:t>Normalização</a:t>
            </a:r>
          </a:p>
        </p:txBody>
      </p:sp>
    </p:spTree>
    <p:extLst>
      <p:ext uri="{BB962C8B-B14F-4D97-AF65-F5344CB8AC3E}">
        <p14:creationId xmlns:p14="http://schemas.microsoft.com/office/powerpoint/2010/main" val="914328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5AE8F569-6AAE-09BA-0BE8-688BB5B6CE0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5EAFC02-1629-A7E4-65EB-420FC4FA114D}"/>
              </a:ext>
            </a:extLst>
          </p:cNvPr>
          <p:cNvSpPr>
            <a:spLocks noGrp="1"/>
          </p:cNvSpPr>
          <p:nvPr>
            <p:ph type="title"/>
          </p:nvPr>
        </p:nvSpPr>
        <p:spPr>
          <a:xfrm>
            <a:off x="315686" y="-266700"/>
            <a:ext cx="10515600" cy="1325563"/>
          </a:xfrm>
        </p:spPr>
        <p:txBody>
          <a:bodyPr/>
          <a:lstStyle/>
          <a:p>
            <a:r>
              <a:rPr lang="en-US" noProof="1"/>
              <a:t>Atomic search component</a:t>
            </a:r>
          </a:p>
        </p:txBody>
      </p:sp>
      <p:sp>
        <p:nvSpPr>
          <p:cNvPr id="6" name="Slide Number Placeholder 5">
            <a:extLst>
              <a:ext uri="{FF2B5EF4-FFF2-40B4-BE49-F238E27FC236}">
                <a16:creationId xmlns:a16="http://schemas.microsoft.com/office/drawing/2014/main" id="{6F562AAD-2D96-33D0-7A5C-F75287E479A3}"/>
              </a:ext>
            </a:extLst>
          </p:cNvPr>
          <p:cNvSpPr>
            <a:spLocks noGrp="1"/>
          </p:cNvSpPr>
          <p:nvPr>
            <p:ph type="sldNum" sz="quarter" idx="12"/>
          </p:nvPr>
        </p:nvSpPr>
        <p:spPr/>
        <p:txBody>
          <a:bodyPr/>
          <a:lstStyle/>
          <a:p>
            <a:fld id="{1A7E88B7-70CE-4035-AE73-13FA6FB985D4}" type="slidenum">
              <a:rPr lang="en-US" noProof="1" smtClean="0"/>
              <a:t>12</a:t>
            </a:fld>
            <a:endParaRPr lang="en-US" noProof="1"/>
          </a:p>
        </p:txBody>
      </p:sp>
      <p:sp>
        <p:nvSpPr>
          <p:cNvPr id="8" name="TextBox 7">
            <a:extLst>
              <a:ext uri="{FF2B5EF4-FFF2-40B4-BE49-F238E27FC236}">
                <a16:creationId xmlns:a16="http://schemas.microsoft.com/office/drawing/2014/main" id="{FCEC794E-8E51-D5A5-BF44-3A3050756A4D}"/>
              </a:ext>
            </a:extLst>
          </p:cNvPr>
          <p:cNvSpPr txBox="1"/>
          <p:nvPr/>
        </p:nvSpPr>
        <p:spPr>
          <a:xfrm>
            <a:off x="0" y="6541354"/>
            <a:ext cx="10609385" cy="276999"/>
          </a:xfrm>
          <a:prstGeom prst="rect">
            <a:avLst/>
          </a:prstGeom>
          <a:noFill/>
        </p:spPr>
        <p:txBody>
          <a:bodyPr wrap="square">
            <a:spAutoFit/>
          </a:bodyPr>
          <a:lstStyle/>
          <a:p>
            <a:r>
              <a:rPr lang="pt-BR" sz="1200" dirty="0"/>
              <a:t>DIY </a:t>
            </a:r>
            <a:r>
              <a:rPr lang="pt-BR" sz="1200" dirty="0" err="1"/>
              <a:t>Your</a:t>
            </a:r>
            <a:r>
              <a:rPr lang="pt-BR" sz="1200" dirty="0"/>
              <a:t> </a:t>
            </a:r>
            <a:r>
              <a:rPr lang="pt-BR" sz="1200" dirty="0" err="1"/>
              <a:t>EasyNAS</a:t>
            </a:r>
            <a:r>
              <a:rPr lang="pt-BR" sz="1200" dirty="0"/>
              <a:t> for Vision: </a:t>
            </a:r>
            <a:r>
              <a:rPr lang="pt-BR" sz="1200" dirty="0" err="1"/>
              <a:t>Convolution</a:t>
            </a:r>
            <a:r>
              <a:rPr lang="pt-BR" sz="1200" dirty="0"/>
              <a:t> </a:t>
            </a:r>
            <a:r>
              <a:rPr lang="pt-BR" sz="1200" dirty="0" err="1"/>
              <a:t>Operation</a:t>
            </a:r>
            <a:r>
              <a:rPr lang="pt-BR" sz="1200" dirty="0"/>
              <a:t> </a:t>
            </a:r>
            <a:r>
              <a:rPr lang="pt-BR" sz="1200" dirty="0" err="1"/>
              <a:t>Merging</a:t>
            </a:r>
            <a:r>
              <a:rPr lang="pt-BR" sz="1200" dirty="0"/>
              <a:t>, Map </a:t>
            </a:r>
            <a:r>
              <a:rPr lang="pt-BR" sz="1200" dirty="0" err="1"/>
              <a:t>Channel</a:t>
            </a:r>
            <a:r>
              <a:rPr lang="pt-BR" sz="1200" dirty="0"/>
              <a:t> </a:t>
            </a:r>
            <a:r>
              <a:rPr lang="pt-BR" sz="1200" dirty="0" err="1"/>
              <a:t>Reducing</a:t>
            </a:r>
            <a:r>
              <a:rPr lang="pt-BR" sz="1200" dirty="0"/>
              <a:t>, </a:t>
            </a:r>
            <a:r>
              <a:rPr lang="pt-BR" sz="1200" dirty="0" err="1"/>
              <a:t>and</a:t>
            </a:r>
            <a:r>
              <a:rPr lang="pt-BR" sz="1200" dirty="0"/>
              <a:t> Search Space </a:t>
            </a:r>
            <a:r>
              <a:rPr lang="pt-BR" sz="1200" dirty="0" err="1"/>
              <a:t>to</a:t>
            </a:r>
            <a:r>
              <a:rPr lang="pt-BR" sz="1200" dirty="0"/>
              <a:t> </a:t>
            </a:r>
            <a:r>
              <a:rPr lang="pt-BR" sz="1200" dirty="0" err="1"/>
              <a:t>Supernet</a:t>
            </a:r>
            <a:r>
              <a:rPr lang="pt-BR" sz="1200" dirty="0"/>
              <a:t> </a:t>
            </a:r>
            <a:r>
              <a:rPr lang="pt-BR" sz="1200" dirty="0" err="1"/>
              <a:t>Conversion</a:t>
            </a:r>
            <a:r>
              <a:rPr lang="pt-BR" sz="1200" dirty="0"/>
              <a:t> </a:t>
            </a:r>
            <a:r>
              <a:rPr lang="pt-BR" sz="1200" dirty="0" err="1"/>
              <a:t>Tooling</a:t>
            </a:r>
            <a:r>
              <a:rPr lang="pt-BR" sz="1200" dirty="0"/>
              <a:t>, Nov. 2023.</a:t>
            </a:r>
            <a:endParaRPr lang="en-US" sz="1200" noProof="1"/>
          </a:p>
        </p:txBody>
      </p:sp>
      <p:pic>
        <p:nvPicPr>
          <p:cNvPr id="4" name="Picture 3">
            <a:extLst>
              <a:ext uri="{FF2B5EF4-FFF2-40B4-BE49-F238E27FC236}">
                <a16:creationId xmlns:a16="http://schemas.microsoft.com/office/drawing/2014/main" id="{A8E16A9C-A7D7-7CE9-B27B-DAF733FB52DB}"/>
              </a:ext>
            </a:extLst>
          </p:cNvPr>
          <p:cNvPicPr>
            <a:picLocks noChangeAspect="1"/>
          </p:cNvPicPr>
          <p:nvPr/>
        </p:nvPicPr>
        <p:blipFill>
          <a:blip r:embed="rId4"/>
          <a:stretch>
            <a:fillRect/>
          </a:stretch>
        </p:blipFill>
        <p:spPr>
          <a:xfrm>
            <a:off x="2494088" y="800380"/>
            <a:ext cx="7203823" cy="1750836"/>
          </a:xfrm>
          <a:prstGeom prst="rect">
            <a:avLst/>
          </a:prstGeom>
          <a:ln w="38100">
            <a:solidFill>
              <a:schemeClr val="tx1"/>
            </a:solidFill>
          </a:ln>
        </p:spPr>
      </p:pic>
      <p:pic>
        <p:nvPicPr>
          <p:cNvPr id="9" name="Picture 8">
            <a:extLst>
              <a:ext uri="{FF2B5EF4-FFF2-40B4-BE49-F238E27FC236}">
                <a16:creationId xmlns:a16="http://schemas.microsoft.com/office/drawing/2014/main" id="{59FA7E10-00D8-842A-04D0-A3732586B338}"/>
              </a:ext>
            </a:extLst>
          </p:cNvPr>
          <p:cNvPicPr>
            <a:picLocks noChangeAspect="1"/>
          </p:cNvPicPr>
          <p:nvPr/>
        </p:nvPicPr>
        <p:blipFill>
          <a:blip r:embed="rId5"/>
          <a:stretch>
            <a:fillRect/>
          </a:stretch>
        </p:blipFill>
        <p:spPr>
          <a:xfrm>
            <a:off x="2356766" y="2611665"/>
            <a:ext cx="7787359" cy="2191883"/>
          </a:xfrm>
          <a:prstGeom prst="rect">
            <a:avLst/>
          </a:prstGeom>
        </p:spPr>
      </p:pic>
      <p:pic>
        <p:nvPicPr>
          <p:cNvPr id="12" name="Picture 11">
            <a:extLst>
              <a:ext uri="{FF2B5EF4-FFF2-40B4-BE49-F238E27FC236}">
                <a16:creationId xmlns:a16="http://schemas.microsoft.com/office/drawing/2014/main" id="{1A129BFC-21A7-76A9-27A0-BF1D1F5F9FF4}"/>
              </a:ext>
            </a:extLst>
          </p:cNvPr>
          <p:cNvPicPr>
            <a:picLocks noChangeAspect="1"/>
          </p:cNvPicPr>
          <p:nvPr/>
        </p:nvPicPr>
        <p:blipFill>
          <a:blip r:embed="rId6"/>
          <a:stretch>
            <a:fillRect/>
          </a:stretch>
        </p:blipFill>
        <p:spPr>
          <a:xfrm>
            <a:off x="509475" y="4528444"/>
            <a:ext cx="1433625" cy="2010468"/>
          </a:xfrm>
          <a:prstGeom prst="rect">
            <a:avLst/>
          </a:prstGeom>
        </p:spPr>
      </p:pic>
      <p:sp>
        <p:nvSpPr>
          <p:cNvPr id="19" name="TextBox 18">
            <a:extLst>
              <a:ext uri="{FF2B5EF4-FFF2-40B4-BE49-F238E27FC236}">
                <a16:creationId xmlns:a16="http://schemas.microsoft.com/office/drawing/2014/main" id="{7C60A1A2-8387-57B0-A488-5F17927F74B8}"/>
              </a:ext>
            </a:extLst>
          </p:cNvPr>
          <p:cNvSpPr txBox="1"/>
          <p:nvPr/>
        </p:nvSpPr>
        <p:spPr>
          <a:xfrm>
            <a:off x="2133599" y="5134290"/>
            <a:ext cx="7677150" cy="923330"/>
          </a:xfrm>
          <a:prstGeom prst="rect">
            <a:avLst/>
          </a:prstGeom>
          <a:noFill/>
        </p:spPr>
        <p:txBody>
          <a:bodyPr wrap="square">
            <a:spAutoFit/>
          </a:bodyPr>
          <a:lstStyle/>
          <a:p>
            <a:r>
              <a:rPr lang="pt-BR" b="1" dirty="0"/>
              <a:t>k:</a:t>
            </a:r>
            <a:r>
              <a:rPr lang="pt-BR" dirty="0"/>
              <a:t> tamanho do kernel da convolução. Controla a escala espacial observada. </a:t>
            </a:r>
          </a:p>
          <a:p>
            <a:r>
              <a:rPr lang="pt-BR" b="1" dirty="0"/>
              <a:t>d:</a:t>
            </a:r>
            <a:r>
              <a:rPr lang="pt-BR" dirty="0"/>
              <a:t> taxa de dilatação. Aumenta o </a:t>
            </a:r>
            <a:r>
              <a:rPr lang="pt-BR" dirty="0" err="1"/>
              <a:t>receptive</a:t>
            </a:r>
            <a:r>
              <a:rPr lang="pt-BR" dirty="0"/>
              <a:t> </a:t>
            </a:r>
            <a:r>
              <a:rPr lang="pt-BR" dirty="0" err="1"/>
              <a:t>field</a:t>
            </a:r>
            <a:r>
              <a:rPr lang="pt-BR" dirty="0"/>
              <a:t> da convolução.</a:t>
            </a:r>
          </a:p>
          <a:p>
            <a:r>
              <a:rPr lang="pt-BR" b="1" dirty="0"/>
              <a:t>e:</a:t>
            </a:r>
            <a:r>
              <a:rPr lang="pt-BR" dirty="0"/>
              <a:t> taxa de redução dos canais de saída. Controla a largura e o custo do bloco.</a:t>
            </a:r>
          </a:p>
        </p:txBody>
      </p:sp>
    </p:spTree>
    <p:extLst>
      <p:ext uri="{BB962C8B-B14F-4D97-AF65-F5344CB8AC3E}">
        <p14:creationId xmlns:p14="http://schemas.microsoft.com/office/powerpoint/2010/main" val="2371136588"/>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77C1E-3851-B99A-BE1D-2A4DF4EC302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0FADE01-A577-06FC-275E-3C5DC9084485}"/>
              </a:ext>
            </a:extLst>
          </p:cNvPr>
          <p:cNvSpPr>
            <a:spLocks noGrp="1"/>
          </p:cNvSpPr>
          <p:nvPr>
            <p:ph type="title"/>
          </p:nvPr>
        </p:nvSpPr>
        <p:spPr>
          <a:xfrm>
            <a:off x="315686" y="-266700"/>
            <a:ext cx="10515600" cy="1325563"/>
          </a:xfrm>
        </p:spPr>
        <p:txBody>
          <a:bodyPr/>
          <a:lstStyle/>
          <a:p>
            <a:r>
              <a:rPr lang="en-US" noProof="1"/>
              <a:t>Atomic search component</a:t>
            </a:r>
          </a:p>
        </p:txBody>
      </p:sp>
      <p:sp>
        <p:nvSpPr>
          <p:cNvPr id="6" name="Slide Number Placeholder 5">
            <a:extLst>
              <a:ext uri="{FF2B5EF4-FFF2-40B4-BE49-F238E27FC236}">
                <a16:creationId xmlns:a16="http://schemas.microsoft.com/office/drawing/2014/main" id="{D0C631AA-0BD8-F1F0-EC23-BB8F5C72508C}"/>
              </a:ext>
            </a:extLst>
          </p:cNvPr>
          <p:cNvSpPr>
            <a:spLocks noGrp="1"/>
          </p:cNvSpPr>
          <p:nvPr>
            <p:ph type="sldNum" sz="quarter" idx="12"/>
          </p:nvPr>
        </p:nvSpPr>
        <p:spPr/>
        <p:txBody>
          <a:bodyPr/>
          <a:lstStyle/>
          <a:p>
            <a:fld id="{1A7E88B7-70CE-4035-AE73-13FA6FB985D4}" type="slidenum">
              <a:rPr lang="en-US" noProof="1" smtClean="0"/>
              <a:t>13</a:t>
            </a:fld>
            <a:endParaRPr lang="en-US" noProof="1"/>
          </a:p>
        </p:txBody>
      </p:sp>
      <p:sp>
        <p:nvSpPr>
          <p:cNvPr id="8" name="TextBox 7">
            <a:extLst>
              <a:ext uri="{FF2B5EF4-FFF2-40B4-BE49-F238E27FC236}">
                <a16:creationId xmlns:a16="http://schemas.microsoft.com/office/drawing/2014/main" id="{D72822A1-29AF-82A9-B003-025FFE7513A9}"/>
              </a:ext>
            </a:extLst>
          </p:cNvPr>
          <p:cNvSpPr txBox="1"/>
          <p:nvPr/>
        </p:nvSpPr>
        <p:spPr>
          <a:xfrm>
            <a:off x="0" y="6541354"/>
            <a:ext cx="10609385" cy="276999"/>
          </a:xfrm>
          <a:prstGeom prst="rect">
            <a:avLst/>
          </a:prstGeom>
          <a:noFill/>
        </p:spPr>
        <p:txBody>
          <a:bodyPr wrap="square">
            <a:spAutoFit/>
          </a:bodyPr>
          <a:lstStyle/>
          <a:p>
            <a:r>
              <a:rPr lang="pt-BR" sz="1200" dirty="0"/>
              <a:t>DIY </a:t>
            </a:r>
            <a:r>
              <a:rPr lang="pt-BR" sz="1200" dirty="0" err="1"/>
              <a:t>Your</a:t>
            </a:r>
            <a:r>
              <a:rPr lang="pt-BR" sz="1200" dirty="0"/>
              <a:t> </a:t>
            </a:r>
            <a:r>
              <a:rPr lang="pt-BR" sz="1200" dirty="0" err="1"/>
              <a:t>EasyNAS</a:t>
            </a:r>
            <a:r>
              <a:rPr lang="pt-BR" sz="1200" dirty="0"/>
              <a:t> for Vision: </a:t>
            </a:r>
            <a:r>
              <a:rPr lang="pt-BR" sz="1200" dirty="0" err="1"/>
              <a:t>Convolution</a:t>
            </a:r>
            <a:r>
              <a:rPr lang="pt-BR" sz="1200" dirty="0"/>
              <a:t> </a:t>
            </a:r>
            <a:r>
              <a:rPr lang="pt-BR" sz="1200" dirty="0" err="1"/>
              <a:t>Operation</a:t>
            </a:r>
            <a:r>
              <a:rPr lang="pt-BR" sz="1200" dirty="0"/>
              <a:t> </a:t>
            </a:r>
            <a:r>
              <a:rPr lang="pt-BR" sz="1200" dirty="0" err="1"/>
              <a:t>Merging</a:t>
            </a:r>
            <a:r>
              <a:rPr lang="pt-BR" sz="1200" dirty="0"/>
              <a:t>, Map </a:t>
            </a:r>
            <a:r>
              <a:rPr lang="pt-BR" sz="1200" dirty="0" err="1"/>
              <a:t>Channel</a:t>
            </a:r>
            <a:r>
              <a:rPr lang="pt-BR" sz="1200" dirty="0"/>
              <a:t> </a:t>
            </a:r>
            <a:r>
              <a:rPr lang="pt-BR" sz="1200" dirty="0" err="1"/>
              <a:t>Reducing</a:t>
            </a:r>
            <a:r>
              <a:rPr lang="pt-BR" sz="1200" dirty="0"/>
              <a:t>, </a:t>
            </a:r>
            <a:r>
              <a:rPr lang="pt-BR" sz="1200" dirty="0" err="1"/>
              <a:t>and</a:t>
            </a:r>
            <a:r>
              <a:rPr lang="pt-BR" sz="1200" dirty="0"/>
              <a:t> Search Space </a:t>
            </a:r>
            <a:r>
              <a:rPr lang="pt-BR" sz="1200" dirty="0" err="1"/>
              <a:t>to</a:t>
            </a:r>
            <a:r>
              <a:rPr lang="pt-BR" sz="1200" dirty="0"/>
              <a:t> </a:t>
            </a:r>
            <a:r>
              <a:rPr lang="pt-BR" sz="1200" dirty="0" err="1"/>
              <a:t>Supernet</a:t>
            </a:r>
            <a:r>
              <a:rPr lang="pt-BR" sz="1200" dirty="0"/>
              <a:t> </a:t>
            </a:r>
            <a:r>
              <a:rPr lang="pt-BR" sz="1200" dirty="0" err="1"/>
              <a:t>Conversion</a:t>
            </a:r>
            <a:r>
              <a:rPr lang="pt-BR" sz="1200" dirty="0"/>
              <a:t> </a:t>
            </a:r>
            <a:r>
              <a:rPr lang="pt-BR" sz="1200" dirty="0" err="1"/>
              <a:t>Tooling</a:t>
            </a:r>
            <a:r>
              <a:rPr lang="pt-BR" sz="1200" dirty="0"/>
              <a:t>, Nov. 2023.</a:t>
            </a:r>
            <a:endParaRPr lang="en-US" sz="1200" noProof="1"/>
          </a:p>
        </p:txBody>
      </p:sp>
      <p:pic>
        <p:nvPicPr>
          <p:cNvPr id="4" name="Picture 3">
            <a:extLst>
              <a:ext uri="{FF2B5EF4-FFF2-40B4-BE49-F238E27FC236}">
                <a16:creationId xmlns:a16="http://schemas.microsoft.com/office/drawing/2014/main" id="{E7421811-E7E1-2700-1B1C-98A40D133F91}"/>
              </a:ext>
            </a:extLst>
          </p:cNvPr>
          <p:cNvPicPr>
            <a:picLocks noChangeAspect="1"/>
          </p:cNvPicPr>
          <p:nvPr/>
        </p:nvPicPr>
        <p:blipFill>
          <a:blip r:embed="rId3"/>
          <a:stretch>
            <a:fillRect/>
          </a:stretch>
        </p:blipFill>
        <p:spPr>
          <a:xfrm>
            <a:off x="267328" y="883350"/>
            <a:ext cx="5454035" cy="1325563"/>
          </a:xfrm>
          <a:prstGeom prst="rect">
            <a:avLst/>
          </a:prstGeom>
          <a:ln w="38100">
            <a:solidFill>
              <a:schemeClr val="tx1"/>
            </a:solidFill>
          </a:ln>
        </p:spPr>
      </p:pic>
      <p:pic>
        <p:nvPicPr>
          <p:cNvPr id="9" name="Picture 8">
            <a:extLst>
              <a:ext uri="{FF2B5EF4-FFF2-40B4-BE49-F238E27FC236}">
                <a16:creationId xmlns:a16="http://schemas.microsoft.com/office/drawing/2014/main" id="{86FC6D4C-D706-72A9-4C94-DD35819471C7}"/>
              </a:ext>
            </a:extLst>
          </p:cNvPr>
          <p:cNvPicPr>
            <a:picLocks noChangeAspect="1"/>
          </p:cNvPicPr>
          <p:nvPr/>
        </p:nvPicPr>
        <p:blipFill>
          <a:blip r:embed="rId4"/>
          <a:stretch>
            <a:fillRect/>
          </a:stretch>
        </p:blipFill>
        <p:spPr>
          <a:xfrm>
            <a:off x="5953124" y="636149"/>
            <a:ext cx="6109925" cy="1719741"/>
          </a:xfrm>
          <a:prstGeom prst="rect">
            <a:avLst/>
          </a:prstGeom>
        </p:spPr>
      </p:pic>
      <p:pic>
        <p:nvPicPr>
          <p:cNvPr id="5" name="Picture 4">
            <a:extLst>
              <a:ext uri="{FF2B5EF4-FFF2-40B4-BE49-F238E27FC236}">
                <a16:creationId xmlns:a16="http://schemas.microsoft.com/office/drawing/2014/main" id="{A9AB7EFA-9877-8F23-1286-5A99603F0238}"/>
              </a:ext>
            </a:extLst>
          </p:cNvPr>
          <p:cNvPicPr>
            <a:picLocks noChangeAspect="1"/>
          </p:cNvPicPr>
          <p:nvPr/>
        </p:nvPicPr>
        <p:blipFill>
          <a:blip r:embed="rId5"/>
          <a:stretch>
            <a:fillRect/>
          </a:stretch>
        </p:blipFill>
        <p:spPr>
          <a:xfrm>
            <a:off x="0" y="2870043"/>
            <a:ext cx="12192000" cy="3157157"/>
          </a:xfrm>
          <a:prstGeom prst="rect">
            <a:avLst/>
          </a:prstGeom>
        </p:spPr>
      </p:pic>
    </p:spTree>
    <p:extLst>
      <p:ext uri="{BB962C8B-B14F-4D97-AF65-F5344CB8AC3E}">
        <p14:creationId xmlns:p14="http://schemas.microsoft.com/office/powerpoint/2010/main" val="2315949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E7DE2-BFFE-14D0-1E1A-2697E30FDEC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CB0B171-9665-4C10-0EF8-DA22C50FC968}"/>
              </a:ext>
            </a:extLst>
          </p:cNvPr>
          <p:cNvSpPr>
            <a:spLocks noGrp="1"/>
          </p:cNvSpPr>
          <p:nvPr>
            <p:ph type="title"/>
          </p:nvPr>
        </p:nvSpPr>
        <p:spPr>
          <a:xfrm>
            <a:off x="315686" y="-266700"/>
            <a:ext cx="10515600" cy="1325563"/>
          </a:xfrm>
        </p:spPr>
        <p:txBody>
          <a:bodyPr/>
          <a:lstStyle/>
          <a:p>
            <a:r>
              <a:rPr lang="en-US" noProof="1"/>
              <a:t>Pesos das convoluções</a:t>
            </a:r>
          </a:p>
        </p:txBody>
      </p:sp>
      <p:sp>
        <p:nvSpPr>
          <p:cNvPr id="6" name="Slide Number Placeholder 5">
            <a:extLst>
              <a:ext uri="{FF2B5EF4-FFF2-40B4-BE49-F238E27FC236}">
                <a16:creationId xmlns:a16="http://schemas.microsoft.com/office/drawing/2014/main" id="{254F6109-746E-FB52-CC8D-94E8E9830E4B}"/>
              </a:ext>
            </a:extLst>
          </p:cNvPr>
          <p:cNvSpPr>
            <a:spLocks noGrp="1"/>
          </p:cNvSpPr>
          <p:nvPr>
            <p:ph type="sldNum" sz="quarter" idx="12"/>
          </p:nvPr>
        </p:nvSpPr>
        <p:spPr/>
        <p:txBody>
          <a:bodyPr/>
          <a:lstStyle/>
          <a:p>
            <a:fld id="{1A7E88B7-70CE-4035-AE73-13FA6FB985D4}" type="slidenum">
              <a:rPr lang="en-US" noProof="1" smtClean="0"/>
              <a:t>14</a:t>
            </a:fld>
            <a:endParaRPr lang="en-US" noProof="1"/>
          </a:p>
        </p:txBody>
      </p:sp>
      <p:sp>
        <p:nvSpPr>
          <p:cNvPr id="8" name="TextBox 7">
            <a:extLst>
              <a:ext uri="{FF2B5EF4-FFF2-40B4-BE49-F238E27FC236}">
                <a16:creationId xmlns:a16="http://schemas.microsoft.com/office/drawing/2014/main" id="{0344CC6C-13AD-F202-766A-AB2ECEF19DE9}"/>
              </a:ext>
            </a:extLst>
          </p:cNvPr>
          <p:cNvSpPr txBox="1"/>
          <p:nvPr/>
        </p:nvSpPr>
        <p:spPr>
          <a:xfrm>
            <a:off x="0" y="6541354"/>
            <a:ext cx="10609385" cy="276999"/>
          </a:xfrm>
          <a:prstGeom prst="rect">
            <a:avLst/>
          </a:prstGeom>
          <a:noFill/>
        </p:spPr>
        <p:txBody>
          <a:bodyPr wrap="square">
            <a:spAutoFit/>
          </a:bodyPr>
          <a:lstStyle/>
          <a:p>
            <a:r>
              <a:rPr lang="pt-BR" sz="1200" dirty="0"/>
              <a:t>DIY </a:t>
            </a:r>
            <a:r>
              <a:rPr lang="pt-BR" sz="1200" dirty="0" err="1"/>
              <a:t>Your</a:t>
            </a:r>
            <a:r>
              <a:rPr lang="pt-BR" sz="1200" dirty="0"/>
              <a:t> </a:t>
            </a:r>
            <a:r>
              <a:rPr lang="pt-BR" sz="1200" dirty="0" err="1"/>
              <a:t>EasyNAS</a:t>
            </a:r>
            <a:r>
              <a:rPr lang="pt-BR" sz="1200" dirty="0"/>
              <a:t> for Vision: </a:t>
            </a:r>
            <a:r>
              <a:rPr lang="pt-BR" sz="1200" dirty="0" err="1"/>
              <a:t>Convolution</a:t>
            </a:r>
            <a:r>
              <a:rPr lang="pt-BR" sz="1200" dirty="0"/>
              <a:t> </a:t>
            </a:r>
            <a:r>
              <a:rPr lang="pt-BR" sz="1200" dirty="0" err="1"/>
              <a:t>Operation</a:t>
            </a:r>
            <a:r>
              <a:rPr lang="pt-BR" sz="1200" dirty="0"/>
              <a:t> </a:t>
            </a:r>
            <a:r>
              <a:rPr lang="pt-BR" sz="1200" dirty="0" err="1"/>
              <a:t>Merging</a:t>
            </a:r>
            <a:r>
              <a:rPr lang="pt-BR" sz="1200" dirty="0"/>
              <a:t>, Map </a:t>
            </a:r>
            <a:r>
              <a:rPr lang="pt-BR" sz="1200" dirty="0" err="1"/>
              <a:t>Channel</a:t>
            </a:r>
            <a:r>
              <a:rPr lang="pt-BR" sz="1200" dirty="0"/>
              <a:t> </a:t>
            </a:r>
            <a:r>
              <a:rPr lang="pt-BR" sz="1200" dirty="0" err="1"/>
              <a:t>Reducing</a:t>
            </a:r>
            <a:r>
              <a:rPr lang="pt-BR" sz="1200" dirty="0"/>
              <a:t>, </a:t>
            </a:r>
            <a:r>
              <a:rPr lang="pt-BR" sz="1200" dirty="0" err="1"/>
              <a:t>and</a:t>
            </a:r>
            <a:r>
              <a:rPr lang="pt-BR" sz="1200" dirty="0"/>
              <a:t> Search Space </a:t>
            </a:r>
            <a:r>
              <a:rPr lang="pt-BR" sz="1200" dirty="0" err="1"/>
              <a:t>to</a:t>
            </a:r>
            <a:r>
              <a:rPr lang="pt-BR" sz="1200" dirty="0"/>
              <a:t> </a:t>
            </a:r>
            <a:r>
              <a:rPr lang="pt-BR" sz="1200" dirty="0" err="1"/>
              <a:t>Supernet</a:t>
            </a:r>
            <a:r>
              <a:rPr lang="pt-BR" sz="1200" dirty="0"/>
              <a:t> </a:t>
            </a:r>
            <a:r>
              <a:rPr lang="pt-BR" sz="1200" dirty="0" err="1"/>
              <a:t>Conversion</a:t>
            </a:r>
            <a:r>
              <a:rPr lang="pt-BR" sz="1200" dirty="0"/>
              <a:t> </a:t>
            </a:r>
            <a:r>
              <a:rPr lang="pt-BR" sz="1200" dirty="0" err="1"/>
              <a:t>Tooling</a:t>
            </a:r>
            <a:r>
              <a:rPr lang="pt-BR" sz="1200" dirty="0"/>
              <a:t>, Nov. 2023.</a:t>
            </a:r>
            <a:endParaRPr lang="en-US" sz="1200" noProof="1"/>
          </a:p>
        </p:txBody>
      </p:sp>
      <p:pic>
        <p:nvPicPr>
          <p:cNvPr id="4" name="Picture 3">
            <a:extLst>
              <a:ext uri="{FF2B5EF4-FFF2-40B4-BE49-F238E27FC236}">
                <a16:creationId xmlns:a16="http://schemas.microsoft.com/office/drawing/2014/main" id="{8B9A155F-E41D-5FF6-8D88-A3EFE7B809A9}"/>
              </a:ext>
            </a:extLst>
          </p:cNvPr>
          <p:cNvPicPr>
            <a:picLocks noChangeAspect="1"/>
          </p:cNvPicPr>
          <p:nvPr/>
        </p:nvPicPr>
        <p:blipFill>
          <a:blip r:embed="rId3"/>
          <a:stretch>
            <a:fillRect/>
          </a:stretch>
        </p:blipFill>
        <p:spPr>
          <a:xfrm>
            <a:off x="114730" y="1830780"/>
            <a:ext cx="8037605" cy="3072526"/>
          </a:xfrm>
          <a:prstGeom prst="rect">
            <a:avLst/>
          </a:prstGeom>
        </p:spPr>
      </p:pic>
      <p:pic>
        <p:nvPicPr>
          <p:cNvPr id="7" name="Picture 6">
            <a:extLst>
              <a:ext uri="{FF2B5EF4-FFF2-40B4-BE49-F238E27FC236}">
                <a16:creationId xmlns:a16="http://schemas.microsoft.com/office/drawing/2014/main" id="{FFC7EA40-65E5-5BB3-E35F-1E41F06EC99A}"/>
              </a:ext>
            </a:extLst>
          </p:cNvPr>
          <p:cNvPicPr>
            <a:picLocks noChangeAspect="1"/>
          </p:cNvPicPr>
          <p:nvPr/>
        </p:nvPicPr>
        <p:blipFill>
          <a:blip r:embed="rId4"/>
          <a:stretch>
            <a:fillRect/>
          </a:stretch>
        </p:blipFill>
        <p:spPr>
          <a:xfrm>
            <a:off x="5660009" y="3186946"/>
            <a:ext cx="6335228" cy="3072526"/>
          </a:xfrm>
          <a:prstGeom prst="rect">
            <a:avLst/>
          </a:prstGeom>
          <a:ln w="38100">
            <a:solidFill>
              <a:schemeClr val="tx1"/>
            </a:solidFill>
          </a:ln>
        </p:spPr>
      </p:pic>
      <p:pic>
        <p:nvPicPr>
          <p:cNvPr id="10" name="Picture 9">
            <a:extLst>
              <a:ext uri="{FF2B5EF4-FFF2-40B4-BE49-F238E27FC236}">
                <a16:creationId xmlns:a16="http://schemas.microsoft.com/office/drawing/2014/main" id="{B6FA99B6-2F40-A0A5-C409-58324556250F}"/>
              </a:ext>
            </a:extLst>
          </p:cNvPr>
          <p:cNvPicPr>
            <a:picLocks noChangeAspect="1"/>
          </p:cNvPicPr>
          <p:nvPr/>
        </p:nvPicPr>
        <p:blipFill>
          <a:blip r:embed="rId5"/>
          <a:stretch>
            <a:fillRect/>
          </a:stretch>
        </p:blipFill>
        <p:spPr>
          <a:xfrm>
            <a:off x="5344629" y="837076"/>
            <a:ext cx="6732641" cy="1117619"/>
          </a:xfrm>
          <a:prstGeom prst="rect">
            <a:avLst/>
          </a:prstGeom>
          <a:ln w="38100">
            <a:solidFill>
              <a:srgbClr val="FF0000"/>
            </a:solidFill>
          </a:ln>
        </p:spPr>
      </p:pic>
    </p:spTree>
    <p:extLst>
      <p:ext uri="{BB962C8B-B14F-4D97-AF65-F5344CB8AC3E}">
        <p14:creationId xmlns:p14="http://schemas.microsoft.com/office/powerpoint/2010/main" val="336844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13ABF-B846-0473-571D-9F7A7CD717A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3D674F-6825-E83B-C533-DFABCD0EE24E}"/>
              </a:ext>
            </a:extLst>
          </p:cNvPr>
          <p:cNvSpPr>
            <a:spLocks noGrp="1"/>
          </p:cNvSpPr>
          <p:nvPr>
            <p:ph type="title"/>
          </p:nvPr>
        </p:nvSpPr>
        <p:spPr>
          <a:xfrm>
            <a:off x="315686" y="-372207"/>
            <a:ext cx="10515600" cy="1325563"/>
          </a:xfrm>
        </p:spPr>
        <p:txBody>
          <a:bodyPr/>
          <a:lstStyle/>
          <a:p>
            <a:r>
              <a:rPr lang="en-US" noProof="1"/>
              <a:t>Algoritmo de treinamento</a:t>
            </a:r>
          </a:p>
        </p:txBody>
      </p:sp>
      <p:sp>
        <p:nvSpPr>
          <p:cNvPr id="6" name="Slide Number Placeholder 5">
            <a:extLst>
              <a:ext uri="{FF2B5EF4-FFF2-40B4-BE49-F238E27FC236}">
                <a16:creationId xmlns:a16="http://schemas.microsoft.com/office/drawing/2014/main" id="{451932B1-D3B4-4471-2AB0-1E0E06FED19B}"/>
              </a:ext>
            </a:extLst>
          </p:cNvPr>
          <p:cNvSpPr>
            <a:spLocks noGrp="1"/>
          </p:cNvSpPr>
          <p:nvPr>
            <p:ph type="sldNum" sz="quarter" idx="12"/>
          </p:nvPr>
        </p:nvSpPr>
        <p:spPr/>
        <p:txBody>
          <a:bodyPr/>
          <a:lstStyle/>
          <a:p>
            <a:fld id="{1A7E88B7-70CE-4035-AE73-13FA6FB985D4}" type="slidenum">
              <a:rPr lang="en-US" noProof="1" smtClean="0"/>
              <a:t>15</a:t>
            </a:fld>
            <a:endParaRPr lang="en-US" noProof="1"/>
          </a:p>
        </p:txBody>
      </p:sp>
      <p:sp>
        <p:nvSpPr>
          <p:cNvPr id="8" name="TextBox 7">
            <a:extLst>
              <a:ext uri="{FF2B5EF4-FFF2-40B4-BE49-F238E27FC236}">
                <a16:creationId xmlns:a16="http://schemas.microsoft.com/office/drawing/2014/main" id="{45B99ED6-C7C9-673F-20FB-BE8165B1C1B9}"/>
              </a:ext>
            </a:extLst>
          </p:cNvPr>
          <p:cNvSpPr txBox="1"/>
          <p:nvPr/>
        </p:nvSpPr>
        <p:spPr>
          <a:xfrm>
            <a:off x="0" y="6541354"/>
            <a:ext cx="10609385" cy="276999"/>
          </a:xfrm>
          <a:prstGeom prst="rect">
            <a:avLst/>
          </a:prstGeom>
          <a:noFill/>
        </p:spPr>
        <p:txBody>
          <a:bodyPr wrap="square">
            <a:spAutoFit/>
          </a:bodyPr>
          <a:lstStyle/>
          <a:p>
            <a:r>
              <a:rPr lang="pt-BR" sz="1200" dirty="0"/>
              <a:t>DIY </a:t>
            </a:r>
            <a:r>
              <a:rPr lang="pt-BR" sz="1200" dirty="0" err="1"/>
              <a:t>Your</a:t>
            </a:r>
            <a:r>
              <a:rPr lang="pt-BR" sz="1200" dirty="0"/>
              <a:t> </a:t>
            </a:r>
            <a:r>
              <a:rPr lang="pt-BR" sz="1200" dirty="0" err="1"/>
              <a:t>EasyNAS</a:t>
            </a:r>
            <a:r>
              <a:rPr lang="pt-BR" sz="1200" dirty="0"/>
              <a:t> for Vision: </a:t>
            </a:r>
            <a:r>
              <a:rPr lang="pt-BR" sz="1200" dirty="0" err="1"/>
              <a:t>Convolution</a:t>
            </a:r>
            <a:r>
              <a:rPr lang="pt-BR" sz="1200" dirty="0"/>
              <a:t> </a:t>
            </a:r>
            <a:r>
              <a:rPr lang="pt-BR" sz="1200" dirty="0" err="1"/>
              <a:t>Operation</a:t>
            </a:r>
            <a:r>
              <a:rPr lang="pt-BR" sz="1200" dirty="0"/>
              <a:t> </a:t>
            </a:r>
            <a:r>
              <a:rPr lang="pt-BR" sz="1200" dirty="0" err="1"/>
              <a:t>Merging</a:t>
            </a:r>
            <a:r>
              <a:rPr lang="pt-BR" sz="1200" dirty="0"/>
              <a:t>, Map </a:t>
            </a:r>
            <a:r>
              <a:rPr lang="pt-BR" sz="1200" dirty="0" err="1"/>
              <a:t>Channel</a:t>
            </a:r>
            <a:r>
              <a:rPr lang="pt-BR" sz="1200" dirty="0"/>
              <a:t> </a:t>
            </a:r>
            <a:r>
              <a:rPr lang="pt-BR" sz="1200" dirty="0" err="1"/>
              <a:t>Reducing</a:t>
            </a:r>
            <a:r>
              <a:rPr lang="pt-BR" sz="1200" dirty="0"/>
              <a:t>, </a:t>
            </a:r>
            <a:r>
              <a:rPr lang="pt-BR" sz="1200" dirty="0" err="1"/>
              <a:t>and</a:t>
            </a:r>
            <a:r>
              <a:rPr lang="pt-BR" sz="1200" dirty="0"/>
              <a:t> Search Space </a:t>
            </a:r>
            <a:r>
              <a:rPr lang="pt-BR" sz="1200" dirty="0" err="1"/>
              <a:t>to</a:t>
            </a:r>
            <a:r>
              <a:rPr lang="pt-BR" sz="1200" dirty="0"/>
              <a:t> </a:t>
            </a:r>
            <a:r>
              <a:rPr lang="pt-BR" sz="1200" dirty="0" err="1"/>
              <a:t>Supernet</a:t>
            </a:r>
            <a:r>
              <a:rPr lang="pt-BR" sz="1200" dirty="0"/>
              <a:t> </a:t>
            </a:r>
            <a:r>
              <a:rPr lang="pt-BR" sz="1200" dirty="0" err="1"/>
              <a:t>Conversion</a:t>
            </a:r>
            <a:r>
              <a:rPr lang="pt-BR" sz="1200" dirty="0"/>
              <a:t> </a:t>
            </a:r>
            <a:r>
              <a:rPr lang="pt-BR" sz="1200" dirty="0" err="1"/>
              <a:t>Tooling</a:t>
            </a:r>
            <a:r>
              <a:rPr lang="pt-BR" sz="1200" dirty="0"/>
              <a:t>, Nov. 2023.</a:t>
            </a:r>
            <a:endParaRPr lang="en-US" sz="1200" noProof="1"/>
          </a:p>
        </p:txBody>
      </p:sp>
      <p:pic>
        <p:nvPicPr>
          <p:cNvPr id="5" name="Picture 4">
            <a:extLst>
              <a:ext uri="{FF2B5EF4-FFF2-40B4-BE49-F238E27FC236}">
                <a16:creationId xmlns:a16="http://schemas.microsoft.com/office/drawing/2014/main" id="{E898173C-8C44-CCE1-021E-62FA9BA8A316}"/>
              </a:ext>
            </a:extLst>
          </p:cNvPr>
          <p:cNvPicPr>
            <a:picLocks noChangeAspect="1"/>
          </p:cNvPicPr>
          <p:nvPr/>
        </p:nvPicPr>
        <p:blipFill>
          <a:blip r:embed="rId3"/>
          <a:stretch>
            <a:fillRect/>
          </a:stretch>
        </p:blipFill>
        <p:spPr>
          <a:xfrm>
            <a:off x="7097486" y="39647"/>
            <a:ext cx="4942114" cy="6411390"/>
          </a:xfrm>
          <a:prstGeom prst="rect">
            <a:avLst/>
          </a:prstGeom>
        </p:spPr>
      </p:pic>
      <p:pic>
        <p:nvPicPr>
          <p:cNvPr id="11" name="Picture 10">
            <a:extLst>
              <a:ext uri="{FF2B5EF4-FFF2-40B4-BE49-F238E27FC236}">
                <a16:creationId xmlns:a16="http://schemas.microsoft.com/office/drawing/2014/main" id="{2C6BFDF6-E32C-3880-1639-14C5A367E725}"/>
              </a:ext>
            </a:extLst>
          </p:cNvPr>
          <p:cNvPicPr>
            <a:picLocks noChangeAspect="1"/>
          </p:cNvPicPr>
          <p:nvPr/>
        </p:nvPicPr>
        <p:blipFill>
          <a:blip r:embed="rId4"/>
          <a:stretch>
            <a:fillRect/>
          </a:stretch>
        </p:blipFill>
        <p:spPr>
          <a:xfrm>
            <a:off x="152400" y="545823"/>
            <a:ext cx="6945086" cy="2704473"/>
          </a:xfrm>
          <a:prstGeom prst="rect">
            <a:avLst/>
          </a:prstGeom>
        </p:spPr>
      </p:pic>
      <p:pic>
        <p:nvPicPr>
          <p:cNvPr id="13" name="Picture 12">
            <a:extLst>
              <a:ext uri="{FF2B5EF4-FFF2-40B4-BE49-F238E27FC236}">
                <a16:creationId xmlns:a16="http://schemas.microsoft.com/office/drawing/2014/main" id="{7492B317-E94F-80E4-355A-60156644BA72}"/>
              </a:ext>
            </a:extLst>
          </p:cNvPr>
          <p:cNvPicPr>
            <a:picLocks noChangeAspect="1"/>
          </p:cNvPicPr>
          <p:nvPr/>
        </p:nvPicPr>
        <p:blipFill>
          <a:blip r:embed="rId5"/>
          <a:stretch>
            <a:fillRect/>
          </a:stretch>
        </p:blipFill>
        <p:spPr>
          <a:xfrm>
            <a:off x="152400" y="3245342"/>
            <a:ext cx="5802923" cy="3198878"/>
          </a:xfrm>
          <a:prstGeom prst="rect">
            <a:avLst/>
          </a:prstGeom>
        </p:spPr>
      </p:pic>
    </p:spTree>
    <p:extLst>
      <p:ext uri="{BB962C8B-B14F-4D97-AF65-F5344CB8AC3E}">
        <p14:creationId xmlns:p14="http://schemas.microsoft.com/office/powerpoint/2010/main" val="3041336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6B063-B5E4-95EB-9ECE-1626D2A215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8D9FA4-FC47-9F0B-162E-E7619DDE38B6}"/>
              </a:ext>
            </a:extLst>
          </p:cNvPr>
          <p:cNvSpPr>
            <a:spLocks noGrp="1"/>
          </p:cNvSpPr>
          <p:nvPr>
            <p:ph type="title"/>
          </p:nvPr>
        </p:nvSpPr>
        <p:spPr>
          <a:xfrm>
            <a:off x="315686" y="-372207"/>
            <a:ext cx="10515600" cy="1325563"/>
          </a:xfrm>
        </p:spPr>
        <p:txBody>
          <a:bodyPr/>
          <a:lstStyle/>
          <a:p>
            <a:r>
              <a:rPr lang="en-US" noProof="1"/>
              <a:t>C</a:t>
            </a:r>
            <a:r>
              <a:rPr lang="pt-BR" noProof="1"/>
              <a:t>élula de Busca para Classificação</a:t>
            </a:r>
            <a:endParaRPr lang="en-US" noProof="1"/>
          </a:p>
        </p:txBody>
      </p:sp>
      <p:sp>
        <p:nvSpPr>
          <p:cNvPr id="6" name="Slide Number Placeholder 5">
            <a:extLst>
              <a:ext uri="{FF2B5EF4-FFF2-40B4-BE49-F238E27FC236}">
                <a16:creationId xmlns:a16="http://schemas.microsoft.com/office/drawing/2014/main" id="{D9A2132B-2328-AA54-C49F-FB9AF6743C67}"/>
              </a:ext>
            </a:extLst>
          </p:cNvPr>
          <p:cNvSpPr>
            <a:spLocks noGrp="1"/>
          </p:cNvSpPr>
          <p:nvPr>
            <p:ph type="sldNum" sz="quarter" idx="12"/>
          </p:nvPr>
        </p:nvSpPr>
        <p:spPr/>
        <p:txBody>
          <a:bodyPr/>
          <a:lstStyle/>
          <a:p>
            <a:fld id="{1A7E88B7-70CE-4035-AE73-13FA6FB985D4}" type="slidenum">
              <a:rPr lang="en-US" noProof="1" smtClean="0"/>
              <a:t>16</a:t>
            </a:fld>
            <a:endParaRPr lang="en-US" noProof="1"/>
          </a:p>
        </p:txBody>
      </p:sp>
      <p:sp>
        <p:nvSpPr>
          <p:cNvPr id="8" name="TextBox 7">
            <a:extLst>
              <a:ext uri="{FF2B5EF4-FFF2-40B4-BE49-F238E27FC236}">
                <a16:creationId xmlns:a16="http://schemas.microsoft.com/office/drawing/2014/main" id="{32420A59-8A04-042C-6C2A-75C8DEED5577}"/>
              </a:ext>
            </a:extLst>
          </p:cNvPr>
          <p:cNvSpPr txBox="1"/>
          <p:nvPr/>
        </p:nvSpPr>
        <p:spPr>
          <a:xfrm>
            <a:off x="0" y="6541354"/>
            <a:ext cx="10609385" cy="276999"/>
          </a:xfrm>
          <a:prstGeom prst="rect">
            <a:avLst/>
          </a:prstGeom>
          <a:noFill/>
        </p:spPr>
        <p:txBody>
          <a:bodyPr wrap="square">
            <a:spAutoFit/>
          </a:bodyPr>
          <a:lstStyle/>
          <a:p>
            <a:r>
              <a:rPr lang="pt-BR" sz="1200" dirty="0"/>
              <a:t>DIY </a:t>
            </a:r>
            <a:r>
              <a:rPr lang="pt-BR" sz="1200" dirty="0" err="1"/>
              <a:t>Your</a:t>
            </a:r>
            <a:r>
              <a:rPr lang="pt-BR" sz="1200" dirty="0"/>
              <a:t> </a:t>
            </a:r>
            <a:r>
              <a:rPr lang="pt-BR" sz="1200" dirty="0" err="1"/>
              <a:t>EasyNAS</a:t>
            </a:r>
            <a:r>
              <a:rPr lang="pt-BR" sz="1200" dirty="0"/>
              <a:t> for Vision: </a:t>
            </a:r>
            <a:r>
              <a:rPr lang="pt-BR" sz="1200" dirty="0" err="1"/>
              <a:t>Convolution</a:t>
            </a:r>
            <a:r>
              <a:rPr lang="pt-BR" sz="1200" dirty="0"/>
              <a:t> </a:t>
            </a:r>
            <a:r>
              <a:rPr lang="pt-BR" sz="1200" dirty="0" err="1"/>
              <a:t>Operation</a:t>
            </a:r>
            <a:r>
              <a:rPr lang="pt-BR" sz="1200" dirty="0"/>
              <a:t> </a:t>
            </a:r>
            <a:r>
              <a:rPr lang="pt-BR" sz="1200" dirty="0" err="1"/>
              <a:t>Merging</a:t>
            </a:r>
            <a:r>
              <a:rPr lang="pt-BR" sz="1200" dirty="0"/>
              <a:t>, Map </a:t>
            </a:r>
            <a:r>
              <a:rPr lang="pt-BR" sz="1200" dirty="0" err="1"/>
              <a:t>Channel</a:t>
            </a:r>
            <a:r>
              <a:rPr lang="pt-BR" sz="1200" dirty="0"/>
              <a:t> </a:t>
            </a:r>
            <a:r>
              <a:rPr lang="pt-BR" sz="1200" dirty="0" err="1"/>
              <a:t>Reducing</a:t>
            </a:r>
            <a:r>
              <a:rPr lang="pt-BR" sz="1200" dirty="0"/>
              <a:t>, </a:t>
            </a:r>
            <a:r>
              <a:rPr lang="pt-BR" sz="1200" dirty="0" err="1"/>
              <a:t>and</a:t>
            </a:r>
            <a:r>
              <a:rPr lang="pt-BR" sz="1200" dirty="0"/>
              <a:t> Search Space </a:t>
            </a:r>
            <a:r>
              <a:rPr lang="pt-BR" sz="1200" dirty="0" err="1"/>
              <a:t>to</a:t>
            </a:r>
            <a:r>
              <a:rPr lang="pt-BR" sz="1200" dirty="0"/>
              <a:t> </a:t>
            </a:r>
            <a:r>
              <a:rPr lang="pt-BR" sz="1200" dirty="0" err="1"/>
              <a:t>Supernet</a:t>
            </a:r>
            <a:r>
              <a:rPr lang="pt-BR" sz="1200" dirty="0"/>
              <a:t> </a:t>
            </a:r>
            <a:r>
              <a:rPr lang="pt-BR" sz="1200" dirty="0" err="1"/>
              <a:t>Conversion</a:t>
            </a:r>
            <a:r>
              <a:rPr lang="pt-BR" sz="1200" dirty="0"/>
              <a:t> </a:t>
            </a:r>
            <a:r>
              <a:rPr lang="pt-BR" sz="1200" dirty="0" err="1"/>
              <a:t>Tooling</a:t>
            </a:r>
            <a:r>
              <a:rPr lang="pt-BR" sz="1200" dirty="0"/>
              <a:t>, Nov. 2023.</a:t>
            </a:r>
            <a:endParaRPr lang="en-US" sz="1200" noProof="1"/>
          </a:p>
        </p:txBody>
      </p:sp>
      <p:pic>
        <p:nvPicPr>
          <p:cNvPr id="9" name="Picture 8">
            <a:extLst>
              <a:ext uri="{FF2B5EF4-FFF2-40B4-BE49-F238E27FC236}">
                <a16:creationId xmlns:a16="http://schemas.microsoft.com/office/drawing/2014/main" id="{53C5E93E-CC37-0E18-B0E5-3F7556811C3E}"/>
              </a:ext>
            </a:extLst>
          </p:cNvPr>
          <p:cNvPicPr>
            <a:picLocks noChangeAspect="1"/>
          </p:cNvPicPr>
          <p:nvPr/>
        </p:nvPicPr>
        <p:blipFill>
          <a:blip r:embed="rId3"/>
          <a:stretch>
            <a:fillRect/>
          </a:stretch>
        </p:blipFill>
        <p:spPr>
          <a:xfrm>
            <a:off x="229514" y="691309"/>
            <a:ext cx="7100313" cy="5428138"/>
          </a:xfrm>
          <a:prstGeom prst="rect">
            <a:avLst/>
          </a:prstGeom>
        </p:spPr>
      </p:pic>
      <p:sp>
        <p:nvSpPr>
          <p:cNvPr id="12" name="TextBox 11">
            <a:extLst>
              <a:ext uri="{FF2B5EF4-FFF2-40B4-BE49-F238E27FC236}">
                <a16:creationId xmlns:a16="http://schemas.microsoft.com/office/drawing/2014/main" id="{F62AAFAE-23D1-7E33-390B-A8025745A295}"/>
              </a:ext>
            </a:extLst>
          </p:cNvPr>
          <p:cNvSpPr txBox="1"/>
          <p:nvPr/>
        </p:nvSpPr>
        <p:spPr>
          <a:xfrm>
            <a:off x="7415999" y="845283"/>
            <a:ext cx="4546487" cy="4708981"/>
          </a:xfrm>
          <a:prstGeom prst="rect">
            <a:avLst/>
          </a:prstGeom>
          <a:noFill/>
          <a:ln w="38100">
            <a:solidFill>
              <a:schemeClr val="tx1"/>
            </a:solidFill>
          </a:ln>
        </p:spPr>
        <p:txBody>
          <a:bodyPr wrap="square">
            <a:spAutoFit/>
          </a:bodyPr>
          <a:lstStyle/>
          <a:p>
            <a:pPr>
              <a:buFont typeface="Arial" panose="020B0604020202020204" pitchFamily="34" charset="0"/>
              <a:buChar char="•"/>
            </a:pPr>
            <a:r>
              <a:rPr lang="pt-BR" sz="2000" dirty="0"/>
              <a:t> A célula tem </a:t>
            </a:r>
            <a:r>
              <a:rPr lang="pt-BR" sz="2000" b="1" dirty="0"/>
              <a:t>nós de entrada</a:t>
            </a:r>
            <a:r>
              <a:rPr lang="pt-BR" sz="2000" dirty="0"/>
              <a:t> e </a:t>
            </a:r>
            <a:r>
              <a:rPr lang="pt-BR" sz="2000" b="1" dirty="0"/>
              <a:t>nós intermediários</a:t>
            </a:r>
            <a:r>
              <a:rPr lang="pt-BR" sz="2000" dirty="0"/>
              <a:t> </a:t>
            </a:r>
          </a:p>
          <a:p>
            <a:pPr>
              <a:buFont typeface="Arial" panose="020B0604020202020204" pitchFamily="34" charset="0"/>
              <a:buChar char="•"/>
            </a:pPr>
            <a:r>
              <a:rPr lang="pt-BR" sz="2000" dirty="0"/>
              <a:t> Cada nó intermediário é implementado como um </a:t>
            </a:r>
            <a:r>
              <a:rPr lang="pt-BR" sz="2000" b="1" dirty="0"/>
              <a:t>Atomic Search </a:t>
            </a:r>
            <a:r>
              <a:rPr lang="pt-BR" sz="2000" b="1" dirty="0" err="1"/>
              <a:t>Component</a:t>
            </a:r>
            <a:r>
              <a:rPr lang="pt-BR" sz="2000" dirty="0"/>
              <a:t> </a:t>
            </a:r>
          </a:p>
          <a:p>
            <a:pPr>
              <a:buFont typeface="Arial" panose="020B0604020202020204" pitchFamily="34" charset="0"/>
              <a:buChar char="•"/>
            </a:pPr>
            <a:r>
              <a:rPr lang="pt-BR" sz="2000" dirty="0"/>
              <a:t> Cada componente recebe </a:t>
            </a:r>
            <a:r>
              <a:rPr lang="pt-BR" sz="2000" b="1" dirty="0"/>
              <a:t>várias entradas candidatas dos nós anteriores</a:t>
            </a:r>
            <a:r>
              <a:rPr lang="pt-BR" sz="2000" dirty="0"/>
              <a:t> </a:t>
            </a:r>
          </a:p>
          <a:p>
            <a:pPr>
              <a:buFont typeface="Arial" panose="020B0604020202020204" pitchFamily="34" charset="0"/>
              <a:buChar char="•"/>
            </a:pPr>
            <a:r>
              <a:rPr lang="pt-BR" sz="2000" dirty="0"/>
              <a:t> Em cada conexão, o método escolhe a operação mais adequada dentro do conjunto candidato </a:t>
            </a:r>
          </a:p>
          <a:p>
            <a:pPr>
              <a:buFont typeface="Arial" panose="020B0604020202020204" pitchFamily="34" charset="0"/>
              <a:buChar char="•"/>
            </a:pPr>
            <a:endParaRPr lang="pt-BR" sz="2000" dirty="0"/>
          </a:p>
          <a:p>
            <a:pPr>
              <a:buNone/>
            </a:pPr>
            <a:r>
              <a:rPr lang="pt-BR" sz="2000" dirty="0"/>
              <a:t>Para classificação, o </a:t>
            </a:r>
            <a:r>
              <a:rPr lang="pt-BR" sz="2000" dirty="0" err="1"/>
              <a:t>EasyNAS</a:t>
            </a:r>
            <a:r>
              <a:rPr lang="pt-BR" sz="2000" dirty="0"/>
              <a:t> consegue reproduzir a lógica de uma célula tipo DARTS, mas substituindo os blocos tradicionais pelos seus </a:t>
            </a:r>
            <a:r>
              <a:rPr lang="pt-BR" sz="2000" b="1" dirty="0" err="1"/>
              <a:t>atomic</a:t>
            </a:r>
            <a:r>
              <a:rPr lang="pt-BR" sz="2000" b="1" dirty="0"/>
              <a:t> </a:t>
            </a:r>
            <a:r>
              <a:rPr lang="pt-BR" sz="2000" b="1" dirty="0" err="1"/>
              <a:t>search</a:t>
            </a:r>
            <a:r>
              <a:rPr lang="pt-BR" sz="2000" b="1" dirty="0"/>
              <a:t> </a:t>
            </a:r>
            <a:r>
              <a:rPr lang="pt-BR" sz="2000" b="1" dirty="0" err="1"/>
              <a:t>components</a:t>
            </a:r>
            <a:r>
              <a:rPr lang="pt-BR" sz="2000" dirty="0"/>
              <a:t>.</a:t>
            </a:r>
          </a:p>
        </p:txBody>
      </p:sp>
    </p:spTree>
    <p:extLst>
      <p:ext uri="{BB962C8B-B14F-4D97-AF65-F5344CB8AC3E}">
        <p14:creationId xmlns:p14="http://schemas.microsoft.com/office/powerpoint/2010/main" val="2992184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78FD5-B01C-5494-7B62-C91E3B495B1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FA89BFD-78BD-DAAA-9CB7-230A55606013}"/>
              </a:ext>
            </a:extLst>
          </p:cNvPr>
          <p:cNvSpPr>
            <a:spLocks noGrp="1"/>
          </p:cNvSpPr>
          <p:nvPr>
            <p:ph type="title"/>
          </p:nvPr>
        </p:nvSpPr>
        <p:spPr>
          <a:xfrm>
            <a:off x="315686" y="-372207"/>
            <a:ext cx="10515600" cy="1325563"/>
          </a:xfrm>
        </p:spPr>
        <p:txBody>
          <a:bodyPr/>
          <a:lstStyle/>
          <a:p>
            <a:r>
              <a:rPr lang="pt-BR" noProof="1"/>
              <a:t>Supernet para Detecção de Objetos</a:t>
            </a:r>
            <a:endParaRPr lang="en-US" noProof="1"/>
          </a:p>
        </p:txBody>
      </p:sp>
      <p:sp>
        <p:nvSpPr>
          <p:cNvPr id="6" name="Slide Number Placeholder 5">
            <a:extLst>
              <a:ext uri="{FF2B5EF4-FFF2-40B4-BE49-F238E27FC236}">
                <a16:creationId xmlns:a16="http://schemas.microsoft.com/office/drawing/2014/main" id="{2DC5F1A5-78D5-939E-8E2D-B6337AE568C7}"/>
              </a:ext>
            </a:extLst>
          </p:cNvPr>
          <p:cNvSpPr>
            <a:spLocks noGrp="1"/>
          </p:cNvSpPr>
          <p:nvPr>
            <p:ph type="sldNum" sz="quarter" idx="12"/>
          </p:nvPr>
        </p:nvSpPr>
        <p:spPr/>
        <p:txBody>
          <a:bodyPr/>
          <a:lstStyle/>
          <a:p>
            <a:fld id="{1A7E88B7-70CE-4035-AE73-13FA6FB985D4}" type="slidenum">
              <a:rPr lang="en-US" noProof="1" smtClean="0"/>
              <a:t>17</a:t>
            </a:fld>
            <a:endParaRPr lang="en-US" noProof="1"/>
          </a:p>
        </p:txBody>
      </p:sp>
      <p:sp>
        <p:nvSpPr>
          <p:cNvPr id="8" name="TextBox 7">
            <a:extLst>
              <a:ext uri="{FF2B5EF4-FFF2-40B4-BE49-F238E27FC236}">
                <a16:creationId xmlns:a16="http://schemas.microsoft.com/office/drawing/2014/main" id="{1BDC38CB-4A3D-A9B9-AD11-36CCBD9244CC}"/>
              </a:ext>
            </a:extLst>
          </p:cNvPr>
          <p:cNvSpPr txBox="1"/>
          <p:nvPr/>
        </p:nvSpPr>
        <p:spPr>
          <a:xfrm>
            <a:off x="0" y="6541354"/>
            <a:ext cx="10609385" cy="276999"/>
          </a:xfrm>
          <a:prstGeom prst="rect">
            <a:avLst/>
          </a:prstGeom>
          <a:noFill/>
        </p:spPr>
        <p:txBody>
          <a:bodyPr wrap="square">
            <a:spAutoFit/>
          </a:bodyPr>
          <a:lstStyle/>
          <a:p>
            <a:r>
              <a:rPr lang="pt-BR" sz="1200" dirty="0"/>
              <a:t>DIY </a:t>
            </a:r>
            <a:r>
              <a:rPr lang="pt-BR" sz="1200" dirty="0" err="1"/>
              <a:t>Your</a:t>
            </a:r>
            <a:r>
              <a:rPr lang="pt-BR" sz="1200" dirty="0"/>
              <a:t> </a:t>
            </a:r>
            <a:r>
              <a:rPr lang="pt-BR" sz="1200" dirty="0" err="1"/>
              <a:t>EasyNAS</a:t>
            </a:r>
            <a:r>
              <a:rPr lang="pt-BR" sz="1200" dirty="0"/>
              <a:t> for Vision: </a:t>
            </a:r>
            <a:r>
              <a:rPr lang="pt-BR" sz="1200" dirty="0" err="1"/>
              <a:t>Convolution</a:t>
            </a:r>
            <a:r>
              <a:rPr lang="pt-BR" sz="1200" dirty="0"/>
              <a:t> </a:t>
            </a:r>
            <a:r>
              <a:rPr lang="pt-BR" sz="1200" dirty="0" err="1"/>
              <a:t>Operation</a:t>
            </a:r>
            <a:r>
              <a:rPr lang="pt-BR" sz="1200" dirty="0"/>
              <a:t> </a:t>
            </a:r>
            <a:r>
              <a:rPr lang="pt-BR" sz="1200" dirty="0" err="1"/>
              <a:t>Merging</a:t>
            </a:r>
            <a:r>
              <a:rPr lang="pt-BR" sz="1200" dirty="0"/>
              <a:t>, Map </a:t>
            </a:r>
            <a:r>
              <a:rPr lang="pt-BR" sz="1200" dirty="0" err="1"/>
              <a:t>Channel</a:t>
            </a:r>
            <a:r>
              <a:rPr lang="pt-BR" sz="1200" dirty="0"/>
              <a:t> </a:t>
            </a:r>
            <a:r>
              <a:rPr lang="pt-BR" sz="1200" dirty="0" err="1"/>
              <a:t>Reducing</a:t>
            </a:r>
            <a:r>
              <a:rPr lang="pt-BR" sz="1200" dirty="0"/>
              <a:t>, </a:t>
            </a:r>
            <a:r>
              <a:rPr lang="pt-BR" sz="1200" dirty="0" err="1"/>
              <a:t>and</a:t>
            </a:r>
            <a:r>
              <a:rPr lang="pt-BR" sz="1200" dirty="0"/>
              <a:t> Search Space </a:t>
            </a:r>
            <a:r>
              <a:rPr lang="pt-BR" sz="1200" dirty="0" err="1"/>
              <a:t>to</a:t>
            </a:r>
            <a:r>
              <a:rPr lang="pt-BR" sz="1200" dirty="0"/>
              <a:t> </a:t>
            </a:r>
            <a:r>
              <a:rPr lang="pt-BR" sz="1200" dirty="0" err="1"/>
              <a:t>Supernet</a:t>
            </a:r>
            <a:r>
              <a:rPr lang="pt-BR" sz="1200" dirty="0"/>
              <a:t> </a:t>
            </a:r>
            <a:r>
              <a:rPr lang="pt-BR" sz="1200" dirty="0" err="1"/>
              <a:t>Conversion</a:t>
            </a:r>
            <a:r>
              <a:rPr lang="pt-BR" sz="1200" dirty="0"/>
              <a:t> </a:t>
            </a:r>
            <a:r>
              <a:rPr lang="pt-BR" sz="1200" dirty="0" err="1"/>
              <a:t>Tooling</a:t>
            </a:r>
            <a:r>
              <a:rPr lang="pt-BR" sz="1200" dirty="0"/>
              <a:t>, Nov. 2023.</a:t>
            </a:r>
            <a:endParaRPr lang="en-US" sz="1200" noProof="1"/>
          </a:p>
        </p:txBody>
      </p:sp>
      <p:pic>
        <p:nvPicPr>
          <p:cNvPr id="4" name="Picture 3">
            <a:extLst>
              <a:ext uri="{FF2B5EF4-FFF2-40B4-BE49-F238E27FC236}">
                <a16:creationId xmlns:a16="http://schemas.microsoft.com/office/drawing/2014/main" id="{A41B0BEA-526A-C8DF-4D67-D9AC6E3A879D}"/>
              </a:ext>
            </a:extLst>
          </p:cNvPr>
          <p:cNvPicPr>
            <a:picLocks noChangeAspect="1"/>
          </p:cNvPicPr>
          <p:nvPr/>
        </p:nvPicPr>
        <p:blipFill>
          <a:blip r:embed="rId3"/>
          <a:stretch>
            <a:fillRect/>
          </a:stretch>
        </p:blipFill>
        <p:spPr>
          <a:xfrm>
            <a:off x="177981" y="790206"/>
            <a:ext cx="11698333" cy="5277587"/>
          </a:xfrm>
          <a:prstGeom prst="rect">
            <a:avLst/>
          </a:prstGeom>
        </p:spPr>
      </p:pic>
    </p:spTree>
    <p:extLst>
      <p:ext uri="{BB962C8B-B14F-4D97-AF65-F5344CB8AC3E}">
        <p14:creationId xmlns:p14="http://schemas.microsoft.com/office/powerpoint/2010/main" val="2145599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5EA86-881B-A938-63FA-E755DC203CF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DC7FC4A-3F65-2A08-C223-5A803F62846B}"/>
              </a:ext>
            </a:extLst>
          </p:cNvPr>
          <p:cNvSpPr>
            <a:spLocks noGrp="1"/>
          </p:cNvSpPr>
          <p:nvPr>
            <p:ph type="title"/>
          </p:nvPr>
        </p:nvSpPr>
        <p:spPr>
          <a:xfrm>
            <a:off x="315686" y="-372207"/>
            <a:ext cx="10515600" cy="1325563"/>
          </a:xfrm>
        </p:spPr>
        <p:txBody>
          <a:bodyPr/>
          <a:lstStyle/>
          <a:p>
            <a:r>
              <a:rPr lang="pt-BR" noProof="1"/>
              <a:t>Supernet para Segmentação Semântica</a:t>
            </a:r>
            <a:endParaRPr lang="en-US" noProof="1"/>
          </a:p>
        </p:txBody>
      </p:sp>
      <p:sp>
        <p:nvSpPr>
          <p:cNvPr id="6" name="Slide Number Placeholder 5">
            <a:extLst>
              <a:ext uri="{FF2B5EF4-FFF2-40B4-BE49-F238E27FC236}">
                <a16:creationId xmlns:a16="http://schemas.microsoft.com/office/drawing/2014/main" id="{6998C136-0EDC-60F9-2246-02AE24EDF697}"/>
              </a:ext>
            </a:extLst>
          </p:cNvPr>
          <p:cNvSpPr>
            <a:spLocks noGrp="1"/>
          </p:cNvSpPr>
          <p:nvPr>
            <p:ph type="sldNum" sz="quarter" idx="12"/>
          </p:nvPr>
        </p:nvSpPr>
        <p:spPr/>
        <p:txBody>
          <a:bodyPr/>
          <a:lstStyle/>
          <a:p>
            <a:fld id="{1A7E88B7-70CE-4035-AE73-13FA6FB985D4}" type="slidenum">
              <a:rPr lang="en-US" noProof="1" smtClean="0"/>
              <a:t>18</a:t>
            </a:fld>
            <a:endParaRPr lang="en-US" noProof="1"/>
          </a:p>
        </p:txBody>
      </p:sp>
      <p:sp>
        <p:nvSpPr>
          <p:cNvPr id="8" name="TextBox 7">
            <a:extLst>
              <a:ext uri="{FF2B5EF4-FFF2-40B4-BE49-F238E27FC236}">
                <a16:creationId xmlns:a16="http://schemas.microsoft.com/office/drawing/2014/main" id="{C1EAC698-923F-5632-0FD2-BA61CBE23B69}"/>
              </a:ext>
            </a:extLst>
          </p:cNvPr>
          <p:cNvSpPr txBox="1"/>
          <p:nvPr/>
        </p:nvSpPr>
        <p:spPr>
          <a:xfrm>
            <a:off x="0" y="6541354"/>
            <a:ext cx="10609385" cy="276999"/>
          </a:xfrm>
          <a:prstGeom prst="rect">
            <a:avLst/>
          </a:prstGeom>
          <a:noFill/>
        </p:spPr>
        <p:txBody>
          <a:bodyPr wrap="square">
            <a:spAutoFit/>
          </a:bodyPr>
          <a:lstStyle/>
          <a:p>
            <a:r>
              <a:rPr lang="pt-BR" sz="1200" dirty="0"/>
              <a:t>DIY </a:t>
            </a:r>
            <a:r>
              <a:rPr lang="pt-BR" sz="1200" dirty="0" err="1"/>
              <a:t>Your</a:t>
            </a:r>
            <a:r>
              <a:rPr lang="pt-BR" sz="1200" dirty="0"/>
              <a:t> </a:t>
            </a:r>
            <a:r>
              <a:rPr lang="pt-BR" sz="1200" dirty="0" err="1"/>
              <a:t>EasyNAS</a:t>
            </a:r>
            <a:r>
              <a:rPr lang="pt-BR" sz="1200" dirty="0"/>
              <a:t> for Vision: </a:t>
            </a:r>
            <a:r>
              <a:rPr lang="pt-BR" sz="1200" dirty="0" err="1"/>
              <a:t>Convolution</a:t>
            </a:r>
            <a:r>
              <a:rPr lang="pt-BR" sz="1200" dirty="0"/>
              <a:t> </a:t>
            </a:r>
            <a:r>
              <a:rPr lang="pt-BR" sz="1200" dirty="0" err="1"/>
              <a:t>Operation</a:t>
            </a:r>
            <a:r>
              <a:rPr lang="pt-BR" sz="1200" dirty="0"/>
              <a:t> </a:t>
            </a:r>
            <a:r>
              <a:rPr lang="pt-BR" sz="1200" dirty="0" err="1"/>
              <a:t>Merging</a:t>
            </a:r>
            <a:r>
              <a:rPr lang="pt-BR" sz="1200" dirty="0"/>
              <a:t>, Map </a:t>
            </a:r>
            <a:r>
              <a:rPr lang="pt-BR" sz="1200" dirty="0" err="1"/>
              <a:t>Channel</a:t>
            </a:r>
            <a:r>
              <a:rPr lang="pt-BR" sz="1200" dirty="0"/>
              <a:t> </a:t>
            </a:r>
            <a:r>
              <a:rPr lang="pt-BR" sz="1200" dirty="0" err="1"/>
              <a:t>Reducing</a:t>
            </a:r>
            <a:r>
              <a:rPr lang="pt-BR" sz="1200" dirty="0"/>
              <a:t>, </a:t>
            </a:r>
            <a:r>
              <a:rPr lang="pt-BR" sz="1200" dirty="0" err="1"/>
              <a:t>and</a:t>
            </a:r>
            <a:r>
              <a:rPr lang="pt-BR" sz="1200" dirty="0"/>
              <a:t> Search Space </a:t>
            </a:r>
            <a:r>
              <a:rPr lang="pt-BR" sz="1200" dirty="0" err="1"/>
              <a:t>to</a:t>
            </a:r>
            <a:r>
              <a:rPr lang="pt-BR" sz="1200" dirty="0"/>
              <a:t> </a:t>
            </a:r>
            <a:r>
              <a:rPr lang="pt-BR" sz="1200" dirty="0" err="1"/>
              <a:t>Supernet</a:t>
            </a:r>
            <a:r>
              <a:rPr lang="pt-BR" sz="1200" dirty="0"/>
              <a:t> </a:t>
            </a:r>
            <a:r>
              <a:rPr lang="pt-BR" sz="1200" dirty="0" err="1"/>
              <a:t>Conversion</a:t>
            </a:r>
            <a:r>
              <a:rPr lang="pt-BR" sz="1200" dirty="0"/>
              <a:t> </a:t>
            </a:r>
            <a:r>
              <a:rPr lang="pt-BR" sz="1200" dirty="0" err="1"/>
              <a:t>Tooling</a:t>
            </a:r>
            <a:r>
              <a:rPr lang="pt-BR" sz="1200" dirty="0"/>
              <a:t>, Nov. 2023.</a:t>
            </a:r>
            <a:endParaRPr lang="en-US" sz="1200" noProof="1"/>
          </a:p>
        </p:txBody>
      </p:sp>
      <p:pic>
        <p:nvPicPr>
          <p:cNvPr id="5" name="Picture 4">
            <a:extLst>
              <a:ext uri="{FF2B5EF4-FFF2-40B4-BE49-F238E27FC236}">
                <a16:creationId xmlns:a16="http://schemas.microsoft.com/office/drawing/2014/main" id="{DFA80681-CFA1-B5AE-AFD1-7AD760F7E124}"/>
              </a:ext>
            </a:extLst>
          </p:cNvPr>
          <p:cNvPicPr>
            <a:picLocks noChangeAspect="1"/>
          </p:cNvPicPr>
          <p:nvPr/>
        </p:nvPicPr>
        <p:blipFill>
          <a:blip r:embed="rId3"/>
          <a:stretch>
            <a:fillRect/>
          </a:stretch>
        </p:blipFill>
        <p:spPr>
          <a:xfrm>
            <a:off x="339969" y="1879480"/>
            <a:ext cx="11512062" cy="3348672"/>
          </a:xfrm>
          <a:prstGeom prst="rect">
            <a:avLst/>
          </a:prstGeom>
        </p:spPr>
      </p:pic>
    </p:spTree>
    <p:extLst>
      <p:ext uri="{BB962C8B-B14F-4D97-AF65-F5344CB8AC3E}">
        <p14:creationId xmlns:p14="http://schemas.microsoft.com/office/powerpoint/2010/main" val="10564951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18881-0B56-B15F-D098-1BC1F1B131C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6FA8DC0-E956-6349-1C10-CB13022FB332}"/>
              </a:ext>
            </a:extLst>
          </p:cNvPr>
          <p:cNvSpPr>
            <a:spLocks noGrp="1"/>
          </p:cNvSpPr>
          <p:nvPr>
            <p:ph type="title"/>
          </p:nvPr>
        </p:nvSpPr>
        <p:spPr>
          <a:xfrm>
            <a:off x="51825" y="0"/>
            <a:ext cx="12088349" cy="1325563"/>
          </a:xfrm>
        </p:spPr>
        <p:txBody>
          <a:bodyPr/>
          <a:lstStyle/>
          <a:p>
            <a:r>
              <a:rPr lang="en-US" noProof="1"/>
              <a:t>Resultados</a:t>
            </a:r>
          </a:p>
        </p:txBody>
      </p:sp>
      <p:sp>
        <p:nvSpPr>
          <p:cNvPr id="6" name="Slide Number Placeholder 5">
            <a:extLst>
              <a:ext uri="{FF2B5EF4-FFF2-40B4-BE49-F238E27FC236}">
                <a16:creationId xmlns:a16="http://schemas.microsoft.com/office/drawing/2014/main" id="{0BEB193C-3C2F-B8BB-2640-097A80C09E21}"/>
              </a:ext>
            </a:extLst>
          </p:cNvPr>
          <p:cNvSpPr>
            <a:spLocks noGrp="1"/>
          </p:cNvSpPr>
          <p:nvPr>
            <p:ph type="sldNum" sz="quarter" idx="12"/>
          </p:nvPr>
        </p:nvSpPr>
        <p:spPr/>
        <p:txBody>
          <a:bodyPr/>
          <a:lstStyle/>
          <a:p>
            <a:fld id="{1A7E88B7-70CE-4035-AE73-13FA6FB985D4}" type="slidenum">
              <a:rPr lang="en-US" noProof="1" smtClean="0"/>
              <a:t>19</a:t>
            </a:fld>
            <a:endParaRPr lang="en-US" noProof="1"/>
          </a:p>
        </p:txBody>
      </p:sp>
      <p:pic>
        <p:nvPicPr>
          <p:cNvPr id="4" name="Picture 3">
            <a:extLst>
              <a:ext uri="{FF2B5EF4-FFF2-40B4-BE49-F238E27FC236}">
                <a16:creationId xmlns:a16="http://schemas.microsoft.com/office/drawing/2014/main" id="{893D81DD-750B-10B8-CD6B-8FCC6BF64F24}"/>
              </a:ext>
            </a:extLst>
          </p:cNvPr>
          <p:cNvPicPr>
            <a:picLocks noChangeAspect="1"/>
          </p:cNvPicPr>
          <p:nvPr/>
        </p:nvPicPr>
        <p:blipFill>
          <a:blip r:embed="rId3"/>
          <a:stretch>
            <a:fillRect/>
          </a:stretch>
        </p:blipFill>
        <p:spPr>
          <a:xfrm>
            <a:off x="3876949" y="4833879"/>
            <a:ext cx="900324" cy="460511"/>
          </a:xfrm>
          <a:prstGeom prst="rect">
            <a:avLst/>
          </a:prstGeom>
        </p:spPr>
      </p:pic>
      <p:pic>
        <p:nvPicPr>
          <p:cNvPr id="9" name="Picture 8">
            <a:extLst>
              <a:ext uri="{FF2B5EF4-FFF2-40B4-BE49-F238E27FC236}">
                <a16:creationId xmlns:a16="http://schemas.microsoft.com/office/drawing/2014/main" id="{58F2A431-4B1C-E798-52B1-A123E7FC33FC}"/>
              </a:ext>
            </a:extLst>
          </p:cNvPr>
          <p:cNvPicPr>
            <a:picLocks noChangeAspect="1"/>
          </p:cNvPicPr>
          <p:nvPr/>
        </p:nvPicPr>
        <p:blipFill>
          <a:blip r:embed="rId3"/>
          <a:stretch>
            <a:fillRect/>
          </a:stretch>
        </p:blipFill>
        <p:spPr>
          <a:xfrm>
            <a:off x="5914128" y="5932428"/>
            <a:ext cx="97892" cy="847843"/>
          </a:xfrm>
          <a:prstGeom prst="rect">
            <a:avLst/>
          </a:prstGeom>
        </p:spPr>
      </p:pic>
      <p:pic>
        <p:nvPicPr>
          <p:cNvPr id="7" name="Picture 6">
            <a:extLst>
              <a:ext uri="{FF2B5EF4-FFF2-40B4-BE49-F238E27FC236}">
                <a16:creationId xmlns:a16="http://schemas.microsoft.com/office/drawing/2014/main" id="{428ED94B-D102-7E36-2909-E2EBE1A16ECA}"/>
              </a:ext>
            </a:extLst>
          </p:cNvPr>
          <p:cNvPicPr>
            <a:picLocks noChangeAspect="1"/>
          </p:cNvPicPr>
          <p:nvPr/>
        </p:nvPicPr>
        <p:blipFill>
          <a:blip r:embed="rId4"/>
          <a:stretch>
            <a:fillRect/>
          </a:stretch>
        </p:blipFill>
        <p:spPr>
          <a:xfrm>
            <a:off x="154578" y="987181"/>
            <a:ext cx="8345065" cy="1543265"/>
          </a:xfrm>
          <a:prstGeom prst="rect">
            <a:avLst/>
          </a:prstGeom>
          <a:ln w="38100">
            <a:solidFill>
              <a:schemeClr val="tx1"/>
            </a:solidFill>
          </a:ln>
        </p:spPr>
      </p:pic>
      <p:pic>
        <p:nvPicPr>
          <p:cNvPr id="12" name="Picture 11">
            <a:extLst>
              <a:ext uri="{FF2B5EF4-FFF2-40B4-BE49-F238E27FC236}">
                <a16:creationId xmlns:a16="http://schemas.microsoft.com/office/drawing/2014/main" id="{354CA99C-2035-E836-5EB2-B28E82B96D0D}"/>
              </a:ext>
            </a:extLst>
          </p:cNvPr>
          <p:cNvPicPr>
            <a:picLocks noChangeAspect="1"/>
          </p:cNvPicPr>
          <p:nvPr/>
        </p:nvPicPr>
        <p:blipFill>
          <a:blip r:embed="rId5"/>
          <a:stretch>
            <a:fillRect/>
          </a:stretch>
        </p:blipFill>
        <p:spPr>
          <a:xfrm>
            <a:off x="154578" y="2635777"/>
            <a:ext cx="8487960" cy="3191320"/>
          </a:xfrm>
          <a:prstGeom prst="rect">
            <a:avLst/>
          </a:prstGeom>
          <a:ln w="38100">
            <a:solidFill>
              <a:schemeClr val="tx1"/>
            </a:solidFill>
          </a:ln>
        </p:spPr>
      </p:pic>
      <p:pic>
        <p:nvPicPr>
          <p:cNvPr id="14" name="Picture 13">
            <a:extLst>
              <a:ext uri="{FF2B5EF4-FFF2-40B4-BE49-F238E27FC236}">
                <a16:creationId xmlns:a16="http://schemas.microsoft.com/office/drawing/2014/main" id="{4A6A2F10-FA9F-48D9-9A4F-1CD3C8F1D4C7}"/>
              </a:ext>
            </a:extLst>
          </p:cNvPr>
          <p:cNvPicPr>
            <a:picLocks noChangeAspect="1"/>
          </p:cNvPicPr>
          <p:nvPr/>
        </p:nvPicPr>
        <p:blipFill>
          <a:blip r:embed="rId6"/>
          <a:stretch>
            <a:fillRect/>
          </a:stretch>
        </p:blipFill>
        <p:spPr>
          <a:xfrm>
            <a:off x="6012020" y="5165288"/>
            <a:ext cx="4591691" cy="1428949"/>
          </a:xfrm>
          <a:prstGeom prst="rect">
            <a:avLst/>
          </a:prstGeom>
          <a:ln w="38100">
            <a:solidFill>
              <a:schemeClr val="tx1"/>
            </a:solidFill>
          </a:ln>
        </p:spPr>
      </p:pic>
    </p:spTree>
    <p:extLst>
      <p:ext uri="{BB962C8B-B14F-4D97-AF65-F5344CB8AC3E}">
        <p14:creationId xmlns:p14="http://schemas.microsoft.com/office/powerpoint/2010/main" val="1760168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95BE6-4983-58EC-91FA-C9E8883F77ED}"/>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EA20154F-7555-C872-3825-66E60C0E1CC6}"/>
              </a:ext>
            </a:extLst>
          </p:cNvPr>
          <p:cNvPicPr>
            <a:picLocks noChangeAspect="1"/>
          </p:cNvPicPr>
          <p:nvPr/>
        </p:nvPicPr>
        <p:blipFill>
          <a:blip r:embed="rId3"/>
          <a:stretch>
            <a:fillRect/>
          </a:stretch>
        </p:blipFill>
        <p:spPr>
          <a:xfrm>
            <a:off x="4987280" y="5139059"/>
            <a:ext cx="6817860" cy="1676381"/>
          </a:xfrm>
          <a:prstGeom prst="rect">
            <a:avLst/>
          </a:prstGeom>
          <a:ln w="38100">
            <a:solidFill>
              <a:schemeClr val="tx1"/>
            </a:solidFill>
          </a:ln>
        </p:spPr>
      </p:pic>
      <p:sp>
        <p:nvSpPr>
          <p:cNvPr id="6" name="Slide Number Placeholder 5">
            <a:extLst>
              <a:ext uri="{FF2B5EF4-FFF2-40B4-BE49-F238E27FC236}">
                <a16:creationId xmlns:a16="http://schemas.microsoft.com/office/drawing/2014/main" id="{11198783-B22C-1E60-8137-08D6BE69DEF8}"/>
              </a:ext>
            </a:extLst>
          </p:cNvPr>
          <p:cNvSpPr>
            <a:spLocks noGrp="1"/>
          </p:cNvSpPr>
          <p:nvPr>
            <p:ph type="sldNum" sz="quarter" idx="12"/>
          </p:nvPr>
        </p:nvSpPr>
        <p:spPr/>
        <p:txBody>
          <a:bodyPr/>
          <a:lstStyle/>
          <a:p>
            <a:fld id="{1A7E88B7-70CE-4035-AE73-13FA6FB985D4}" type="slidenum">
              <a:rPr lang="en-US" noProof="1" smtClean="0"/>
              <a:t>20</a:t>
            </a:fld>
            <a:endParaRPr lang="en-US" noProof="1"/>
          </a:p>
        </p:txBody>
      </p:sp>
      <p:pic>
        <p:nvPicPr>
          <p:cNvPr id="4" name="Picture 3">
            <a:extLst>
              <a:ext uri="{FF2B5EF4-FFF2-40B4-BE49-F238E27FC236}">
                <a16:creationId xmlns:a16="http://schemas.microsoft.com/office/drawing/2014/main" id="{9BDFEBD5-736E-4D48-73F0-ECF8C6D4A3EC}"/>
              </a:ext>
            </a:extLst>
          </p:cNvPr>
          <p:cNvPicPr>
            <a:picLocks noChangeAspect="1"/>
          </p:cNvPicPr>
          <p:nvPr/>
        </p:nvPicPr>
        <p:blipFill>
          <a:blip r:embed="rId4"/>
          <a:stretch>
            <a:fillRect/>
          </a:stretch>
        </p:blipFill>
        <p:spPr>
          <a:xfrm>
            <a:off x="3876949" y="4833879"/>
            <a:ext cx="900324" cy="460511"/>
          </a:xfrm>
          <a:prstGeom prst="rect">
            <a:avLst/>
          </a:prstGeom>
        </p:spPr>
      </p:pic>
      <p:pic>
        <p:nvPicPr>
          <p:cNvPr id="5" name="Picture 4">
            <a:extLst>
              <a:ext uri="{FF2B5EF4-FFF2-40B4-BE49-F238E27FC236}">
                <a16:creationId xmlns:a16="http://schemas.microsoft.com/office/drawing/2014/main" id="{C6A94CD6-165A-A880-FE2B-A55DDEC20834}"/>
              </a:ext>
            </a:extLst>
          </p:cNvPr>
          <p:cNvPicPr>
            <a:picLocks noChangeAspect="1"/>
          </p:cNvPicPr>
          <p:nvPr/>
        </p:nvPicPr>
        <p:blipFill>
          <a:blip r:embed="rId5"/>
          <a:stretch>
            <a:fillRect/>
          </a:stretch>
        </p:blipFill>
        <p:spPr>
          <a:xfrm>
            <a:off x="130763" y="83468"/>
            <a:ext cx="8892132" cy="2433978"/>
          </a:xfrm>
          <a:prstGeom prst="rect">
            <a:avLst/>
          </a:prstGeom>
          <a:ln w="38100">
            <a:solidFill>
              <a:schemeClr val="tx1"/>
            </a:solidFill>
          </a:ln>
        </p:spPr>
      </p:pic>
      <p:pic>
        <p:nvPicPr>
          <p:cNvPr id="13" name="Picture 12">
            <a:extLst>
              <a:ext uri="{FF2B5EF4-FFF2-40B4-BE49-F238E27FC236}">
                <a16:creationId xmlns:a16="http://schemas.microsoft.com/office/drawing/2014/main" id="{E372D853-BD27-0E69-4022-0965DADB0A4C}"/>
              </a:ext>
            </a:extLst>
          </p:cNvPr>
          <p:cNvPicPr>
            <a:picLocks noChangeAspect="1"/>
          </p:cNvPicPr>
          <p:nvPr/>
        </p:nvPicPr>
        <p:blipFill>
          <a:blip r:embed="rId6"/>
          <a:stretch>
            <a:fillRect/>
          </a:stretch>
        </p:blipFill>
        <p:spPr>
          <a:xfrm>
            <a:off x="2826164" y="2619102"/>
            <a:ext cx="7032037" cy="2402546"/>
          </a:xfrm>
          <a:prstGeom prst="rect">
            <a:avLst/>
          </a:prstGeom>
          <a:ln w="38100">
            <a:solidFill>
              <a:schemeClr val="tx1"/>
            </a:solidFill>
          </a:ln>
        </p:spPr>
      </p:pic>
    </p:spTree>
    <p:extLst>
      <p:ext uri="{BB962C8B-B14F-4D97-AF65-F5344CB8AC3E}">
        <p14:creationId xmlns:p14="http://schemas.microsoft.com/office/powerpoint/2010/main" val="396687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DDED0-9652-1856-1888-E140369E3EA0}"/>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797C96A1-39B8-38C5-E0E1-5DBA6634ACBF}"/>
              </a:ext>
            </a:extLst>
          </p:cNvPr>
          <p:cNvPicPr>
            <a:picLocks noChangeAspect="1"/>
          </p:cNvPicPr>
          <p:nvPr/>
        </p:nvPicPr>
        <p:blipFill>
          <a:blip r:embed="rId3"/>
          <a:stretch>
            <a:fillRect/>
          </a:stretch>
        </p:blipFill>
        <p:spPr>
          <a:xfrm>
            <a:off x="5914128" y="3567499"/>
            <a:ext cx="5973843" cy="2788850"/>
          </a:xfrm>
          <a:prstGeom prst="rect">
            <a:avLst/>
          </a:prstGeom>
        </p:spPr>
      </p:pic>
      <p:sp>
        <p:nvSpPr>
          <p:cNvPr id="2" name="Título 1">
            <a:extLst>
              <a:ext uri="{FF2B5EF4-FFF2-40B4-BE49-F238E27FC236}">
                <a16:creationId xmlns:a16="http://schemas.microsoft.com/office/drawing/2014/main" id="{11B7309C-8617-B670-512E-22CBAD1A818D}"/>
              </a:ext>
            </a:extLst>
          </p:cNvPr>
          <p:cNvSpPr>
            <a:spLocks noGrp="1"/>
          </p:cNvSpPr>
          <p:nvPr>
            <p:ph type="title"/>
          </p:nvPr>
        </p:nvSpPr>
        <p:spPr>
          <a:xfrm>
            <a:off x="51825" y="0"/>
            <a:ext cx="12088349" cy="1325563"/>
          </a:xfrm>
        </p:spPr>
        <p:txBody>
          <a:bodyPr/>
          <a:lstStyle/>
          <a:p>
            <a:r>
              <a:rPr lang="en-US" noProof="1"/>
              <a:t>Resultados</a:t>
            </a:r>
          </a:p>
        </p:txBody>
      </p:sp>
      <p:sp>
        <p:nvSpPr>
          <p:cNvPr id="6" name="Slide Number Placeholder 5">
            <a:extLst>
              <a:ext uri="{FF2B5EF4-FFF2-40B4-BE49-F238E27FC236}">
                <a16:creationId xmlns:a16="http://schemas.microsoft.com/office/drawing/2014/main" id="{8360202B-0ADD-C8B5-7BF3-0C3E698A107E}"/>
              </a:ext>
            </a:extLst>
          </p:cNvPr>
          <p:cNvSpPr>
            <a:spLocks noGrp="1"/>
          </p:cNvSpPr>
          <p:nvPr>
            <p:ph type="sldNum" sz="quarter" idx="12"/>
          </p:nvPr>
        </p:nvSpPr>
        <p:spPr/>
        <p:txBody>
          <a:bodyPr/>
          <a:lstStyle/>
          <a:p>
            <a:fld id="{1A7E88B7-70CE-4035-AE73-13FA6FB985D4}" type="slidenum">
              <a:rPr lang="en-US" noProof="1" smtClean="0"/>
              <a:t>21</a:t>
            </a:fld>
            <a:endParaRPr lang="en-US" noProof="1"/>
          </a:p>
        </p:txBody>
      </p:sp>
      <p:pic>
        <p:nvPicPr>
          <p:cNvPr id="9" name="Picture 8">
            <a:extLst>
              <a:ext uri="{FF2B5EF4-FFF2-40B4-BE49-F238E27FC236}">
                <a16:creationId xmlns:a16="http://schemas.microsoft.com/office/drawing/2014/main" id="{619B5BAF-05CE-EC37-21EC-60BBB020A453}"/>
              </a:ext>
            </a:extLst>
          </p:cNvPr>
          <p:cNvPicPr>
            <a:picLocks noChangeAspect="1"/>
          </p:cNvPicPr>
          <p:nvPr/>
        </p:nvPicPr>
        <p:blipFill>
          <a:blip r:embed="rId4"/>
          <a:stretch>
            <a:fillRect/>
          </a:stretch>
        </p:blipFill>
        <p:spPr>
          <a:xfrm>
            <a:off x="5914128" y="5932428"/>
            <a:ext cx="97892" cy="847843"/>
          </a:xfrm>
          <a:prstGeom prst="rect">
            <a:avLst/>
          </a:prstGeom>
        </p:spPr>
      </p:pic>
      <p:pic>
        <p:nvPicPr>
          <p:cNvPr id="5" name="Picture 4">
            <a:extLst>
              <a:ext uri="{FF2B5EF4-FFF2-40B4-BE49-F238E27FC236}">
                <a16:creationId xmlns:a16="http://schemas.microsoft.com/office/drawing/2014/main" id="{511742DA-20DD-FB15-86DE-CC27805EC504}"/>
              </a:ext>
            </a:extLst>
          </p:cNvPr>
          <p:cNvPicPr>
            <a:picLocks noChangeAspect="1"/>
          </p:cNvPicPr>
          <p:nvPr/>
        </p:nvPicPr>
        <p:blipFill>
          <a:blip r:embed="rId5"/>
          <a:stretch>
            <a:fillRect/>
          </a:stretch>
        </p:blipFill>
        <p:spPr>
          <a:xfrm>
            <a:off x="1" y="998230"/>
            <a:ext cx="6806704" cy="2929002"/>
          </a:xfrm>
          <a:prstGeom prst="rect">
            <a:avLst/>
          </a:prstGeom>
        </p:spPr>
      </p:pic>
      <p:sp>
        <p:nvSpPr>
          <p:cNvPr id="8" name="TextBox 7">
            <a:extLst>
              <a:ext uri="{FF2B5EF4-FFF2-40B4-BE49-F238E27FC236}">
                <a16:creationId xmlns:a16="http://schemas.microsoft.com/office/drawing/2014/main" id="{93D27AB8-53E7-6495-628F-6B679EC6F931}"/>
              </a:ext>
            </a:extLst>
          </p:cNvPr>
          <p:cNvSpPr txBox="1"/>
          <p:nvPr/>
        </p:nvSpPr>
        <p:spPr>
          <a:xfrm>
            <a:off x="0" y="6541354"/>
            <a:ext cx="10609385" cy="276999"/>
          </a:xfrm>
          <a:prstGeom prst="rect">
            <a:avLst/>
          </a:prstGeom>
          <a:noFill/>
        </p:spPr>
        <p:txBody>
          <a:bodyPr wrap="square">
            <a:spAutoFit/>
          </a:bodyPr>
          <a:lstStyle/>
          <a:p>
            <a:r>
              <a:rPr lang="pt-BR" sz="1200" dirty="0"/>
              <a:t>DIY </a:t>
            </a:r>
            <a:r>
              <a:rPr lang="pt-BR" sz="1200" dirty="0" err="1"/>
              <a:t>Your</a:t>
            </a:r>
            <a:r>
              <a:rPr lang="pt-BR" sz="1200" dirty="0"/>
              <a:t> </a:t>
            </a:r>
            <a:r>
              <a:rPr lang="pt-BR" sz="1200" dirty="0" err="1"/>
              <a:t>EasyNAS</a:t>
            </a:r>
            <a:r>
              <a:rPr lang="pt-BR" sz="1200" dirty="0"/>
              <a:t> for Vision: </a:t>
            </a:r>
            <a:r>
              <a:rPr lang="pt-BR" sz="1200" dirty="0" err="1"/>
              <a:t>Convolution</a:t>
            </a:r>
            <a:r>
              <a:rPr lang="pt-BR" sz="1200" dirty="0"/>
              <a:t> </a:t>
            </a:r>
            <a:r>
              <a:rPr lang="pt-BR" sz="1200" dirty="0" err="1"/>
              <a:t>Operation</a:t>
            </a:r>
            <a:r>
              <a:rPr lang="pt-BR" sz="1200" dirty="0"/>
              <a:t> </a:t>
            </a:r>
            <a:r>
              <a:rPr lang="pt-BR" sz="1200" dirty="0" err="1"/>
              <a:t>Merging</a:t>
            </a:r>
            <a:r>
              <a:rPr lang="pt-BR" sz="1200" dirty="0"/>
              <a:t>, Map </a:t>
            </a:r>
            <a:r>
              <a:rPr lang="pt-BR" sz="1200" dirty="0" err="1"/>
              <a:t>Channel</a:t>
            </a:r>
            <a:r>
              <a:rPr lang="pt-BR" sz="1200" dirty="0"/>
              <a:t> </a:t>
            </a:r>
            <a:r>
              <a:rPr lang="pt-BR" sz="1200" dirty="0" err="1"/>
              <a:t>Reducing</a:t>
            </a:r>
            <a:r>
              <a:rPr lang="pt-BR" sz="1200" dirty="0"/>
              <a:t>, </a:t>
            </a:r>
            <a:r>
              <a:rPr lang="pt-BR" sz="1200" dirty="0" err="1"/>
              <a:t>and</a:t>
            </a:r>
            <a:r>
              <a:rPr lang="pt-BR" sz="1200" dirty="0"/>
              <a:t> Search Space </a:t>
            </a:r>
            <a:r>
              <a:rPr lang="pt-BR" sz="1200" dirty="0" err="1"/>
              <a:t>to</a:t>
            </a:r>
            <a:r>
              <a:rPr lang="pt-BR" sz="1200" dirty="0"/>
              <a:t> </a:t>
            </a:r>
            <a:r>
              <a:rPr lang="pt-BR" sz="1200" dirty="0" err="1"/>
              <a:t>Supernet</a:t>
            </a:r>
            <a:r>
              <a:rPr lang="pt-BR" sz="1200" dirty="0"/>
              <a:t> </a:t>
            </a:r>
            <a:r>
              <a:rPr lang="pt-BR" sz="1200" dirty="0" err="1"/>
              <a:t>Conversion</a:t>
            </a:r>
            <a:r>
              <a:rPr lang="pt-BR" sz="1200" dirty="0"/>
              <a:t> </a:t>
            </a:r>
            <a:r>
              <a:rPr lang="pt-BR" sz="1200" dirty="0" err="1"/>
              <a:t>Tooling</a:t>
            </a:r>
            <a:r>
              <a:rPr lang="pt-BR" sz="1200" dirty="0"/>
              <a:t>, Nov. 2023.</a:t>
            </a:r>
            <a:endParaRPr lang="en-US" sz="1200" noProof="1"/>
          </a:p>
        </p:txBody>
      </p:sp>
    </p:spTree>
    <p:extLst>
      <p:ext uri="{BB962C8B-B14F-4D97-AF65-F5344CB8AC3E}">
        <p14:creationId xmlns:p14="http://schemas.microsoft.com/office/powerpoint/2010/main" val="563099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24083-BCA4-8823-AE8F-CE87424FBE12}"/>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0FA6702-BAB7-BA98-1FAB-77F96B462539}"/>
              </a:ext>
            </a:extLst>
          </p:cNvPr>
          <p:cNvSpPr>
            <a:spLocks noGrp="1"/>
          </p:cNvSpPr>
          <p:nvPr>
            <p:ph type="sldNum" sz="quarter" idx="12"/>
          </p:nvPr>
        </p:nvSpPr>
        <p:spPr/>
        <p:txBody>
          <a:bodyPr/>
          <a:lstStyle/>
          <a:p>
            <a:fld id="{1A7E88B7-70CE-4035-AE73-13FA6FB985D4}" type="slidenum">
              <a:rPr lang="en-US" noProof="1" smtClean="0"/>
              <a:t>22</a:t>
            </a:fld>
            <a:endParaRPr lang="en-US" noProof="1"/>
          </a:p>
        </p:txBody>
      </p:sp>
      <p:pic>
        <p:nvPicPr>
          <p:cNvPr id="9" name="Picture 8">
            <a:extLst>
              <a:ext uri="{FF2B5EF4-FFF2-40B4-BE49-F238E27FC236}">
                <a16:creationId xmlns:a16="http://schemas.microsoft.com/office/drawing/2014/main" id="{810ACC8C-84D7-DBCB-9916-8E6AD743A133}"/>
              </a:ext>
            </a:extLst>
          </p:cNvPr>
          <p:cNvPicPr>
            <a:picLocks noChangeAspect="1"/>
          </p:cNvPicPr>
          <p:nvPr/>
        </p:nvPicPr>
        <p:blipFill>
          <a:blip r:embed="rId3"/>
          <a:stretch>
            <a:fillRect/>
          </a:stretch>
        </p:blipFill>
        <p:spPr>
          <a:xfrm>
            <a:off x="5914128" y="5932428"/>
            <a:ext cx="97892" cy="847843"/>
          </a:xfrm>
          <a:prstGeom prst="rect">
            <a:avLst/>
          </a:prstGeom>
        </p:spPr>
      </p:pic>
      <p:sp>
        <p:nvSpPr>
          <p:cNvPr id="8" name="TextBox 7">
            <a:extLst>
              <a:ext uri="{FF2B5EF4-FFF2-40B4-BE49-F238E27FC236}">
                <a16:creationId xmlns:a16="http://schemas.microsoft.com/office/drawing/2014/main" id="{E4FB6399-1DBD-D11C-84F9-029480A6EE5D}"/>
              </a:ext>
            </a:extLst>
          </p:cNvPr>
          <p:cNvSpPr txBox="1"/>
          <p:nvPr/>
        </p:nvSpPr>
        <p:spPr>
          <a:xfrm>
            <a:off x="0" y="6541354"/>
            <a:ext cx="10609385" cy="276999"/>
          </a:xfrm>
          <a:prstGeom prst="rect">
            <a:avLst/>
          </a:prstGeom>
          <a:noFill/>
        </p:spPr>
        <p:txBody>
          <a:bodyPr wrap="square">
            <a:spAutoFit/>
          </a:bodyPr>
          <a:lstStyle/>
          <a:p>
            <a:r>
              <a:rPr lang="pt-BR" sz="1200" dirty="0"/>
              <a:t>DIY </a:t>
            </a:r>
            <a:r>
              <a:rPr lang="pt-BR" sz="1200" dirty="0" err="1"/>
              <a:t>Your</a:t>
            </a:r>
            <a:r>
              <a:rPr lang="pt-BR" sz="1200" dirty="0"/>
              <a:t> </a:t>
            </a:r>
            <a:r>
              <a:rPr lang="pt-BR" sz="1200" dirty="0" err="1"/>
              <a:t>EasyNAS</a:t>
            </a:r>
            <a:r>
              <a:rPr lang="pt-BR" sz="1200" dirty="0"/>
              <a:t> for Vision: </a:t>
            </a:r>
            <a:r>
              <a:rPr lang="pt-BR" sz="1200" dirty="0" err="1"/>
              <a:t>Convolution</a:t>
            </a:r>
            <a:r>
              <a:rPr lang="pt-BR" sz="1200" dirty="0"/>
              <a:t> </a:t>
            </a:r>
            <a:r>
              <a:rPr lang="pt-BR" sz="1200" dirty="0" err="1"/>
              <a:t>Operation</a:t>
            </a:r>
            <a:r>
              <a:rPr lang="pt-BR" sz="1200" dirty="0"/>
              <a:t> </a:t>
            </a:r>
            <a:r>
              <a:rPr lang="pt-BR" sz="1200" dirty="0" err="1"/>
              <a:t>Merging</a:t>
            </a:r>
            <a:r>
              <a:rPr lang="pt-BR" sz="1200" dirty="0"/>
              <a:t>, Map </a:t>
            </a:r>
            <a:r>
              <a:rPr lang="pt-BR" sz="1200" dirty="0" err="1"/>
              <a:t>Channel</a:t>
            </a:r>
            <a:r>
              <a:rPr lang="pt-BR" sz="1200" dirty="0"/>
              <a:t> </a:t>
            </a:r>
            <a:r>
              <a:rPr lang="pt-BR" sz="1200" dirty="0" err="1"/>
              <a:t>Reducing</a:t>
            </a:r>
            <a:r>
              <a:rPr lang="pt-BR" sz="1200" dirty="0"/>
              <a:t>, </a:t>
            </a:r>
            <a:r>
              <a:rPr lang="pt-BR" sz="1200" dirty="0" err="1"/>
              <a:t>and</a:t>
            </a:r>
            <a:r>
              <a:rPr lang="pt-BR" sz="1200" dirty="0"/>
              <a:t> Search Space </a:t>
            </a:r>
            <a:r>
              <a:rPr lang="pt-BR" sz="1200" dirty="0" err="1"/>
              <a:t>to</a:t>
            </a:r>
            <a:r>
              <a:rPr lang="pt-BR" sz="1200" dirty="0"/>
              <a:t> </a:t>
            </a:r>
            <a:r>
              <a:rPr lang="pt-BR" sz="1200" dirty="0" err="1"/>
              <a:t>Supernet</a:t>
            </a:r>
            <a:r>
              <a:rPr lang="pt-BR" sz="1200" dirty="0"/>
              <a:t> </a:t>
            </a:r>
            <a:r>
              <a:rPr lang="pt-BR" sz="1200" dirty="0" err="1"/>
              <a:t>Conversion</a:t>
            </a:r>
            <a:r>
              <a:rPr lang="pt-BR" sz="1200" dirty="0"/>
              <a:t> </a:t>
            </a:r>
            <a:r>
              <a:rPr lang="pt-BR" sz="1200" dirty="0" err="1"/>
              <a:t>Tooling</a:t>
            </a:r>
            <a:r>
              <a:rPr lang="pt-BR" sz="1200" dirty="0"/>
              <a:t>, Nov. 2023.</a:t>
            </a:r>
            <a:endParaRPr lang="en-US" sz="1200" noProof="1"/>
          </a:p>
        </p:txBody>
      </p:sp>
      <p:pic>
        <p:nvPicPr>
          <p:cNvPr id="10" name="Picture 9">
            <a:extLst>
              <a:ext uri="{FF2B5EF4-FFF2-40B4-BE49-F238E27FC236}">
                <a16:creationId xmlns:a16="http://schemas.microsoft.com/office/drawing/2014/main" id="{F2008B1C-5D9B-6085-CD29-5EF46464BEA8}"/>
              </a:ext>
            </a:extLst>
          </p:cNvPr>
          <p:cNvPicPr>
            <a:picLocks noChangeAspect="1"/>
          </p:cNvPicPr>
          <p:nvPr/>
        </p:nvPicPr>
        <p:blipFill>
          <a:blip r:embed="rId4"/>
          <a:stretch>
            <a:fillRect/>
          </a:stretch>
        </p:blipFill>
        <p:spPr>
          <a:xfrm>
            <a:off x="47223" y="21340"/>
            <a:ext cx="11831701" cy="6335009"/>
          </a:xfrm>
          <a:prstGeom prst="rect">
            <a:avLst/>
          </a:prstGeom>
        </p:spPr>
      </p:pic>
    </p:spTree>
    <p:extLst>
      <p:ext uri="{BB962C8B-B14F-4D97-AF65-F5344CB8AC3E}">
        <p14:creationId xmlns:p14="http://schemas.microsoft.com/office/powerpoint/2010/main" val="1667083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64959-840B-A2F8-F215-DDFBAA10E957}"/>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113C182-EA0D-6C8B-1FA1-EC12EC34864C}"/>
              </a:ext>
            </a:extLst>
          </p:cNvPr>
          <p:cNvSpPr>
            <a:spLocks noGrp="1"/>
          </p:cNvSpPr>
          <p:nvPr>
            <p:ph type="sldNum" sz="quarter" idx="12"/>
          </p:nvPr>
        </p:nvSpPr>
        <p:spPr/>
        <p:txBody>
          <a:bodyPr/>
          <a:lstStyle/>
          <a:p>
            <a:fld id="{1A7E88B7-70CE-4035-AE73-13FA6FB985D4}" type="slidenum">
              <a:rPr lang="en-US" noProof="1" smtClean="0"/>
              <a:t>23</a:t>
            </a:fld>
            <a:endParaRPr lang="en-US" noProof="1"/>
          </a:p>
        </p:txBody>
      </p:sp>
      <p:pic>
        <p:nvPicPr>
          <p:cNvPr id="9" name="Picture 8">
            <a:extLst>
              <a:ext uri="{FF2B5EF4-FFF2-40B4-BE49-F238E27FC236}">
                <a16:creationId xmlns:a16="http://schemas.microsoft.com/office/drawing/2014/main" id="{CF4E4DA2-3031-7DDE-36B0-774E21F05AB8}"/>
              </a:ext>
            </a:extLst>
          </p:cNvPr>
          <p:cNvPicPr>
            <a:picLocks noChangeAspect="1"/>
          </p:cNvPicPr>
          <p:nvPr/>
        </p:nvPicPr>
        <p:blipFill>
          <a:blip r:embed="rId3"/>
          <a:stretch>
            <a:fillRect/>
          </a:stretch>
        </p:blipFill>
        <p:spPr>
          <a:xfrm>
            <a:off x="5914128" y="5932428"/>
            <a:ext cx="97892" cy="847843"/>
          </a:xfrm>
          <a:prstGeom prst="rect">
            <a:avLst/>
          </a:prstGeom>
        </p:spPr>
      </p:pic>
      <p:sp>
        <p:nvSpPr>
          <p:cNvPr id="8" name="TextBox 7">
            <a:extLst>
              <a:ext uri="{FF2B5EF4-FFF2-40B4-BE49-F238E27FC236}">
                <a16:creationId xmlns:a16="http://schemas.microsoft.com/office/drawing/2014/main" id="{A7CE02FE-5AAF-99C8-0D4B-FE3DAE954D54}"/>
              </a:ext>
            </a:extLst>
          </p:cNvPr>
          <p:cNvSpPr txBox="1"/>
          <p:nvPr/>
        </p:nvSpPr>
        <p:spPr>
          <a:xfrm>
            <a:off x="0" y="6541354"/>
            <a:ext cx="10609385" cy="276999"/>
          </a:xfrm>
          <a:prstGeom prst="rect">
            <a:avLst/>
          </a:prstGeom>
          <a:noFill/>
        </p:spPr>
        <p:txBody>
          <a:bodyPr wrap="square">
            <a:spAutoFit/>
          </a:bodyPr>
          <a:lstStyle/>
          <a:p>
            <a:r>
              <a:rPr lang="pt-BR" sz="1200" dirty="0"/>
              <a:t>DIY </a:t>
            </a:r>
            <a:r>
              <a:rPr lang="pt-BR" sz="1200" dirty="0" err="1"/>
              <a:t>Your</a:t>
            </a:r>
            <a:r>
              <a:rPr lang="pt-BR" sz="1200" dirty="0"/>
              <a:t> </a:t>
            </a:r>
            <a:r>
              <a:rPr lang="pt-BR" sz="1200" dirty="0" err="1"/>
              <a:t>EasyNAS</a:t>
            </a:r>
            <a:r>
              <a:rPr lang="pt-BR" sz="1200" dirty="0"/>
              <a:t> for Vision: </a:t>
            </a:r>
            <a:r>
              <a:rPr lang="pt-BR" sz="1200" dirty="0" err="1"/>
              <a:t>Convolution</a:t>
            </a:r>
            <a:r>
              <a:rPr lang="pt-BR" sz="1200" dirty="0"/>
              <a:t> </a:t>
            </a:r>
            <a:r>
              <a:rPr lang="pt-BR" sz="1200" dirty="0" err="1"/>
              <a:t>Operation</a:t>
            </a:r>
            <a:r>
              <a:rPr lang="pt-BR" sz="1200" dirty="0"/>
              <a:t> </a:t>
            </a:r>
            <a:r>
              <a:rPr lang="pt-BR" sz="1200" dirty="0" err="1"/>
              <a:t>Merging</a:t>
            </a:r>
            <a:r>
              <a:rPr lang="pt-BR" sz="1200" dirty="0"/>
              <a:t>, Map </a:t>
            </a:r>
            <a:r>
              <a:rPr lang="pt-BR" sz="1200" dirty="0" err="1"/>
              <a:t>Channel</a:t>
            </a:r>
            <a:r>
              <a:rPr lang="pt-BR" sz="1200" dirty="0"/>
              <a:t> </a:t>
            </a:r>
            <a:r>
              <a:rPr lang="pt-BR" sz="1200" dirty="0" err="1"/>
              <a:t>Reducing</a:t>
            </a:r>
            <a:r>
              <a:rPr lang="pt-BR" sz="1200" dirty="0"/>
              <a:t>, </a:t>
            </a:r>
            <a:r>
              <a:rPr lang="pt-BR" sz="1200" dirty="0" err="1"/>
              <a:t>and</a:t>
            </a:r>
            <a:r>
              <a:rPr lang="pt-BR" sz="1200" dirty="0"/>
              <a:t> Search Space </a:t>
            </a:r>
            <a:r>
              <a:rPr lang="pt-BR" sz="1200" dirty="0" err="1"/>
              <a:t>to</a:t>
            </a:r>
            <a:r>
              <a:rPr lang="pt-BR" sz="1200" dirty="0"/>
              <a:t> </a:t>
            </a:r>
            <a:r>
              <a:rPr lang="pt-BR" sz="1200" dirty="0" err="1"/>
              <a:t>Supernet</a:t>
            </a:r>
            <a:r>
              <a:rPr lang="pt-BR" sz="1200" dirty="0"/>
              <a:t> </a:t>
            </a:r>
            <a:r>
              <a:rPr lang="pt-BR" sz="1200" dirty="0" err="1"/>
              <a:t>Conversion</a:t>
            </a:r>
            <a:r>
              <a:rPr lang="pt-BR" sz="1200" dirty="0"/>
              <a:t> </a:t>
            </a:r>
            <a:r>
              <a:rPr lang="pt-BR" sz="1200" dirty="0" err="1"/>
              <a:t>Tooling</a:t>
            </a:r>
            <a:r>
              <a:rPr lang="pt-BR" sz="1200" dirty="0"/>
              <a:t>, Nov. 2023.</a:t>
            </a:r>
            <a:endParaRPr lang="en-US" sz="1200" noProof="1"/>
          </a:p>
        </p:txBody>
      </p:sp>
      <p:pic>
        <p:nvPicPr>
          <p:cNvPr id="4" name="Picture 3">
            <a:extLst>
              <a:ext uri="{FF2B5EF4-FFF2-40B4-BE49-F238E27FC236}">
                <a16:creationId xmlns:a16="http://schemas.microsoft.com/office/drawing/2014/main" id="{E17488FD-37DE-C383-5A64-D0606B845BBD}"/>
              </a:ext>
            </a:extLst>
          </p:cNvPr>
          <p:cNvPicPr>
            <a:picLocks noChangeAspect="1"/>
          </p:cNvPicPr>
          <p:nvPr/>
        </p:nvPicPr>
        <p:blipFill>
          <a:blip r:embed="rId4"/>
          <a:stretch>
            <a:fillRect/>
          </a:stretch>
        </p:blipFill>
        <p:spPr>
          <a:xfrm>
            <a:off x="161299" y="300701"/>
            <a:ext cx="5850721" cy="5936190"/>
          </a:xfrm>
          <a:prstGeom prst="rect">
            <a:avLst/>
          </a:prstGeom>
        </p:spPr>
      </p:pic>
      <p:pic>
        <p:nvPicPr>
          <p:cNvPr id="13" name="Picture 12">
            <a:extLst>
              <a:ext uri="{FF2B5EF4-FFF2-40B4-BE49-F238E27FC236}">
                <a16:creationId xmlns:a16="http://schemas.microsoft.com/office/drawing/2014/main" id="{3AF4346D-E94D-E46E-3BFB-E8B319EA01B2}"/>
              </a:ext>
            </a:extLst>
          </p:cNvPr>
          <p:cNvPicPr>
            <a:picLocks noChangeAspect="1"/>
          </p:cNvPicPr>
          <p:nvPr/>
        </p:nvPicPr>
        <p:blipFill>
          <a:blip r:embed="rId5"/>
          <a:stretch>
            <a:fillRect/>
          </a:stretch>
        </p:blipFill>
        <p:spPr>
          <a:xfrm>
            <a:off x="6011138" y="851792"/>
            <a:ext cx="6019563" cy="4834007"/>
          </a:xfrm>
          <a:prstGeom prst="rect">
            <a:avLst/>
          </a:prstGeom>
        </p:spPr>
      </p:pic>
    </p:spTree>
    <p:extLst>
      <p:ext uri="{BB962C8B-B14F-4D97-AF65-F5344CB8AC3E}">
        <p14:creationId xmlns:p14="http://schemas.microsoft.com/office/powerpoint/2010/main" val="1030595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6B751-C7E0-6D12-C164-3BCA1C2E1335}"/>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978F69F-95E7-A6B0-AE31-9B42DDA6A0CC}"/>
              </a:ext>
            </a:extLst>
          </p:cNvPr>
          <p:cNvSpPr>
            <a:spLocks noGrp="1"/>
          </p:cNvSpPr>
          <p:nvPr>
            <p:ph type="sldNum" sz="quarter" idx="12"/>
          </p:nvPr>
        </p:nvSpPr>
        <p:spPr/>
        <p:txBody>
          <a:bodyPr/>
          <a:lstStyle/>
          <a:p>
            <a:fld id="{1A7E88B7-70CE-4035-AE73-13FA6FB985D4}" type="slidenum">
              <a:rPr lang="en-US" noProof="1" smtClean="0"/>
              <a:t>24</a:t>
            </a:fld>
            <a:endParaRPr lang="en-US" noProof="1"/>
          </a:p>
        </p:txBody>
      </p:sp>
      <p:pic>
        <p:nvPicPr>
          <p:cNvPr id="9" name="Picture 8">
            <a:extLst>
              <a:ext uri="{FF2B5EF4-FFF2-40B4-BE49-F238E27FC236}">
                <a16:creationId xmlns:a16="http://schemas.microsoft.com/office/drawing/2014/main" id="{2C11C607-F201-4357-C685-0093ACB96DA9}"/>
              </a:ext>
            </a:extLst>
          </p:cNvPr>
          <p:cNvPicPr>
            <a:picLocks noChangeAspect="1"/>
          </p:cNvPicPr>
          <p:nvPr/>
        </p:nvPicPr>
        <p:blipFill>
          <a:blip r:embed="rId3"/>
          <a:stretch>
            <a:fillRect/>
          </a:stretch>
        </p:blipFill>
        <p:spPr>
          <a:xfrm>
            <a:off x="5914128" y="5932428"/>
            <a:ext cx="97892" cy="847843"/>
          </a:xfrm>
          <a:prstGeom prst="rect">
            <a:avLst/>
          </a:prstGeom>
        </p:spPr>
      </p:pic>
      <p:sp>
        <p:nvSpPr>
          <p:cNvPr id="8" name="TextBox 7">
            <a:extLst>
              <a:ext uri="{FF2B5EF4-FFF2-40B4-BE49-F238E27FC236}">
                <a16:creationId xmlns:a16="http://schemas.microsoft.com/office/drawing/2014/main" id="{00E9DE23-4813-C5D4-BB92-10CB8C72C1F0}"/>
              </a:ext>
            </a:extLst>
          </p:cNvPr>
          <p:cNvSpPr txBox="1"/>
          <p:nvPr/>
        </p:nvSpPr>
        <p:spPr>
          <a:xfrm>
            <a:off x="0" y="6541354"/>
            <a:ext cx="10609385" cy="276999"/>
          </a:xfrm>
          <a:prstGeom prst="rect">
            <a:avLst/>
          </a:prstGeom>
          <a:noFill/>
        </p:spPr>
        <p:txBody>
          <a:bodyPr wrap="square">
            <a:spAutoFit/>
          </a:bodyPr>
          <a:lstStyle/>
          <a:p>
            <a:r>
              <a:rPr lang="pt-BR" sz="1200" dirty="0"/>
              <a:t>DIY </a:t>
            </a:r>
            <a:r>
              <a:rPr lang="pt-BR" sz="1200" dirty="0" err="1"/>
              <a:t>Your</a:t>
            </a:r>
            <a:r>
              <a:rPr lang="pt-BR" sz="1200" dirty="0"/>
              <a:t> </a:t>
            </a:r>
            <a:r>
              <a:rPr lang="pt-BR" sz="1200" dirty="0" err="1"/>
              <a:t>EasyNAS</a:t>
            </a:r>
            <a:r>
              <a:rPr lang="pt-BR" sz="1200" dirty="0"/>
              <a:t> for Vision: </a:t>
            </a:r>
            <a:r>
              <a:rPr lang="pt-BR" sz="1200" dirty="0" err="1"/>
              <a:t>Convolution</a:t>
            </a:r>
            <a:r>
              <a:rPr lang="pt-BR" sz="1200" dirty="0"/>
              <a:t> </a:t>
            </a:r>
            <a:r>
              <a:rPr lang="pt-BR" sz="1200" dirty="0" err="1"/>
              <a:t>Operation</a:t>
            </a:r>
            <a:r>
              <a:rPr lang="pt-BR" sz="1200" dirty="0"/>
              <a:t> </a:t>
            </a:r>
            <a:r>
              <a:rPr lang="pt-BR" sz="1200" dirty="0" err="1"/>
              <a:t>Merging</a:t>
            </a:r>
            <a:r>
              <a:rPr lang="pt-BR" sz="1200" dirty="0"/>
              <a:t>, Map </a:t>
            </a:r>
            <a:r>
              <a:rPr lang="pt-BR" sz="1200" dirty="0" err="1"/>
              <a:t>Channel</a:t>
            </a:r>
            <a:r>
              <a:rPr lang="pt-BR" sz="1200" dirty="0"/>
              <a:t> </a:t>
            </a:r>
            <a:r>
              <a:rPr lang="pt-BR" sz="1200" dirty="0" err="1"/>
              <a:t>Reducing</a:t>
            </a:r>
            <a:r>
              <a:rPr lang="pt-BR" sz="1200" dirty="0"/>
              <a:t>, </a:t>
            </a:r>
            <a:r>
              <a:rPr lang="pt-BR" sz="1200" dirty="0" err="1"/>
              <a:t>and</a:t>
            </a:r>
            <a:r>
              <a:rPr lang="pt-BR" sz="1200" dirty="0"/>
              <a:t> Search Space </a:t>
            </a:r>
            <a:r>
              <a:rPr lang="pt-BR" sz="1200" dirty="0" err="1"/>
              <a:t>to</a:t>
            </a:r>
            <a:r>
              <a:rPr lang="pt-BR" sz="1200" dirty="0"/>
              <a:t> </a:t>
            </a:r>
            <a:r>
              <a:rPr lang="pt-BR" sz="1200" dirty="0" err="1"/>
              <a:t>Supernet</a:t>
            </a:r>
            <a:r>
              <a:rPr lang="pt-BR" sz="1200" dirty="0"/>
              <a:t> </a:t>
            </a:r>
            <a:r>
              <a:rPr lang="pt-BR" sz="1200" dirty="0" err="1"/>
              <a:t>Conversion</a:t>
            </a:r>
            <a:r>
              <a:rPr lang="pt-BR" sz="1200" dirty="0"/>
              <a:t> </a:t>
            </a:r>
            <a:r>
              <a:rPr lang="pt-BR" sz="1200" dirty="0" err="1"/>
              <a:t>Tooling</a:t>
            </a:r>
            <a:r>
              <a:rPr lang="pt-BR" sz="1200" dirty="0"/>
              <a:t>, Nov. 2023.</a:t>
            </a:r>
            <a:endParaRPr lang="en-US" sz="1200" noProof="1"/>
          </a:p>
        </p:txBody>
      </p:sp>
      <p:pic>
        <p:nvPicPr>
          <p:cNvPr id="5" name="Picture 4">
            <a:extLst>
              <a:ext uri="{FF2B5EF4-FFF2-40B4-BE49-F238E27FC236}">
                <a16:creationId xmlns:a16="http://schemas.microsoft.com/office/drawing/2014/main" id="{780A6899-F60A-8764-9DB6-2A662998D5B5}"/>
              </a:ext>
            </a:extLst>
          </p:cNvPr>
          <p:cNvPicPr>
            <a:picLocks noChangeAspect="1"/>
          </p:cNvPicPr>
          <p:nvPr/>
        </p:nvPicPr>
        <p:blipFill>
          <a:blip r:embed="rId4"/>
          <a:stretch>
            <a:fillRect/>
          </a:stretch>
        </p:blipFill>
        <p:spPr>
          <a:xfrm>
            <a:off x="0" y="1438110"/>
            <a:ext cx="12192000" cy="3981780"/>
          </a:xfrm>
          <a:prstGeom prst="rect">
            <a:avLst/>
          </a:prstGeom>
        </p:spPr>
      </p:pic>
    </p:spTree>
    <p:extLst>
      <p:ext uri="{BB962C8B-B14F-4D97-AF65-F5344CB8AC3E}">
        <p14:creationId xmlns:p14="http://schemas.microsoft.com/office/powerpoint/2010/main" val="3462220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237DF-595A-4011-0640-67C35ECBFED0}"/>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DFB44FB-11E5-2DE8-C97B-58458E29C385}"/>
              </a:ext>
            </a:extLst>
          </p:cNvPr>
          <p:cNvSpPr>
            <a:spLocks noGrp="1"/>
          </p:cNvSpPr>
          <p:nvPr>
            <p:ph type="sldNum" sz="quarter" idx="12"/>
          </p:nvPr>
        </p:nvSpPr>
        <p:spPr/>
        <p:txBody>
          <a:bodyPr/>
          <a:lstStyle/>
          <a:p>
            <a:fld id="{1A7E88B7-70CE-4035-AE73-13FA6FB985D4}" type="slidenum">
              <a:rPr lang="en-US" noProof="1" smtClean="0"/>
              <a:t>25</a:t>
            </a:fld>
            <a:endParaRPr lang="en-US" noProof="1"/>
          </a:p>
        </p:txBody>
      </p:sp>
      <p:pic>
        <p:nvPicPr>
          <p:cNvPr id="9" name="Picture 8">
            <a:extLst>
              <a:ext uri="{FF2B5EF4-FFF2-40B4-BE49-F238E27FC236}">
                <a16:creationId xmlns:a16="http://schemas.microsoft.com/office/drawing/2014/main" id="{F23816DA-E28D-425B-76AB-1C0F91D4EA3D}"/>
              </a:ext>
            </a:extLst>
          </p:cNvPr>
          <p:cNvPicPr>
            <a:picLocks noChangeAspect="1"/>
          </p:cNvPicPr>
          <p:nvPr/>
        </p:nvPicPr>
        <p:blipFill>
          <a:blip r:embed="rId3"/>
          <a:stretch>
            <a:fillRect/>
          </a:stretch>
        </p:blipFill>
        <p:spPr>
          <a:xfrm>
            <a:off x="5914128" y="5932428"/>
            <a:ext cx="97892" cy="847843"/>
          </a:xfrm>
          <a:prstGeom prst="rect">
            <a:avLst/>
          </a:prstGeom>
        </p:spPr>
      </p:pic>
      <p:sp>
        <p:nvSpPr>
          <p:cNvPr id="8" name="TextBox 7">
            <a:extLst>
              <a:ext uri="{FF2B5EF4-FFF2-40B4-BE49-F238E27FC236}">
                <a16:creationId xmlns:a16="http://schemas.microsoft.com/office/drawing/2014/main" id="{CB0AB9EB-05CB-1178-9835-3386C69E543C}"/>
              </a:ext>
            </a:extLst>
          </p:cNvPr>
          <p:cNvSpPr txBox="1"/>
          <p:nvPr/>
        </p:nvSpPr>
        <p:spPr>
          <a:xfrm>
            <a:off x="0" y="6541354"/>
            <a:ext cx="10609385" cy="276999"/>
          </a:xfrm>
          <a:prstGeom prst="rect">
            <a:avLst/>
          </a:prstGeom>
          <a:noFill/>
        </p:spPr>
        <p:txBody>
          <a:bodyPr wrap="square">
            <a:spAutoFit/>
          </a:bodyPr>
          <a:lstStyle/>
          <a:p>
            <a:r>
              <a:rPr lang="pt-BR" sz="1200" dirty="0"/>
              <a:t>DIY </a:t>
            </a:r>
            <a:r>
              <a:rPr lang="pt-BR" sz="1200" dirty="0" err="1"/>
              <a:t>Your</a:t>
            </a:r>
            <a:r>
              <a:rPr lang="pt-BR" sz="1200" dirty="0"/>
              <a:t> </a:t>
            </a:r>
            <a:r>
              <a:rPr lang="pt-BR" sz="1200" dirty="0" err="1"/>
              <a:t>EasyNAS</a:t>
            </a:r>
            <a:r>
              <a:rPr lang="pt-BR" sz="1200" dirty="0"/>
              <a:t> for Vision: </a:t>
            </a:r>
            <a:r>
              <a:rPr lang="pt-BR" sz="1200" dirty="0" err="1"/>
              <a:t>Convolution</a:t>
            </a:r>
            <a:r>
              <a:rPr lang="pt-BR" sz="1200" dirty="0"/>
              <a:t> </a:t>
            </a:r>
            <a:r>
              <a:rPr lang="pt-BR" sz="1200" dirty="0" err="1"/>
              <a:t>Operation</a:t>
            </a:r>
            <a:r>
              <a:rPr lang="pt-BR" sz="1200" dirty="0"/>
              <a:t> </a:t>
            </a:r>
            <a:r>
              <a:rPr lang="pt-BR" sz="1200" dirty="0" err="1"/>
              <a:t>Merging</a:t>
            </a:r>
            <a:r>
              <a:rPr lang="pt-BR" sz="1200" dirty="0"/>
              <a:t>, Map </a:t>
            </a:r>
            <a:r>
              <a:rPr lang="pt-BR" sz="1200" dirty="0" err="1"/>
              <a:t>Channel</a:t>
            </a:r>
            <a:r>
              <a:rPr lang="pt-BR" sz="1200" dirty="0"/>
              <a:t> </a:t>
            </a:r>
            <a:r>
              <a:rPr lang="pt-BR" sz="1200" dirty="0" err="1"/>
              <a:t>Reducing</a:t>
            </a:r>
            <a:r>
              <a:rPr lang="pt-BR" sz="1200" dirty="0"/>
              <a:t>, </a:t>
            </a:r>
            <a:r>
              <a:rPr lang="pt-BR" sz="1200" dirty="0" err="1"/>
              <a:t>and</a:t>
            </a:r>
            <a:r>
              <a:rPr lang="pt-BR" sz="1200" dirty="0"/>
              <a:t> Search Space </a:t>
            </a:r>
            <a:r>
              <a:rPr lang="pt-BR" sz="1200" dirty="0" err="1"/>
              <a:t>to</a:t>
            </a:r>
            <a:r>
              <a:rPr lang="pt-BR" sz="1200" dirty="0"/>
              <a:t> </a:t>
            </a:r>
            <a:r>
              <a:rPr lang="pt-BR" sz="1200" dirty="0" err="1"/>
              <a:t>Supernet</a:t>
            </a:r>
            <a:r>
              <a:rPr lang="pt-BR" sz="1200" dirty="0"/>
              <a:t> </a:t>
            </a:r>
            <a:r>
              <a:rPr lang="pt-BR" sz="1200" dirty="0" err="1"/>
              <a:t>Conversion</a:t>
            </a:r>
            <a:r>
              <a:rPr lang="pt-BR" sz="1200" dirty="0"/>
              <a:t> </a:t>
            </a:r>
            <a:r>
              <a:rPr lang="pt-BR" sz="1200" dirty="0" err="1"/>
              <a:t>Tooling</a:t>
            </a:r>
            <a:r>
              <a:rPr lang="pt-BR" sz="1200" dirty="0"/>
              <a:t>, Nov. 2023.</a:t>
            </a:r>
            <a:endParaRPr lang="en-US" sz="1200" noProof="1"/>
          </a:p>
        </p:txBody>
      </p:sp>
      <p:pic>
        <p:nvPicPr>
          <p:cNvPr id="4" name="Picture 3">
            <a:extLst>
              <a:ext uri="{FF2B5EF4-FFF2-40B4-BE49-F238E27FC236}">
                <a16:creationId xmlns:a16="http://schemas.microsoft.com/office/drawing/2014/main" id="{0349FF0F-2610-4E18-DF37-2689BE528AC3}"/>
              </a:ext>
            </a:extLst>
          </p:cNvPr>
          <p:cNvPicPr>
            <a:picLocks noChangeAspect="1"/>
          </p:cNvPicPr>
          <p:nvPr/>
        </p:nvPicPr>
        <p:blipFill>
          <a:blip r:embed="rId4"/>
          <a:stretch>
            <a:fillRect/>
          </a:stretch>
        </p:blipFill>
        <p:spPr>
          <a:xfrm>
            <a:off x="0" y="825867"/>
            <a:ext cx="12192000" cy="5206266"/>
          </a:xfrm>
          <a:prstGeom prst="rect">
            <a:avLst/>
          </a:prstGeom>
        </p:spPr>
      </p:pic>
    </p:spTree>
    <p:extLst>
      <p:ext uri="{BB962C8B-B14F-4D97-AF65-F5344CB8AC3E}">
        <p14:creationId xmlns:p14="http://schemas.microsoft.com/office/powerpoint/2010/main" val="6997938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BA3D5-C14C-3CAA-41F1-3BD59F4FFE6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D547B83-D784-9DEE-2B05-C275B20B5CBB}"/>
              </a:ext>
            </a:extLst>
          </p:cNvPr>
          <p:cNvSpPr>
            <a:spLocks noGrp="1"/>
          </p:cNvSpPr>
          <p:nvPr>
            <p:ph type="sldNum" sz="quarter" idx="12"/>
          </p:nvPr>
        </p:nvSpPr>
        <p:spPr/>
        <p:txBody>
          <a:bodyPr/>
          <a:lstStyle/>
          <a:p>
            <a:fld id="{1A7E88B7-70CE-4035-AE73-13FA6FB985D4}" type="slidenum">
              <a:rPr lang="en-US" noProof="1" smtClean="0"/>
              <a:t>26</a:t>
            </a:fld>
            <a:endParaRPr lang="en-US" noProof="1"/>
          </a:p>
        </p:txBody>
      </p:sp>
      <p:pic>
        <p:nvPicPr>
          <p:cNvPr id="9" name="Picture 8">
            <a:extLst>
              <a:ext uri="{FF2B5EF4-FFF2-40B4-BE49-F238E27FC236}">
                <a16:creationId xmlns:a16="http://schemas.microsoft.com/office/drawing/2014/main" id="{B31F05B0-F323-E2AE-A119-0E5476F025B5}"/>
              </a:ext>
            </a:extLst>
          </p:cNvPr>
          <p:cNvPicPr>
            <a:picLocks noChangeAspect="1"/>
          </p:cNvPicPr>
          <p:nvPr/>
        </p:nvPicPr>
        <p:blipFill>
          <a:blip r:embed="rId3"/>
          <a:stretch>
            <a:fillRect/>
          </a:stretch>
        </p:blipFill>
        <p:spPr>
          <a:xfrm>
            <a:off x="5914128" y="5932428"/>
            <a:ext cx="97892" cy="847843"/>
          </a:xfrm>
          <a:prstGeom prst="rect">
            <a:avLst/>
          </a:prstGeom>
        </p:spPr>
      </p:pic>
      <p:sp>
        <p:nvSpPr>
          <p:cNvPr id="8" name="TextBox 7">
            <a:extLst>
              <a:ext uri="{FF2B5EF4-FFF2-40B4-BE49-F238E27FC236}">
                <a16:creationId xmlns:a16="http://schemas.microsoft.com/office/drawing/2014/main" id="{33A84126-0EE1-A65E-62E6-C09954B43D5E}"/>
              </a:ext>
            </a:extLst>
          </p:cNvPr>
          <p:cNvSpPr txBox="1"/>
          <p:nvPr/>
        </p:nvSpPr>
        <p:spPr>
          <a:xfrm>
            <a:off x="0" y="6541354"/>
            <a:ext cx="10609385" cy="276999"/>
          </a:xfrm>
          <a:prstGeom prst="rect">
            <a:avLst/>
          </a:prstGeom>
          <a:noFill/>
        </p:spPr>
        <p:txBody>
          <a:bodyPr wrap="square">
            <a:spAutoFit/>
          </a:bodyPr>
          <a:lstStyle/>
          <a:p>
            <a:r>
              <a:rPr lang="pt-BR" sz="1200" dirty="0"/>
              <a:t>DIY </a:t>
            </a:r>
            <a:r>
              <a:rPr lang="pt-BR" sz="1200" dirty="0" err="1"/>
              <a:t>Your</a:t>
            </a:r>
            <a:r>
              <a:rPr lang="pt-BR" sz="1200" dirty="0"/>
              <a:t> </a:t>
            </a:r>
            <a:r>
              <a:rPr lang="pt-BR" sz="1200" dirty="0" err="1"/>
              <a:t>EasyNAS</a:t>
            </a:r>
            <a:r>
              <a:rPr lang="pt-BR" sz="1200" dirty="0"/>
              <a:t> for Vision: </a:t>
            </a:r>
            <a:r>
              <a:rPr lang="pt-BR" sz="1200" dirty="0" err="1"/>
              <a:t>Convolution</a:t>
            </a:r>
            <a:r>
              <a:rPr lang="pt-BR" sz="1200" dirty="0"/>
              <a:t> </a:t>
            </a:r>
            <a:r>
              <a:rPr lang="pt-BR" sz="1200" dirty="0" err="1"/>
              <a:t>Operation</a:t>
            </a:r>
            <a:r>
              <a:rPr lang="pt-BR" sz="1200" dirty="0"/>
              <a:t> </a:t>
            </a:r>
            <a:r>
              <a:rPr lang="pt-BR" sz="1200" dirty="0" err="1"/>
              <a:t>Merging</a:t>
            </a:r>
            <a:r>
              <a:rPr lang="pt-BR" sz="1200" dirty="0"/>
              <a:t>, Map </a:t>
            </a:r>
            <a:r>
              <a:rPr lang="pt-BR" sz="1200" dirty="0" err="1"/>
              <a:t>Channel</a:t>
            </a:r>
            <a:r>
              <a:rPr lang="pt-BR" sz="1200" dirty="0"/>
              <a:t> </a:t>
            </a:r>
            <a:r>
              <a:rPr lang="pt-BR" sz="1200" dirty="0" err="1"/>
              <a:t>Reducing</a:t>
            </a:r>
            <a:r>
              <a:rPr lang="pt-BR" sz="1200" dirty="0"/>
              <a:t>, </a:t>
            </a:r>
            <a:r>
              <a:rPr lang="pt-BR" sz="1200" dirty="0" err="1"/>
              <a:t>and</a:t>
            </a:r>
            <a:r>
              <a:rPr lang="pt-BR" sz="1200" dirty="0"/>
              <a:t> Search Space </a:t>
            </a:r>
            <a:r>
              <a:rPr lang="pt-BR" sz="1200" dirty="0" err="1"/>
              <a:t>to</a:t>
            </a:r>
            <a:r>
              <a:rPr lang="pt-BR" sz="1200" dirty="0"/>
              <a:t> </a:t>
            </a:r>
            <a:r>
              <a:rPr lang="pt-BR" sz="1200" dirty="0" err="1"/>
              <a:t>Supernet</a:t>
            </a:r>
            <a:r>
              <a:rPr lang="pt-BR" sz="1200" dirty="0"/>
              <a:t> </a:t>
            </a:r>
            <a:r>
              <a:rPr lang="pt-BR" sz="1200" dirty="0" err="1"/>
              <a:t>Conversion</a:t>
            </a:r>
            <a:r>
              <a:rPr lang="pt-BR" sz="1200" dirty="0"/>
              <a:t> </a:t>
            </a:r>
            <a:r>
              <a:rPr lang="pt-BR" sz="1200" dirty="0" err="1"/>
              <a:t>Tooling</a:t>
            </a:r>
            <a:r>
              <a:rPr lang="pt-BR" sz="1200" dirty="0"/>
              <a:t>, Nov. 2023.</a:t>
            </a:r>
            <a:endParaRPr lang="en-US" sz="1200" noProof="1"/>
          </a:p>
        </p:txBody>
      </p:sp>
      <p:pic>
        <p:nvPicPr>
          <p:cNvPr id="3" name="Picture 2">
            <a:extLst>
              <a:ext uri="{FF2B5EF4-FFF2-40B4-BE49-F238E27FC236}">
                <a16:creationId xmlns:a16="http://schemas.microsoft.com/office/drawing/2014/main" id="{A13BD743-985B-C223-B9CF-78E55DDB45B1}"/>
              </a:ext>
            </a:extLst>
          </p:cNvPr>
          <p:cNvPicPr>
            <a:picLocks noChangeAspect="1"/>
          </p:cNvPicPr>
          <p:nvPr/>
        </p:nvPicPr>
        <p:blipFill>
          <a:blip r:embed="rId4"/>
          <a:stretch>
            <a:fillRect/>
          </a:stretch>
        </p:blipFill>
        <p:spPr>
          <a:xfrm>
            <a:off x="270649" y="828312"/>
            <a:ext cx="11650701" cy="5201376"/>
          </a:xfrm>
          <a:prstGeom prst="rect">
            <a:avLst/>
          </a:prstGeom>
        </p:spPr>
      </p:pic>
    </p:spTree>
    <p:extLst>
      <p:ext uri="{BB962C8B-B14F-4D97-AF65-F5344CB8AC3E}">
        <p14:creationId xmlns:p14="http://schemas.microsoft.com/office/powerpoint/2010/main" val="28544037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1D82A-A90A-1147-286F-7379C04BB44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74AEA3B-E248-866A-7DE5-3D2D6C3BA741}"/>
              </a:ext>
            </a:extLst>
          </p:cNvPr>
          <p:cNvSpPr>
            <a:spLocks noGrp="1"/>
          </p:cNvSpPr>
          <p:nvPr>
            <p:ph type="title"/>
          </p:nvPr>
        </p:nvSpPr>
        <p:spPr>
          <a:xfrm>
            <a:off x="51825" y="0"/>
            <a:ext cx="3377175" cy="1325563"/>
          </a:xfrm>
        </p:spPr>
        <p:txBody>
          <a:bodyPr/>
          <a:lstStyle/>
          <a:p>
            <a:r>
              <a:rPr lang="en-US" noProof="1"/>
              <a:t>Conclusões</a:t>
            </a:r>
          </a:p>
        </p:txBody>
      </p:sp>
      <p:sp>
        <p:nvSpPr>
          <p:cNvPr id="6" name="Slide Number Placeholder 5">
            <a:extLst>
              <a:ext uri="{FF2B5EF4-FFF2-40B4-BE49-F238E27FC236}">
                <a16:creationId xmlns:a16="http://schemas.microsoft.com/office/drawing/2014/main" id="{B58C32F3-E394-9EAF-FE34-A2DE7297D87B}"/>
              </a:ext>
            </a:extLst>
          </p:cNvPr>
          <p:cNvSpPr>
            <a:spLocks noGrp="1"/>
          </p:cNvSpPr>
          <p:nvPr>
            <p:ph type="sldNum" sz="quarter" idx="12"/>
          </p:nvPr>
        </p:nvSpPr>
        <p:spPr/>
        <p:txBody>
          <a:bodyPr/>
          <a:lstStyle/>
          <a:p>
            <a:fld id="{1A7E88B7-70CE-4035-AE73-13FA6FB985D4}" type="slidenum">
              <a:rPr lang="en-US" noProof="1" smtClean="0"/>
              <a:t>27</a:t>
            </a:fld>
            <a:endParaRPr lang="en-US" noProof="1"/>
          </a:p>
        </p:txBody>
      </p:sp>
      <p:sp>
        <p:nvSpPr>
          <p:cNvPr id="16" name="Título 1">
            <a:extLst>
              <a:ext uri="{FF2B5EF4-FFF2-40B4-BE49-F238E27FC236}">
                <a16:creationId xmlns:a16="http://schemas.microsoft.com/office/drawing/2014/main" id="{A28BA821-371F-C495-A092-68EF6B4992C6}"/>
              </a:ext>
            </a:extLst>
          </p:cNvPr>
          <p:cNvSpPr txBox="1">
            <a:spLocks/>
          </p:cNvSpPr>
          <p:nvPr/>
        </p:nvSpPr>
        <p:spPr>
          <a:xfrm>
            <a:off x="7962900" y="-1"/>
            <a:ext cx="426033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noProof="1"/>
              <a:t>Trabalhos Futuros</a:t>
            </a:r>
          </a:p>
        </p:txBody>
      </p:sp>
      <p:sp>
        <p:nvSpPr>
          <p:cNvPr id="3" name="Rectangle 1">
            <a:extLst>
              <a:ext uri="{FF2B5EF4-FFF2-40B4-BE49-F238E27FC236}">
                <a16:creationId xmlns:a16="http://schemas.microsoft.com/office/drawing/2014/main" id="{C8019A81-FB59-092F-0EEA-4F3E36CE037D}"/>
              </a:ext>
            </a:extLst>
          </p:cNvPr>
          <p:cNvSpPr>
            <a:spLocks noChangeArrowheads="1"/>
          </p:cNvSpPr>
          <p:nvPr/>
        </p:nvSpPr>
        <p:spPr bwMode="auto">
          <a:xfrm>
            <a:off x="302406" y="1126620"/>
            <a:ext cx="5739375" cy="5386090"/>
          </a:xfrm>
          <a:prstGeom prst="rect">
            <a:avLst/>
          </a:prstGeom>
          <a:noFill/>
          <a:ln w="76200">
            <a:solidFill>
              <a:schemeClr val="tx1"/>
            </a:solidFill>
          </a:ln>
        </p:spPr>
        <p:txBody>
          <a:bodyPr wrap="square">
            <a:spAutoFit/>
          </a:bodyPr>
          <a:lstStyle/>
          <a:p>
            <a:pPr marL="342900" indent="-342900">
              <a:buFont typeface="Arial" panose="020B0604020202020204" pitchFamily="34" charset="0"/>
              <a:buChar char="•"/>
            </a:pPr>
            <a:r>
              <a:rPr lang="pt-BR" altLang="pt-BR" sz="2400" dirty="0"/>
              <a:t>Proposta: </a:t>
            </a:r>
            <a:r>
              <a:rPr lang="pt-BR" altLang="pt-BR" sz="2400" dirty="0" err="1"/>
              <a:t>EasyNAS</a:t>
            </a:r>
            <a:r>
              <a:rPr lang="pt-BR" altLang="pt-BR" sz="2400" dirty="0"/>
              <a:t>, um framework de NAS </a:t>
            </a:r>
            <a:r>
              <a:rPr lang="pt-BR" altLang="pt-BR" sz="2400" dirty="0" err="1"/>
              <a:t>differentiable</a:t>
            </a:r>
            <a:r>
              <a:rPr lang="pt-BR" altLang="pt-BR" sz="2400" dirty="0"/>
              <a:t> para visão com foco em eficiência computacional.</a:t>
            </a:r>
          </a:p>
          <a:p>
            <a:pPr marL="342900" indent="-342900">
              <a:buFont typeface="Arial" panose="020B0604020202020204" pitchFamily="34" charset="0"/>
              <a:buChar char="•"/>
            </a:pPr>
            <a:r>
              <a:rPr lang="pt-BR" altLang="pt-BR" sz="2400" dirty="0"/>
              <a:t>O método consegue reduzir o custo do </a:t>
            </a:r>
            <a:r>
              <a:rPr lang="pt-BR" altLang="pt-BR" sz="2400" dirty="0" err="1"/>
              <a:t>supernet</a:t>
            </a:r>
            <a:r>
              <a:rPr lang="pt-BR" altLang="pt-BR" sz="2400" dirty="0"/>
              <a:t> sem depender de uma estrutura dinâmica por </a:t>
            </a:r>
            <a:r>
              <a:rPr lang="pt-BR" altLang="pt-BR" sz="2400" dirty="0" err="1"/>
              <a:t>sampling</a:t>
            </a:r>
            <a:r>
              <a:rPr lang="pt-BR" altLang="pt-BR" sz="2400" dirty="0"/>
              <a:t> como mecanismo principal. </a:t>
            </a:r>
          </a:p>
          <a:p>
            <a:pPr marL="342900" indent="-342900">
              <a:buFont typeface="Arial" panose="020B0604020202020204" pitchFamily="34" charset="0"/>
              <a:buChar char="•"/>
            </a:pPr>
            <a:r>
              <a:rPr lang="pt-BR" altLang="pt-BR" sz="2400" dirty="0"/>
              <a:t>Os experimentos mostram que o </a:t>
            </a:r>
            <a:r>
              <a:rPr lang="pt-BR" altLang="pt-BR" sz="2400" dirty="0" err="1"/>
              <a:t>EasyNAS</a:t>
            </a:r>
            <a:r>
              <a:rPr lang="pt-BR" altLang="pt-BR" sz="2400" dirty="0"/>
              <a:t> mantém boa convergência, melhora a robustez da busca e alcança resultados competitivos em: </a:t>
            </a:r>
          </a:p>
          <a:p>
            <a:pPr marL="742950" lvl="1" indent="-285750">
              <a:buFont typeface="Arial" panose="020B0604020202020204" pitchFamily="34" charset="0"/>
              <a:buChar char="•"/>
            </a:pPr>
            <a:r>
              <a:rPr lang="pt-BR" altLang="pt-BR" sz="2000" dirty="0">
                <a:latin typeface="Cambria Math" panose="02040503050406030204" pitchFamily="18" charset="0"/>
              </a:rPr>
              <a:t>classificação </a:t>
            </a:r>
          </a:p>
          <a:p>
            <a:pPr marL="742950" lvl="1" indent="-285750">
              <a:buFont typeface="Arial" panose="020B0604020202020204" pitchFamily="34" charset="0"/>
              <a:buChar char="•"/>
            </a:pPr>
            <a:r>
              <a:rPr lang="pt-BR" altLang="pt-BR" sz="2000" dirty="0">
                <a:latin typeface="Cambria Math" panose="02040503050406030204" pitchFamily="18" charset="0"/>
              </a:rPr>
              <a:t>detecção </a:t>
            </a:r>
          </a:p>
          <a:p>
            <a:pPr marL="742950" lvl="1" indent="-285750">
              <a:buFont typeface="Arial" panose="020B0604020202020204" pitchFamily="34" charset="0"/>
              <a:buChar char="•"/>
            </a:pPr>
            <a:r>
              <a:rPr lang="pt-BR" altLang="pt-BR" sz="2000" dirty="0">
                <a:latin typeface="Cambria Math" panose="02040503050406030204" pitchFamily="18" charset="0"/>
              </a:rPr>
              <a:t>detecção rotacionada </a:t>
            </a:r>
          </a:p>
          <a:p>
            <a:pPr marL="742950" lvl="1" indent="-285750">
              <a:buFont typeface="Arial" panose="020B0604020202020204" pitchFamily="34" charset="0"/>
              <a:buChar char="•"/>
            </a:pPr>
            <a:r>
              <a:rPr lang="pt-BR" altLang="pt-BR" sz="2000" dirty="0">
                <a:latin typeface="Cambria Math" panose="02040503050406030204" pitchFamily="18" charset="0"/>
              </a:rPr>
              <a:t>segmentação semântica </a:t>
            </a:r>
          </a:p>
        </p:txBody>
      </p:sp>
      <p:sp>
        <p:nvSpPr>
          <p:cNvPr id="4" name="Rectangle 2">
            <a:extLst>
              <a:ext uri="{FF2B5EF4-FFF2-40B4-BE49-F238E27FC236}">
                <a16:creationId xmlns:a16="http://schemas.microsoft.com/office/drawing/2014/main" id="{E77AB215-FEE3-0AD1-0D25-580F18515A08}"/>
              </a:ext>
            </a:extLst>
          </p:cNvPr>
          <p:cNvSpPr>
            <a:spLocks noChangeArrowheads="1"/>
          </p:cNvSpPr>
          <p:nvPr/>
        </p:nvSpPr>
        <p:spPr bwMode="auto">
          <a:xfrm>
            <a:off x="6682154" y="1089164"/>
            <a:ext cx="5153221" cy="5632311"/>
          </a:xfrm>
          <a:prstGeom prst="rect">
            <a:avLst/>
          </a:prstGeom>
          <a:noFill/>
          <a:ln w="76200">
            <a:solidFill>
              <a:schemeClr val="tx1"/>
            </a:solidFill>
          </a:ln>
        </p:spPr>
        <p:txBody>
          <a:bodyPr wrap="square">
            <a:spAutoFit/>
          </a:bodyPr>
          <a:lstStyle/>
          <a:p>
            <a:pPr marL="342900" indent="-342900">
              <a:buFont typeface="Arial" panose="020B0604020202020204" pitchFamily="34" charset="0"/>
              <a:buChar char="•"/>
            </a:pPr>
            <a:r>
              <a:rPr lang="pt-BR" altLang="pt-BR" sz="2400" dirty="0"/>
              <a:t>Expandir o framework para outros </a:t>
            </a:r>
            <a:r>
              <a:rPr lang="pt-BR" altLang="pt-BR" sz="2400" dirty="0" err="1"/>
              <a:t>search</a:t>
            </a:r>
            <a:r>
              <a:rPr lang="pt-BR" altLang="pt-BR" sz="2400" dirty="0"/>
              <a:t> </a:t>
            </a:r>
            <a:r>
              <a:rPr lang="pt-BR" altLang="pt-BR" sz="2400" dirty="0" err="1"/>
              <a:t>spaces</a:t>
            </a:r>
            <a:r>
              <a:rPr lang="pt-BR" altLang="pt-BR" sz="2400" dirty="0"/>
              <a:t> e arquiteturas mais diversas. </a:t>
            </a:r>
          </a:p>
          <a:p>
            <a:pPr marL="342900" indent="-342900">
              <a:buFont typeface="Arial" panose="020B0604020202020204" pitchFamily="34" charset="0"/>
              <a:buChar char="•"/>
            </a:pPr>
            <a:endParaRPr lang="pt-BR" altLang="pt-BR" sz="2400" dirty="0"/>
          </a:p>
          <a:p>
            <a:pPr marL="342900" indent="-342900">
              <a:buFont typeface="Arial" panose="020B0604020202020204" pitchFamily="34" charset="0"/>
              <a:buChar char="•"/>
            </a:pPr>
            <a:r>
              <a:rPr lang="pt-BR" altLang="pt-BR" sz="2400" dirty="0"/>
              <a:t>Investigar a aplicação do método em mais tarefas de visão computacional.</a:t>
            </a:r>
          </a:p>
          <a:p>
            <a:pPr marL="342900" indent="-342900">
              <a:buFont typeface="Arial" panose="020B0604020202020204" pitchFamily="34" charset="0"/>
              <a:buChar char="•"/>
            </a:pPr>
            <a:endParaRPr lang="pt-BR" altLang="pt-BR" sz="2400" dirty="0"/>
          </a:p>
          <a:p>
            <a:pPr marL="342900" indent="-342900">
              <a:buFont typeface="Arial" panose="020B0604020202020204" pitchFamily="34" charset="0"/>
              <a:buChar char="•"/>
            </a:pPr>
            <a:r>
              <a:rPr lang="pt-BR" altLang="pt-BR" sz="2400" dirty="0"/>
              <a:t>Explorar novas extensões do framework para além de convoluções e estruturas já estudadas. </a:t>
            </a:r>
          </a:p>
          <a:p>
            <a:pPr marL="342900" indent="-342900">
              <a:buFont typeface="Arial" panose="020B0604020202020204" pitchFamily="34" charset="0"/>
              <a:buChar char="•"/>
            </a:pPr>
            <a:endParaRPr lang="pt-BR" altLang="pt-BR" sz="2400" dirty="0"/>
          </a:p>
          <a:p>
            <a:pPr marL="342900" indent="-342900">
              <a:buFont typeface="Arial" panose="020B0604020202020204" pitchFamily="34" charset="0"/>
              <a:buChar char="•"/>
            </a:pPr>
            <a:r>
              <a:rPr lang="pt-BR" altLang="pt-BR" sz="2400" dirty="0"/>
              <a:t>Continuar desenvolvendo a ideia de um pipeline de NAS mais geral, reutilizável e fácil de aplicar. </a:t>
            </a:r>
          </a:p>
        </p:txBody>
      </p:sp>
    </p:spTree>
    <p:extLst>
      <p:ext uri="{BB962C8B-B14F-4D97-AF65-F5344CB8AC3E}">
        <p14:creationId xmlns:p14="http://schemas.microsoft.com/office/powerpoint/2010/main" val="13995994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55BFA-845E-197A-D412-6F2E99625C22}"/>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4F2398F-F91A-894E-59CC-5EC1D650567B}"/>
              </a:ext>
            </a:extLst>
          </p:cNvPr>
          <p:cNvSpPr>
            <a:spLocks noGrp="1"/>
          </p:cNvSpPr>
          <p:nvPr>
            <p:ph type="sldNum" sz="quarter" idx="12"/>
          </p:nvPr>
        </p:nvSpPr>
        <p:spPr/>
        <p:txBody>
          <a:bodyPr/>
          <a:lstStyle/>
          <a:p>
            <a:fld id="{1A7E88B7-70CE-4035-AE73-13FA6FB985D4}" type="slidenum">
              <a:rPr lang="en-US" noProof="1" smtClean="0"/>
              <a:t>28</a:t>
            </a:fld>
            <a:endParaRPr lang="en-US" noProof="1"/>
          </a:p>
        </p:txBody>
      </p:sp>
      <p:sp>
        <p:nvSpPr>
          <p:cNvPr id="2" name="Título 1">
            <a:extLst>
              <a:ext uri="{FF2B5EF4-FFF2-40B4-BE49-F238E27FC236}">
                <a16:creationId xmlns:a16="http://schemas.microsoft.com/office/drawing/2014/main" id="{22464911-0008-8AC1-525F-D9B40EA71437}"/>
              </a:ext>
            </a:extLst>
          </p:cNvPr>
          <p:cNvSpPr>
            <a:spLocks noGrp="1"/>
          </p:cNvSpPr>
          <p:nvPr>
            <p:ph type="title"/>
          </p:nvPr>
        </p:nvSpPr>
        <p:spPr>
          <a:xfrm>
            <a:off x="0" y="-314182"/>
            <a:ext cx="6911683" cy="1325563"/>
          </a:xfrm>
        </p:spPr>
        <p:txBody>
          <a:bodyPr>
            <a:normAutofit/>
          </a:bodyPr>
          <a:lstStyle/>
          <a:p>
            <a:r>
              <a:rPr lang="en-US" noProof="1"/>
              <a:t>Limitações</a:t>
            </a:r>
          </a:p>
        </p:txBody>
      </p:sp>
      <p:sp>
        <p:nvSpPr>
          <p:cNvPr id="3" name="Rectangle 1">
            <a:extLst>
              <a:ext uri="{FF2B5EF4-FFF2-40B4-BE49-F238E27FC236}">
                <a16:creationId xmlns:a16="http://schemas.microsoft.com/office/drawing/2014/main" id="{3A6CE17D-32BB-A552-B67D-71AC7AD00D40}"/>
              </a:ext>
            </a:extLst>
          </p:cNvPr>
          <p:cNvSpPr>
            <a:spLocks noChangeArrowheads="1"/>
          </p:cNvSpPr>
          <p:nvPr/>
        </p:nvSpPr>
        <p:spPr bwMode="auto">
          <a:xfrm>
            <a:off x="498232" y="781387"/>
            <a:ext cx="10263553" cy="5940088"/>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pt-BR" altLang="pt-BR" sz="2000" b="0" i="0" u="none" strike="noStrike" cap="none" normalizeH="0" baseline="0" dirty="0">
                <a:ln>
                  <a:noFill/>
                </a:ln>
                <a:solidFill>
                  <a:schemeClr val="tx1"/>
                </a:solidFill>
                <a:effectLst/>
                <a:latin typeface="Arial" panose="020B0604020202020204" pitchFamily="34" charset="0"/>
              </a:rPr>
              <a:t>O método ainda depende de um </a:t>
            </a:r>
            <a:r>
              <a:rPr kumimoji="0" lang="pt-BR" altLang="pt-BR" sz="2000" i="0" u="none" strike="noStrike" cap="none" normalizeH="0" baseline="0" dirty="0" err="1">
                <a:ln>
                  <a:noFill/>
                </a:ln>
                <a:solidFill>
                  <a:schemeClr val="tx1"/>
                </a:solidFill>
                <a:effectLst/>
                <a:latin typeface="Arial" panose="020B0604020202020204" pitchFamily="34" charset="0"/>
              </a:rPr>
              <a:t>supernet</a:t>
            </a:r>
            <a:r>
              <a:rPr kumimoji="0" lang="pt-BR" altLang="pt-BR" sz="2000" i="0" u="none" strike="noStrike" cap="none" normalizeH="0" baseline="0" dirty="0">
                <a:ln>
                  <a:noFill/>
                </a:ln>
                <a:solidFill>
                  <a:schemeClr val="tx1"/>
                </a:solidFill>
                <a:effectLst/>
                <a:latin typeface="Arial" panose="020B0604020202020204" pitchFamily="34" charset="0"/>
              </a:rPr>
              <a:t> </a:t>
            </a:r>
            <a:r>
              <a:rPr kumimoji="0" lang="pt-BR" altLang="pt-BR" sz="2000" i="0" u="none" strike="noStrike" cap="none" normalizeH="0" baseline="0" dirty="0" err="1">
                <a:ln>
                  <a:noFill/>
                </a:ln>
                <a:solidFill>
                  <a:schemeClr val="tx1"/>
                </a:solidFill>
                <a:effectLst/>
                <a:latin typeface="Arial" panose="020B0604020202020204" pitchFamily="34" charset="0"/>
              </a:rPr>
              <a:t>differentiable</a:t>
            </a:r>
            <a:r>
              <a:rPr kumimoji="0" lang="pt-BR" altLang="pt-BR" sz="2000" b="0" i="0" u="none" strike="noStrike" cap="none" normalizeH="0" baseline="0" dirty="0">
                <a:ln>
                  <a:noFill/>
                </a:ln>
                <a:solidFill>
                  <a:schemeClr val="tx1"/>
                </a:solidFill>
                <a:effectLst/>
                <a:latin typeface="Arial" panose="020B0604020202020204" pitchFamily="34" charset="0"/>
              </a:rPr>
              <a:t>, então não elimina totalmente os problemas clássicos de </a:t>
            </a:r>
            <a:r>
              <a:rPr kumimoji="0" lang="pt-BR" altLang="pt-BR" sz="2000" b="0" i="0" u="none" strike="noStrike" cap="none" normalizeH="0" baseline="0" dirty="0" err="1">
                <a:ln>
                  <a:noFill/>
                </a:ln>
                <a:solidFill>
                  <a:schemeClr val="tx1"/>
                </a:solidFill>
                <a:effectLst/>
                <a:latin typeface="Arial" panose="020B0604020202020204" pitchFamily="34" charset="0"/>
              </a:rPr>
              <a:t>one</a:t>
            </a:r>
            <a:r>
              <a:rPr kumimoji="0" lang="pt-BR" altLang="pt-BR" sz="2000" b="0" i="0" u="none" strike="noStrike" cap="none" normalizeH="0" baseline="0" dirty="0">
                <a:ln>
                  <a:noFill/>
                </a:ln>
                <a:solidFill>
                  <a:schemeClr val="tx1"/>
                </a:solidFill>
                <a:effectLst/>
                <a:latin typeface="Arial" panose="020B0604020202020204" pitchFamily="34" charset="0"/>
              </a:rPr>
              <a:t>-shot NAS.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pt-BR" altLang="pt-BR" sz="2000" b="0" i="0" u="none" strike="noStrike" cap="none" normalizeH="0" baseline="0" dirty="0">
                <a:ln>
                  <a:noFill/>
                </a:ln>
                <a:solidFill>
                  <a:schemeClr val="tx1"/>
                </a:solidFill>
                <a:effectLst/>
                <a:latin typeface="Arial" panose="020B0604020202020204" pitchFamily="34" charset="0"/>
              </a:rPr>
              <a:t>A generalidade do framework vale sobretudo para </a:t>
            </a:r>
            <a:r>
              <a:rPr kumimoji="0" lang="pt-BR" altLang="pt-BR" sz="2000" i="0" u="none" strike="noStrike" cap="none" normalizeH="0" baseline="0" dirty="0">
                <a:ln>
                  <a:noFill/>
                </a:ln>
                <a:solidFill>
                  <a:schemeClr val="tx1"/>
                </a:solidFill>
                <a:effectLst/>
                <a:latin typeface="Arial" panose="020B0604020202020204" pitchFamily="34" charset="0"/>
              </a:rPr>
              <a:t>arquiteturas convolucionais de visão.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pt-BR" altLang="pt-BR" sz="2000" b="0" i="0" u="none" strike="noStrike" cap="none" normalizeH="0" baseline="0" dirty="0">
                <a:ln>
                  <a:noFill/>
                </a:ln>
                <a:solidFill>
                  <a:schemeClr val="tx1"/>
                </a:solidFill>
                <a:effectLst/>
                <a:latin typeface="Arial" panose="020B0604020202020204" pitchFamily="34" charset="0"/>
              </a:rPr>
              <a:t>O </a:t>
            </a:r>
            <a:r>
              <a:rPr kumimoji="0" lang="pt-BR" altLang="pt-BR" sz="2000" i="0" u="none" strike="noStrike" cap="none" normalizeH="0" baseline="0" dirty="0" err="1">
                <a:ln>
                  <a:noFill/>
                </a:ln>
                <a:solidFill>
                  <a:schemeClr val="tx1"/>
                </a:solidFill>
                <a:effectLst/>
                <a:latin typeface="Arial" panose="020B0604020202020204" pitchFamily="34" charset="0"/>
              </a:rPr>
              <a:t>operator</a:t>
            </a:r>
            <a:r>
              <a:rPr kumimoji="0" lang="pt-BR" altLang="pt-BR" sz="2000" i="0" u="none" strike="noStrike" cap="none" normalizeH="0" baseline="0" dirty="0">
                <a:ln>
                  <a:noFill/>
                </a:ln>
                <a:solidFill>
                  <a:schemeClr val="tx1"/>
                </a:solidFill>
                <a:effectLst/>
                <a:latin typeface="Arial" panose="020B0604020202020204" pitchFamily="34" charset="0"/>
              </a:rPr>
              <a:t> </a:t>
            </a:r>
            <a:r>
              <a:rPr kumimoji="0" lang="pt-BR" altLang="pt-BR" sz="2000" i="0" u="none" strike="noStrike" cap="none" normalizeH="0" baseline="0" dirty="0" err="1">
                <a:ln>
                  <a:noFill/>
                </a:ln>
                <a:solidFill>
                  <a:schemeClr val="tx1"/>
                </a:solidFill>
                <a:effectLst/>
                <a:latin typeface="Arial" panose="020B0604020202020204" pitchFamily="34" charset="0"/>
              </a:rPr>
              <a:t>merging</a:t>
            </a:r>
            <a:r>
              <a:rPr kumimoji="0" lang="pt-BR" altLang="pt-BR" sz="2000" i="0" u="none" strike="noStrike" cap="none" normalizeH="0" baseline="0" dirty="0">
                <a:ln>
                  <a:noFill/>
                </a:ln>
                <a:solidFill>
                  <a:schemeClr val="tx1"/>
                </a:solidFill>
                <a:effectLst/>
                <a:latin typeface="Arial" panose="020B0604020202020204" pitchFamily="34" charset="0"/>
              </a:rPr>
              <a:t> </a:t>
            </a:r>
            <a:r>
              <a:rPr kumimoji="0" lang="pt-BR" altLang="pt-BR" sz="2000" b="0" i="0" u="none" strike="noStrike" cap="none" normalizeH="0" baseline="0" dirty="0">
                <a:ln>
                  <a:noFill/>
                </a:ln>
                <a:solidFill>
                  <a:schemeClr val="tx1"/>
                </a:solidFill>
                <a:effectLst/>
                <a:latin typeface="Arial" panose="020B0604020202020204" pitchFamily="34" charset="0"/>
              </a:rPr>
              <a:t>depende de operações que possam ser representadas por </a:t>
            </a:r>
            <a:r>
              <a:rPr kumimoji="0" lang="pt-BR" altLang="pt-BR" sz="2000" i="0" u="none" strike="noStrike" cap="none" normalizeH="0" baseline="0" dirty="0">
                <a:ln>
                  <a:noFill/>
                </a:ln>
                <a:solidFill>
                  <a:schemeClr val="tx1"/>
                </a:solidFill>
                <a:effectLst/>
                <a:latin typeface="Arial" panose="020B0604020202020204" pitchFamily="34" charset="0"/>
              </a:rPr>
              <a:t>kernels compartilhados e máscaras</a:t>
            </a:r>
            <a:r>
              <a:rPr kumimoji="0" lang="pt-BR" altLang="pt-BR" sz="20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pt-BR" altLang="pt-BR" sz="2000" b="0" i="0" u="none" strike="noStrike" cap="none" normalizeH="0" baseline="0" dirty="0">
                <a:ln>
                  <a:noFill/>
                </a:ln>
                <a:solidFill>
                  <a:schemeClr val="tx1"/>
                </a:solidFill>
                <a:effectLst/>
                <a:latin typeface="Arial" panose="020B0604020202020204" pitchFamily="34" charset="0"/>
              </a:rPr>
              <a:t>A busca por </a:t>
            </a:r>
            <a:r>
              <a:rPr kumimoji="0" lang="pt-BR" altLang="pt-BR" sz="2000" i="0" u="none" strike="noStrike" cap="none" normalizeH="0" baseline="0" dirty="0">
                <a:ln>
                  <a:noFill/>
                </a:ln>
                <a:solidFill>
                  <a:schemeClr val="tx1"/>
                </a:solidFill>
                <a:effectLst/>
                <a:latin typeface="Arial" panose="020B0604020202020204" pitchFamily="34" charset="0"/>
              </a:rPr>
              <a:t>redução de canais </a:t>
            </a:r>
            <a:r>
              <a:rPr kumimoji="0" lang="pt-BR" altLang="pt-BR" sz="2000" b="0" i="0" u="none" strike="noStrike" cap="none" normalizeH="0" baseline="0" dirty="0">
                <a:ln>
                  <a:noFill/>
                </a:ln>
                <a:solidFill>
                  <a:schemeClr val="tx1"/>
                </a:solidFill>
                <a:effectLst/>
                <a:latin typeface="Arial" panose="020B0604020202020204" pitchFamily="34" charset="0"/>
              </a:rPr>
              <a:t>aumenta a flexibilidade, mas também adiciona complexidade à otimização.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pt-BR" altLang="pt-BR"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pt-BR" altLang="pt-BR" sz="2000" b="0" i="0" u="none" strike="noStrike" cap="none" normalizeH="0" baseline="0" dirty="0">
                <a:ln>
                  <a:noFill/>
                </a:ln>
                <a:solidFill>
                  <a:schemeClr val="tx1"/>
                </a:solidFill>
                <a:effectLst/>
                <a:latin typeface="Arial" panose="020B0604020202020204" pitchFamily="34" charset="0"/>
              </a:rPr>
              <a:t>O </a:t>
            </a:r>
            <a:r>
              <a:rPr kumimoji="0" lang="pt-BR" altLang="pt-BR" sz="2000" b="0" i="0" u="none" strike="noStrike" cap="none" normalizeH="0" baseline="0" dirty="0" err="1">
                <a:ln>
                  <a:noFill/>
                </a:ln>
                <a:solidFill>
                  <a:schemeClr val="tx1"/>
                </a:solidFill>
                <a:effectLst/>
                <a:latin typeface="Arial" panose="020B0604020202020204" pitchFamily="34" charset="0"/>
              </a:rPr>
              <a:t>paper</a:t>
            </a:r>
            <a:r>
              <a:rPr kumimoji="0" lang="pt-BR" altLang="pt-BR" sz="2000" b="0" i="0" u="none" strike="noStrike" cap="none" normalizeH="0" baseline="0" dirty="0">
                <a:ln>
                  <a:noFill/>
                </a:ln>
                <a:solidFill>
                  <a:schemeClr val="tx1"/>
                </a:solidFill>
                <a:effectLst/>
                <a:latin typeface="Arial" panose="020B0604020202020204" pitchFamily="34" charset="0"/>
              </a:rPr>
              <a:t> foca mais em </a:t>
            </a:r>
            <a:r>
              <a:rPr kumimoji="0" lang="pt-BR" altLang="pt-BR" sz="2000" i="0" u="none" strike="noStrike" cap="none" normalizeH="0" baseline="0" dirty="0">
                <a:ln>
                  <a:noFill/>
                </a:ln>
                <a:solidFill>
                  <a:schemeClr val="tx1"/>
                </a:solidFill>
                <a:effectLst/>
                <a:latin typeface="Arial" panose="020B0604020202020204" pitchFamily="34" charset="0"/>
              </a:rPr>
              <a:t>desempenho final e custo </a:t>
            </a:r>
            <a:r>
              <a:rPr kumimoji="0" lang="pt-BR" altLang="pt-BR" sz="2000" b="0" i="0" u="none" strike="noStrike" cap="none" normalizeH="0" baseline="0" dirty="0">
                <a:ln>
                  <a:noFill/>
                </a:ln>
                <a:solidFill>
                  <a:schemeClr val="tx1"/>
                </a:solidFill>
                <a:effectLst/>
                <a:latin typeface="Arial" panose="020B0604020202020204" pitchFamily="34" charset="0"/>
              </a:rPr>
              <a:t>do que em análise detalhada de: </a:t>
            </a:r>
          </a:p>
          <a:p>
            <a:pPr marL="742950" lvl="1" indent="-285750" eaLnBrk="0" fontAlgn="base" hangingPunct="0">
              <a:spcBef>
                <a:spcPct val="0"/>
              </a:spcBef>
              <a:spcAft>
                <a:spcPct val="0"/>
              </a:spcAft>
              <a:buFont typeface="Arial" panose="020B0604020202020204" pitchFamily="34" charset="0"/>
              <a:buChar char="•"/>
            </a:pPr>
            <a:r>
              <a:rPr kumimoji="0" lang="pt-BR" altLang="pt-BR" sz="2000" b="0" i="0" u="none" strike="noStrike" cap="none" normalizeH="0" baseline="0" dirty="0">
                <a:ln>
                  <a:noFill/>
                </a:ln>
                <a:solidFill>
                  <a:schemeClr val="tx1"/>
                </a:solidFill>
                <a:effectLst/>
                <a:latin typeface="Arial" panose="020B0604020202020204" pitchFamily="34" charset="0"/>
              </a:rPr>
              <a:t>sensibilidade a </a:t>
            </a:r>
            <a:r>
              <a:rPr kumimoji="0" lang="pt-BR" altLang="pt-BR" sz="2000" b="0" i="0" u="none" strike="noStrike" cap="none" normalizeH="0" baseline="0" dirty="0" err="1">
                <a:ln>
                  <a:noFill/>
                </a:ln>
                <a:solidFill>
                  <a:schemeClr val="tx1"/>
                </a:solidFill>
                <a:effectLst/>
                <a:latin typeface="Arial" panose="020B0604020202020204" pitchFamily="34" charset="0"/>
              </a:rPr>
              <a:t>hiperparâmetros</a:t>
            </a:r>
            <a:r>
              <a:rPr kumimoji="0" lang="pt-BR" altLang="pt-BR" sz="2000" b="0" i="0" u="none" strike="noStrike" cap="none" normalizeH="0" baseline="0" dirty="0">
                <a:ln>
                  <a:noFill/>
                </a:ln>
                <a:solidFill>
                  <a:schemeClr val="tx1"/>
                </a:solidFill>
                <a:effectLst/>
                <a:latin typeface="Arial" panose="020B0604020202020204" pitchFamily="34" charset="0"/>
              </a:rPr>
              <a:t> </a:t>
            </a:r>
          </a:p>
          <a:p>
            <a:pPr marL="742950" lvl="1" indent="-285750" eaLnBrk="0" fontAlgn="base" hangingPunct="0">
              <a:spcBef>
                <a:spcPct val="0"/>
              </a:spcBef>
              <a:spcAft>
                <a:spcPct val="0"/>
              </a:spcAft>
              <a:buFont typeface="Arial" panose="020B0604020202020204" pitchFamily="34" charset="0"/>
              <a:buChar char="•"/>
            </a:pPr>
            <a:r>
              <a:rPr kumimoji="0" lang="pt-BR" altLang="pt-BR" sz="2000" b="0" i="0" u="none" strike="noStrike" cap="none" normalizeH="0" baseline="0" dirty="0">
                <a:ln>
                  <a:noFill/>
                </a:ln>
                <a:solidFill>
                  <a:schemeClr val="tx1"/>
                </a:solidFill>
                <a:effectLst/>
                <a:latin typeface="Arial" panose="020B0604020202020204" pitchFamily="34" charset="0"/>
              </a:rPr>
              <a:t>variabilidade entre execuções </a:t>
            </a:r>
          </a:p>
          <a:p>
            <a:pPr marL="742950" lvl="1" indent="-285750" eaLnBrk="0" fontAlgn="base" hangingPunct="0">
              <a:spcBef>
                <a:spcPct val="0"/>
              </a:spcBef>
              <a:spcAft>
                <a:spcPct val="0"/>
              </a:spcAft>
              <a:buFont typeface="Arial" panose="020B0604020202020204" pitchFamily="34" charset="0"/>
              <a:buChar char="•"/>
            </a:pPr>
            <a:r>
              <a:rPr kumimoji="0" lang="pt-BR" altLang="pt-BR" sz="2000" b="0" i="0" u="none" strike="noStrike" cap="none" normalizeH="0" baseline="0" dirty="0">
                <a:ln>
                  <a:noFill/>
                </a:ln>
                <a:solidFill>
                  <a:schemeClr val="tx1"/>
                </a:solidFill>
                <a:effectLst/>
                <a:latin typeface="Arial" panose="020B0604020202020204" pitchFamily="34" charset="0"/>
              </a:rPr>
              <a:t>contribuição isolada de cada componente </a:t>
            </a:r>
          </a:p>
          <a:p>
            <a:pPr marL="742950" lvl="1" indent="-285750" eaLnBrk="0" fontAlgn="base" hangingPunct="0">
              <a:spcBef>
                <a:spcPct val="0"/>
              </a:spcBef>
              <a:spcAft>
                <a:spcPct val="0"/>
              </a:spcAft>
              <a:buFont typeface="Arial" panose="020B0604020202020204" pitchFamily="34" charset="0"/>
              <a:buChar char="•"/>
            </a:pPr>
            <a:endParaRPr kumimoji="0" lang="pt-BR" altLang="pt-BR"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pt-BR" altLang="pt-BR" sz="2000" b="0" i="0" u="none" strike="noStrike" cap="none" normalizeH="0" baseline="0" dirty="0">
                <a:ln>
                  <a:noFill/>
                </a:ln>
                <a:solidFill>
                  <a:schemeClr val="tx1"/>
                </a:solidFill>
                <a:effectLst/>
                <a:latin typeface="Arial" panose="020B0604020202020204" pitchFamily="34" charset="0"/>
              </a:rPr>
              <a:t>Ainda há trade-</a:t>
            </a:r>
            <a:r>
              <a:rPr kumimoji="0" lang="pt-BR" altLang="pt-BR" sz="2000" b="0" i="0" u="none" strike="noStrike" cap="none" normalizeH="0" baseline="0" dirty="0" err="1">
                <a:ln>
                  <a:noFill/>
                </a:ln>
                <a:solidFill>
                  <a:schemeClr val="tx1"/>
                </a:solidFill>
                <a:effectLst/>
                <a:latin typeface="Arial" panose="020B0604020202020204" pitchFamily="34" charset="0"/>
              </a:rPr>
              <a:t>offs</a:t>
            </a:r>
            <a:r>
              <a:rPr kumimoji="0" lang="pt-BR" altLang="pt-BR" sz="2000" b="0" i="0" u="none" strike="noStrike" cap="none" normalizeH="0" baseline="0" dirty="0">
                <a:ln>
                  <a:noFill/>
                </a:ln>
                <a:solidFill>
                  <a:schemeClr val="tx1"/>
                </a:solidFill>
                <a:effectLst/>
                <a:latin typeface="Arial" panose="020B0604020202020204" pitchFamily="34" charset="0"/>
              </a:rPr>
              <a:t> em aberto entre: </a:t>
            </a:r>
          </a:p>
          <a:p>
            <a:pPr marL="742950" lvl="1" indent="-285750" eaLnBrk="0" fontAlgn="base" hangingPunct="0">
              <a:spcBef>
                <a:spcPct val="0"/>
              </a:spcBef>
              <a:spcAft>
                <a:spcPct val="0"/>
              </a:spcAft>
              <a:buFont typeface="Arial" panose="020B0604020202020204" pitchFamily="34" charset="0"/>
              <a:buChar char="•"/>
            </a:pPr>
            <a:r>
              <a:rPr kumimoji="0" lang="pt-BR" altLang="pt-BR" sz="2000" b="0" i="0" u="none" strike="noStrike" cap="none" normalizeH="0" baseline="0" dirty="0">
                <a:ln>
                  <a:noFill/>
                </a:ln>
                <a:solidFill>
                  <a:schemeClr val="tx1"/>
                </a:solidFill>
                <a:effectLst/>
                <a:latin typeface="Arial" panose="020B0604020202020204" pitchFamily="34" charset="0"/>
              </a:rPr>
              <a:t>espaço de busca </a:t>
            </a:r>
          </a:p>
          <a:p>
            <a:pPr marL="742950" lvl="1" indent="-285750" eaLnBrk="0" fontAlgn="base" hangingPunct="0">
              <a:spcBef>
                <a:spcPct val="0"/>
              </a:spcBef>
              <a:spcAft>
                <a:spcPct val="0"/>
              </a:spcAft>
              <a:buFont typeface="Arial" panose="020B0604020202020204" pitchFamily="34" charset="0"/>
              <a:buChar char="•"/>
            </a:pPr>
            <a:r>
              <a:rPr kumimoji="0" lang="pt-BR" altLang="pt-BR" sz="2000" b="0" i="0" u="none" strike="noStrike" cap="none" normalizeH="0" baseline="0" dirty="0">
                <a:ln>
                  <a:noFill/>
                </a:ln>
                <a:solidFill>
                  <a:schemeClr val="tx1"/>
                </a:solidFill>
                <a:effectLst/>
                <a:latin typeface="Arial" panose="020B0604020202020204" pitchFamily="34" charset="0"/>
              </a:rPr>
              <a:t>custo de busca </a:t>
            </a:r>
          </a:p>
          <a:p>
            <a:pPr marL="742950" lvl="1" indent="-285750" eaLnBrk="0" fontAlgn="base" hangingPunct="0">
              <a:spcBef>
                <a:spcPct val="0"/>
              </a:spcBef>
              <a:spcAft>
                <a:spcPct val="0"/>
              </a:spcAft>
              <a:buFont typeface="Arial" panose="020B0604020202020204" pitchFamily="34" charset="0"/>
              <a:buChar char="•"/>
            </a:pPr>
            <a:r>
              <a:rPr kumimoji="0" lang="pt-BR" altLang="pt-BR" sz="2000" b="0" i="0" u="none" strike="noStrike" cap="none" normalizeH="0" baseline="0" dirty="0">
                <a:ln>
                  <a:noFill/>
                </a:ln>
                <a:solidFill>
                  <a:schemeClr val="tx1"/>
                </a:solidFill>
                <a:effectLst/>
                <a:latin typeface="Arial" panose="020B0604020202020204" pitchFamily="34" charset="0"/>
              </a:rPr>
              <a:t>qualidade final da arquitetura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pt-BR" altLang="pt-B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424568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313BC-405D-7B90-8C23-AE7BE7B5A1E2}"/>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0B9B472-B73B-1FCC-9E77-C7238FFE8CF4}"/>
              </a:ext>
            </a:extLst>
          </p:cNvPr>
          <p:cNvSpPr>
            <a:spLocks noGrp="1"/>
          </p:cNvSpPr>
          <p:nvPr>
            <p:ph type="sldNum" sz="quarter" idx="12"/>
          </p:nvPr>
        </p:nvSpPr>
        <p:spPr/>
        <p:txBody>
          <a:bodyPr/>
          <a:lstStyle/>
          <a:p>
            <a:fld id="{1A7E88B7-70CE-4035-AE73-13FA6FB985D4}" type="slidenum">
              <a:rPr lang="en-US" noProof="1" smtClean="0"/>
              <a:t>29</a:t>
            </a:fld>
            <a:endParaRPr lang="en-US" noProof="1"/>
          </a:p>
        </p:txBody>
      </p:sp>
      <p:sp>
        <p:nvSpPr>
          <p:cNvPr id="2" name="Título 1">
            <a:extLst>
              <a:ext uri="{FF2B5EF4-FFF2-40B4-BE49-F238E27FC236}">
                <a16:creationId xmlns:a16="http://schemas.microsoft.com/office/drawing/2014/main" id="{466ADF3D-E9B0-E041-FE84-1850DE4A7803}"/>
              </a:ext>
            </a:extLst>
          </p:cNvPr>
          <p:cNvSpPr>
            <a:spLocks noGrp="1"/>
          </p:cNvSpPr>
          <p:nvPr>
            <p:ph type="title"/>
          </p:nvPr>
        </p:nvSpPr>
        <p:spPr>
          <a:xfrm>
            <a:off x="0" y="-314182"/>
            <a:ext cx="6911683" cy="1325563"/>
          </a:xfrm>
        </p:spPr>
        <p:txBody>
          <a:bodyPr>
            <a:normAutofit/>
          </a:bodyPr>
          <a:lstStyle/>
          <a:p>
            <a:r>
              <a:rPr lang="en-US" noProof="1"/>
              <a:t>Minhas implementações</a:t>
            </a:r>
          </a:p>
        </p:txBody>
      </p:sp>
      <p:pic>
        <p:nvPicPr>
          <p:cNvPr id="5" name="Picture 4">
            <a:extLst>
              <a:ext uri="{FF2B5EF4-FFF2-40B4-BE49-F238E27FC236}">
                <a16:creationId xmlns:a16="http://schemas.microsoft.com/office/drawing/2014/main" id="{2B68C725-B227-3F99-3409-2B53E6FFE2DB}"/>
              </a:ext>
            </a:extLst>
          </p:cNvPr>
          <p:cNvPicPr>
            <a:picLocks noChangeAspect="1"/>
          </p:cNvPicPr>
          <p:nvPr/>
        </p:nvPicPr>
        <p:blipFill>
          <a:blip r:embed="rId3"/>
          <a:stretch>
            <a:fillRect/>
          </a:stretch>
        </p:blipFill>
        <p:spPr>
          <a:xfrm>
            <a:off x="444056" y="1197546"/>
            <a:ext cx="11014330" cy="4548471"/>
          </a:xfrm>
          <a:prstGeom prst="rect">
            <a:avLst/>
          </a:prstGeom>
        </p:spPr>
      </p:pic>
    </p:spTree>
    <p:extLst>
      <p:ext uri="{BB962C8B-B14F-4D97-AF65-F5344CB8AC3E}">
        <p14:creationId xmlns:p14="http://schemas.microsoft.com/office/powerpoint/2010/main" val="12728467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21144-5F43-81F3-6094-129D412A218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3C935B6-F6AF-9800-3DF4-1F3D73854AF0}"/>
              </a:ext>
            </a:extLst>
          </p:cNvPr>
          <p:cNvSpPr>
            <a:spLocks noGrp="1"/>
          </p:cNvSpPr>
          <p:nvPr>
            <p:ph type="sldNum" sz="quarter" idx="12"/>
          </p:nvPr>
        </p:nvSpPr>
        <p:spPr/>
        <p:txBody>
          <a:bodyPr/>
          <a:lstStyle/>
          <a:p>
            <a:fld id="{1A7E88B7-70CE-4035-AE73-13FA6FB985D4}" type="slidenum">
              <a:rPr lang="en-US" noProof="1" smtClean="0"/>
              <a:t>30</a:t>
            </a:fld>
            <a:endParaRPr lang="en-US" noProof="1"/>
          </a:p>
        </p:txBody>
      </p:sp>
      <p:sp>
        <p:nvSpPr>
          <p:cNvPr id="2" name="Título 1">
            <a:extLst>
              <a:ext uri="{FF2B5EF4-FFF2-40B4-BE49-F238E27FC236}">
                <a16:creationId xmlns:a16="http://schemas.microsoft.com/office/drawing/2014/main" id="{4920976F-F7B5-A085-6DB8-7373E774555A}"/>
              </a:ext>
            </a:extLst>
          </p:cNvPr>
          <p:cNvSpPr>
            <a:spLocks noGrp="1"/>
          </p:cNvSpPr>
          <p:nvPr>
            <p:ph type="title"/>
          </p:nvPr>
        </p:nvSpPr>
        <p:spPr>
          <a:xfrm>
            <a:off x="0" y="-314182"/>
            <a:ext cx="6911683" cy="1325563"/>
          </a:xfrm>
        </p:spPr>
        <p:txBody>
          <a:bodyPr>
            <a:normAutofit/>
          </a:bodyPr>
          <a:lstStyle/>
          <a:p>
            <a:r>
              <a:rPr lang="en-US" noProof="1"/>
              <a:t>Minhas implementações</a:t>
            </a:r>
          </a:p>
        </p:txBody>
      </p:sp>
      <p:pic>
        <p:nvPicPr>
          <p:cNvPr id="5" name="Picture 4">
            <a:extLst>
              <a:ext uri="{FF2B5EF4-FFF2-40B4-BE49-F238E27FC236}">
                <a16:creationId xmlns:a16="http://schemas.microsoft.com/office/drawing/2014/main" id="{80105A9F-81C3-25A6-A9D3-C1C87C9382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1191" y="777863"/>
            <a:ext cx="8229617" cy="5943612"/>
          </a:xfrm>
          <a:prstGeom prst="rect">
            <a:avLst/>
          </a:prstGeom>
        </p:spPr>
      </p:pic>
    </p:spTree>
    <p:extLst>
      <p:ext uri="{BB962C8B-B14F-4D97-AF65-F5344CB8AC3E}">
        <p14:creationId xmlns:p14="http://schemas.microsoft.com/office/powerpoint/2010/main" val="42847098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31763-4CFF-34C1-E145-CE5AFA1B25F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50F0FB7-1D1B-F94D-BEA0-DD2F35BF5A72}"/>
              </a:ext>
            </a:extLst>
          </p:cNvPr>
          <p:cNvSpPr>
            <a:spLocks noGrp="1"/>
          </p:cNvSpPr>
          <p:nvPr>
            <p:ph type="sldNum" sz="quarter" idx="12"/>
          </p:nvPr>
        </p:nvSpPr>
        <p:spPr/>
        <p:txBody>
          <a:bodyPr/>
          <a:lstStyle/>
          <a:p>
            <a:fld id="{1A7E88B7-70CE-4035-AE73-13FA6FB985D4}" type="slidenum">
              <a:rPr lang="en-US" noProof="1" smtClean="0"/>
              <a:t>31</a:t>
            </a:fld>
            <a:endParaRPr lang="en-US" noProof="1"/>
          </a:p>
        </p:txBody>
      </p:sp>
      <p:sp>
        <p:nvSpPr>
          <p:cNvPr id="2" name="Título 1">
            <a:extLst>
              <a:ext uri="{FF2B5EF4-FFF2-40B4-BE49-F238E27FC236}">
                <a16:creationId xmlns:a16="http://schemas.microsoft.com/office/drawing/2014/main" id="{784E72B5-A179-AC9C-AC6F-BC536E3672B5}"/>
              </a:ext>
            </a:extLst>
          </p:cNvPr>
          <p:cNvSpPr>
            <a:spLocks noGrp="1"/>
          </p:cNvSpPr>
          <p:nvPr>
            <p:ph type="title"/>
          </p:nvPr>
        </p:nvSpPr>
        <p:spPr>
          <a:xfrm>
            <a:off x="0" y="-314182"/>
            <a:ext cx="6911683" cy="1325563"/>
          </a:xfrm>
        </p:spPr>
        <p:txBody>
          <a:bodyPr>
            <a:normAutofit/>
          </a:bodyPr>
          <a:lstStyle/>
          <a:p>
            <a:r>
              <a:rPr lang="en-US" noProof="1"/>
              <a:t>Minhas implementações</a:t>
            </a:r>
          </a:p>
        </p:txBody>
      </p:sp>
      <p:pic>
        <p:nvPicPr>
          <p:cNvPr id="4" name="Picture 3">
            <a:extLst>
              <a:ext uri="{FF2B5EF4-FFF2-40B4-BE49-F238E27FC236}">
                <a16:creationId xmlns:a16="http://schemas.microsoft.com/office/drawing/2014/main" id="{9C9704F7-6596-9D78-88B9-F582963355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1191" y="713386"/>
            <a:ext cx="8229617" cy="5943612"/>
          </a:xfrm>
          <a:prstGeom prst="rect">
            <a:avLst/>
          </a:prstGeom>
        </p:spPr>
      </p:pic>
    </p:spTree>
    <p:extLst>
      <p:ext uri="{BB962C8B-B14F-4D97-AF65-F5344CB8AC3E}">
        <p14:creationId xmlns:p14="http://schemas.microsoft.com/office/powerpoint/2010/main" val="22767144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noProof="1"/>
              <a:t>Perguntas?</a:t>
            </a:r>
            <a:endParaRPr lang="en-US" sz="6600" b="1" i="1" noProof="1"/>
          </a:p>
        </p:txBody>
      </p:sp>
      <p:sp>
        <p:nvSpPr>
          <p:cNvPr id="2" name="Slide Number Placeholder 1">
            <a:extLst>
              <a:ext uri="{FF2B5EF4-FFF2-40B4-BE49-F238E27FC236}">
                <a16:creationId xmlns:a16="http://schemas.microsoft.com/office/drawing/2014/main" id="{804195BA-EB49-2270-8D37-826FCB6E5D51}"/>
              </a:ext>
            </a:extLst>
          </p:cNvPr>
          <p:cNvSpPr>
            <a:spLocks noGrp="1"/>
          </p:cNvSpPr>
          <p:nvPr>
            <p:ph type="sldNum" sz="quarter" idx="12"/>
          </p:nvPr>
        </p:nvSpPr>
        <p:spPr/>
        <p:txBody>
          <a:bodyPr/>
          <a:lstStyle/>
          <a:p>
            <a:fld id="{1A7E88B7-70CE-4035-AE73-13FA6FB985D4}" type="slidenum">
              <a:rPr lang="en-US" noProof="1" smtClean="0"/>
              <a:t>32</a:t>
            </a:fld>
            <a:endParaRPr lang="en-US" noProof="1"/>
          </a:p>
        </p:txBody>
      </p:sp>
    </p:spTree>
    <p:extLst>
      <p:ext uri="{BB962C8B-B14F-4D97-AF65-F5344CB8AC3E}">
        <p14:creationId xmlns:p14="http://schemas.microsoft.com/office/powerpoint/2010/main" val="37730056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4C0D2-12E2-6EB1-1B6E-D36B48BD9227}"/>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8FF23529-5F89-3689-FC66-F7112D838C67}"/>
              </a:ext>
            </a:extLst>
          </p:cNvPr>
          <p:cNvSpPr txBox="1">
            <a:spLocks/>
          </p:cNvSpPr>
          <p:nvPr/>
        </p:nvSpPr>
        <p:spPr>
          <a:xfrm>
            <a:off x="1384031" y="96079"/>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noProof="1"/>
              <a:t>Quiz</a:t>
            </a:r>
            <a:endParaRPr lang="en-US" sz="6600" b="1" i="1" noProof="1"/>
          </a:p>
        </p:txBody>
      </p:sp>
      <p:sp>
        <p:nvSpPr>
          <p:cNvPr id="2" name="Rectangle 1">
            <a:extLst>
              <a:ext uri="{FF2B5EF4-FFF2-40B4-BE49-F238E27FC236}">
                <a16:creationId xmlns:a16="http://schemas.microsoft.com/office/drawing/2014/main" id="{4945A1BF-AD8D-885C-4306-55C6E017AA39}"/>
              </a:ext>
            </a:extLst>
          </p:cNvPr>
          <p:cNvSpPr>
            <a:spLocks noChangeArrowheads="1"/>
          </p:cNvSpPr>
          <p:nvPr/>
        </p:nvSpPr>
        <p:spPr bwMode="auto">
          <a:xfrm>
            <a:off x="0" y="3013504"/>
            <a:ext cx="12192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US" sz="4800" noProof="1">
                <a:latin typeface="Arial" panose="020B0604020202020204" pitchFamily="34" charset="0"/>
                <a:hlinkClick r:id="rId3"/>
              </a:rPr>
              <a:t>https://forms.gle/BVNU8KLtxvJSaC5V9</a:t>
            </a:r>
            <a:endParaRPr kumimoji="0" lang="en-US" sz="4800" b="0" i="0" u="none" strike="noStrike" cap="none" normalizeH="0" baseline="0" noProof="1">
              <a:ln>
                <a:noFill/>
              </a:ln>
              <a:solidFill>
                <a:schemeClr val="tx1"/>
              </a:solidFill>
              <a:effectLst/>
              <a:latin typeface="Arial" panose="020B0604020202020204" pitchFamily="34" charset="0"/>
            </a:endParaRPr>
          </a:p>
        </p:txBody>
      </p:sp>
      <p:sp>
        <p:nvSpPr>
          <p:cNvPr id="3" name="Slide Number Placeholder 2">
            <a:extLst>
              <a:ext uri="{FF2B5EF4-FFF2-40B4-BE49-F238E27FC236}">
                <a16:creationId xmlns:a16="http://schemas.microsoft.com/office/drawing/2014/main" id="{A5743EFA-B826-0978-5C2F-50C49257CEE4}"/>
              </a:ext>
            </a:extLst>
          </p:cNvPr>
          <p:cNvSpPr>
            <a:spLocks noGrp="1"/>
          </p:cNvSpPr>
          <p:nvPr>
            <p:ph type="sldNum" sz="quarter" idx="12"/>
          </p:nvPr>
        </p:nvSpPr>
        <p:spPr/>
        <p:txBody>
          <a:bodyPr/>
          <a:lstStyle/>
          <a:p>
            <a:fld id="{1A7E88B7-70CE-4035-AE73-13FA6FB985D4}" type="slidenum">
              <a:rPr lang="en-US" noProof="1" smtClean="0"/>
              <a:t>33</a:t>
            </a:fld>
            <a:endParaRPr lang="en-US" noProof="1"/>
          </a:p>
        </p:txBody>
      </p:sp>
    </p:spTree>
    <p:extLst>
      <p:ext uri="{BB962C8B-B14F-4D97-AF65-F5344CB8AC3E}">
        <p14:creationId xmlns:p14="http://schemas.microsoft.com/office/powerpoint/2010/main" val="24005635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A32550-8C76-B013-2EC7-989D8C3B19BE}"/>
              </a:ext>
            </a:extLst>
          </p:cNvPr>
          <p:cNvSpPr>
            <a:spLocks noGrp="1"/>
          </p:cNvSpPr>
          <p:nvPr>
            <p:ph type="title"/>
          </p:nvPr>
        </p:nvSpPr>
        <p:spPr>
          <a:xfrm>
            <a:off x="838200" y="-149225"/>
            <a:ext cx="10515600" cy="1325563"/>
          </a:xfrm>
        </p:spPr>
        <p:txBody>
          <a:bodyPr/>
          <a:lstStyle/>
          <a:p>
            <a:r>
              <a:rPr lang="en-US" noProof="1"/>
              <a:t>Referências</a:t>
            </a:r>
          </a:p>
        </p:txBody>
      </p:sp>
      <p:sp>
        <p:nvSpPr>
          <p:cNvPr id="3" name="Slide Number Placeholder 2">
            <a:extLst>
              <a:ext uri="{FF2B5EF4-FFF2-40B4-BE49-F238E27FC236}">
                <a16:creationId xmlns:a16="http://schemas.microsoft.com/office/drawing/2014/main" id="{D9078F68-7B4E-7E80-1A9A-5ACFB1B55925}"/>
              </a:ext>
            </a:extLst>
          </p:cNvPr>
          <p:cNvSpPr>
            <a:spLocks noGrp="1"/>
          </p:cNvSpPr>
          <p:nvPr>
            <p:ph type="sldNum" sz="quarter" idx="12"/>
          </p:nvPr>
        </p:nvSpPr>
        <p:spPr/>
        <p:txBody>
          <a:bodyPr/>
          <a:lstStyle/>
          <a:p>
            <a:fld id="{1A7E88B7-70CE-4035-AE73-13FA6FB985D4}" type="slidenum">
              <a:rPr lang="en-US" noProof="1" smtClean="0"/>
              <a:t>34</a:t>
            </a:fld>
            <a:endParaRPr lang="en-US" noProof="1"/>
          </a:p>
        </p:txBody>
      </p:sp>
      <p:sp>
        <p:nvSpPr>
          <p:cNvPr id="10" name="TextBox 9">
            <a:extLst>
              <a:ext uri="{FF2B5EF4-FFF2-40B4-BE49-F238E27FC236}">
                <a16:creationId xmlns:a16="http://schemas.microsoft.com/office/drawing/2014/main" id="{CA101AF4-737D-5E74-7668-54C97C67E89F}"/>
              </a:ext>
            </a:extLst>
          </p:cNvPr>
          <p:cNvSpPr txBox="1"/>
          <p:nvPr/>
        </p:nvSpPr>
        <p:spPr>
          <a:xfrm>
            <a:off x="325120" y="1176338"/>
            <a:ext cx="10952480" cy="5632311"/>
          </a:xfrm>
          <a:prstGeom prst="rect">
            <a:avLst/>
          </a:prstGeom>
          <a:noFill/>
        </p:spPr>
        <p:txBody>
          <a:bodyPr wrap="square">
            <a:spAutoFit/>
          </a:bodyPr>
          <a:lstStyle/>
          <a:p>
            <a:r>
              <a:rPr lang="en-US" noProof="1"/>
              <a:t>[1] Y. Huang et al., “Liquid antennas: Past, present and future,” IEEE OpenJ. Antennas Propag., vol. 2, pp. 473–487, 2021.</a:t>
            </a:r>
          </a:p>
          <a:p>
            <a:r>
              <a:rPr lang="en-US" noProof="1"/>
              <a:t>[2] C. Borda-Fortuny et al., “Low-cost 3D-printed coupling-fed frequencyagile fluidic monopole antenna system,” IEEE Access, vol. 7,pp. 95058–95064, 2019.</a:t>
            </a:r>
          </a:p>
          <a:p>
            <a:r>
              <a:rPr lang="en-US" noProof="1"/>
              <a:t>[3] Y. Shen et al., “Radiation pattern diversified double-fluid-channelsurface-wave antenna for mobile communications,” in Proc. IEEE-APSTopical Conf. Antennas Propag. Wireless Commun. (APWC), 2022,pp. 85–88.</a:t>
            </a:r>
          </a:p>
          <a:p>
            <a:r>
              <a:rPr lang="en-US" noProof="1"/>
              <a:t>[4] H. Wang et al., “Continuous electrowetting surface-wave fluid antennafor mobile communications,” in Proc. IEEE Region 10 Conf. (TENCON),2022, pp. 1–4.</a:t>
            </a:r>
          </a:p>
          <a:p>
            <a:r>
              <a:rPr lang="en-US" noProof="1"/>
              <a:t>[5] B. A. Cetiner et al., “Multifunctional reconfigurable MEMS integratedantennas for adaptive MIMO systems,” IEEE Commun. Mag., vol. 42,no. 12, pp. 62–70, Dec. 2004.</a:t>
            </a:r>
          </a:p>
          <a:p>
            <a:r>
              <a:rPr lang="en-US" noProof="1"/>
              <a:t>[6] A. Grau Besoli and F. De Flaviis, “A multifunctional reconfigurable pixeled antenna using MEMS technology on printed circuitboard,” IEEE Trans. Antennas Propag., vol. 59, no. 12, pp. 4413–4424,Dec. 2011.</a:t>
            </a:r>
          </a:p>
          <a:p>
            <a:r>
              <a:rPr lang="en-US" noProof="1"/>
              <a:t>[7] L. Jing et al., “Compact pattern reconfigurable pixel antenna withdiagonal pixel connections,” IEEE Trans. Antennas Propag., vol. 70,no. 10, pp. 8951–8961, Oct. 2022.</a:t>
            </a:r>
          </a:p>
          <a:p>
            <a:r>
              <a:rPr lang="en-US" noProof="1"/>
              <a:t>[8] K.-K. Wong et al., “Fluid antenna systems,” IEEE Trans. WirelessCommun., vol. 20, no. 3, pp. 1950–1962, Mar. 2021.</a:t>
            </a:r>
          </a:p>
          <a:p>
            <a:r>
              <a:rPr lang="en-US" noProof="1"/>
              <a:t>[9] K. K. Wong and K. F. Tong, “Fluid antenna multiple access,”IEEE Trans. Wireless Commun., vol. 21, no. 7, pp. 4801–4815,Jul. 2022.</a:t>
            </a:r>
          </a:p>
          <a:p>
            <a:r>
              <a:rPr lang="en-US" noProof="1"/>
              <a:t>[10] K.-K. Wong et al., “Slow fluid antenna multiple access,” IEEE Trans.Commun., vol. 71, no. 5, pp. 2831–2846, May 2023.</a:t>
            </a:r>
          </a:p>
        </p:txBody>
      </p:sp>
    </p:spTree>
    <p:extLst>
      <p:ext uri="{BB962C8B-B14F-4D97-AF65-F5344CB8AC3E}">
        <p14:creationId xmlns:p14="http://schemas.microsoft.com/office/powerpoint/2010/main" val="17872649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noProof="1"/>
              <a:t>Obrigado!</a:t>
            </a:r>
            <a:endParaRPr lang="en-US" sz="6600" b="1" i="1" noProof="1"/>
          </a:p>
        </p:txBody>
      </p:sp>
      <p:sp>
        <p:nvSpPr>
          <p:cNvPr id="2" name="Slide Number Placeholder 1">
            <a:extLst>
              <a:ext uri="{FF2B5EF4-FFF2-40B4-BE49-F238E27FC236}">
                <a16:creationId xmlns:a16="http://schemas.microsoft.com/office/drawing/2014/main" id="{72A1763D-3A48-5D68-5419-5E1FEEAC035C}"/>
              </a:ext>
            </a:extLst>
          </p:cNvPr>
          <p:cNvSpPr>
            <a:spLocks noGrp="1"/>
          </p:cNvSpPr>
          <p:nvPr>
            <p:ph type="sldNum" sz="quarter" idx="12"/>
          </p:nvPr>
        </p:nvSpPr>
        <p:spPr/>
        <p:txBody>
          <a:bodyPr/>
          <a:lstStyle/>
          <a:p>
            <a:fld id="{1A7E88B7-70CE-4035-AE73-13FA6FB985D4}" type="slidenum">
              <a:rPr lang="en-US" noProof="1" smtClean="0"/>
              <a:t>35</a:t>
            </a:fld>
            <a:endParaRPr lang="en-US" noProof="1"/>
          </a:p>
        </p:txBody>
      </p:sp>
    </p:spTree>
    <p:extLst>
      <p:ext uri="{BB962C8B-B14F-4D97-AF65-F5344CB8AC3E}">
        <p14:creationId xmlns:p14="http://schemas.microsoft.com/office/powerpoint/2010/main" val="26557046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AB8438-E56E-2412-517C-8456E4CA773C}"/>
              </a:ext>
            </a:extLst>
          </p:cNvPr>
          <p:cNvSpPr>
            <a:spLocks noGrp="1"/>
          </p:cNvSpPr>
          <p:nvPr>
            <p:ph type="title"/>
          </p:nvPr>
        </p:nvSpPr>
        <p:spPr/>
        <p:txBody>
          <a:bodyPr/>
          <a:lstStyle/>
          <a:p>
            <a:r>
              <a:rPr lang="en-US" noProof="1"/>
              <a:t>Fundamentação teórica</a:t>
            </a:r>
          </a:p>
        </p:txBody>
      </p:sp>
      <p:sp>
        <p:nvSpPr>
          <p:cNvPr id="5" name="Content Placeholder 4">
            <a:extLst>
              <a:ext uri="{FF2B5EF4-FFF2-40B4-BE49-F238E27FC236}">
                <a16:creationId xmlns:a16="http://schemas.microsoft.com/office/drawing/2014/main" id="{822E0859-2FA5-052A-EB19-995B3CED043F}"/>
              </a:ext>
            </a:extLst>
          </p:cNvPr>
          <p:cNvSpPr>
            <a:spLocks noGrp="1"/>
          </p:cNvSpPr>
          <p:nvPr>
            <p:ph idx="1"/>
          </p:nvPr>
        </p:nvSpPr>
        <p:spPr>
          <a:xfrm>
            <a:off x="838200" y="1460499"/>
            <a:ext cx="10515600" cy="5032375"/>
          </a:xfrm>
        </p:spPr>
        <p:txBody>
          <a:bodyPr>
            <a:normAutofit/>
          </a:bodyPr>
          <a:lstStyle/>
          <a:p>
            <a:r>
              <a:rPr lang="en-US" b="1" noProof="1"/>
              <a:t>MIMO</a:t>
            </a:r>
            <a:r>
              <a:rPr lang="en-US" noProof="1"/>
              <a:t> é  um sistema com múltiplas antenas no transmissor e/ou receptor. Permite maior eficiência espectral, diversidade e melhor exploração do canal sem fio.</a:t>
            </a:r>
          </a:p>
          <a:p>
            <a:r>
              <a:rPr lang="en-US" b="1" noProof="1"/>
              <a:t>CSI</a:t>
            </a:r>
            <a:r>
              <a:rPr lang="en-US" noProof="1"/>
              <a:t> </a:t>
            </a:r>
            <a:r>
              <a:rPr lang="pt-BR" b="1" dirty="0"/>
              <a:t>(</a:t>
            </a:r>
            <a:r>
              <a:rPr lang="pt-BR" b="1" dirty="0" err="1"/>
              <a:t>Channel</a:t>
            </a:r>
            <a:r>
              <a:rPr lang="pt-BR" b="1" dirty="0"/>
              <a:t> </a:t>
            </a:r>
            <a:r>
              <a:rPr lang="pt-BR" b="1" dirty="0" err="1"/>
              <a:t>State</a:t>
            </a:r>
            <a:r>
              <a:rPr lang="pt-BR" b="1" dirty="0"/>
              <a:t> </a:t>
            </a:r>
            <a:r>
              <a:rPr lang="pt-BR" b="1" dirty="0" err="1"/>
              <a:t>Information</a:t>
            </a:r>
            <a:r>
              <a:rPr lang="pt-BR" b="1" dirty="0"/>
              <a:t>)</a:t>
            </a:r>
            <a:r>
              <a:rPr lang="en-US" b="1" noProof="1"/>
              <a:t>:</a:t>
            </a:r>
            <a:r>
              <a:rPr lang="en-US" noProof="1"/>
              <a:t> </a:t>
            </a:r>
            <a:r>
              <a:rPr lang="pt-BR" dirty="0"/>
              <a:t>Informação que descreve o canal entre transmissor e receptor. É usada para modelar o sistema e auxiliar a predição dos sinais não observados</a:t>
            </a:r>
            <a:r>
              <a:rPr lang="en-US" noProof="1"/>
              <a:t>.</a:t>
            </a:r>
          </a:p>
          <a:p>
            <a:r>
              <a:rPr lang="pt-BR" b="1" dirty="0"/>
              <a:t>RZF (</a:t>
            </a:r>
            <a:r>
              <a:rPr lang="pt-BR" b="1" dirty="0" err="1"/>
              <a:t>Regularized</a:t>
            </a:r>
            <a:r>
              <a:rPr lang="pt-BR" b="1" dirty="0"/>
              <a:t> Zero-</a:t>
            </a:r>
            <a:r>
              <a:rPr lang="pt-BR" b="1" dirty="0" err="1"/>
              <a:t>Forcing</a:t>
            </a:r>
            <a:r>
              <a:rPr lang="pt-BR" b="1" dirty="0"/>
              <a:t>)</a:t>
            </a:r>
            <a:r>
              <a:rPr lang="en-US" b="1" noProof="1"/>
              <a:t>: </a:t>
            </a:r>
            <a:r>
              <a:rPr lang="pt-BR" dirty="0"/>
              <a:t>Detector linear usado para recuperar o sinal desejado e reduzir interferência. A regularização torna a inversão mais estável na presença de ruído e correlação.</a:t>
            </a:r>
            <a:endParaRPr lang="en-US" noProof="1"/>
          </a:p>
          <a:p>
            <a:r>
              <a:rPr lang="pt-BR" b="1" dirty="0"/>
              <a:t>BER e NMSE: </a:t>
            </a:r>
            <a:r>
              <a:rPr lang="pt-BR" dirty="0"/>
              <a:t>BER mede erro na detecção dos bits. NMSE mede o erro na predição dos sinais estimados.</a:t>
            </a:r>
            <a:r>
              <a:rPr lang="en-US" noProof="1"/>
              <a:t> </a:t>
            </a:r>
          </a:p>
          <a:p>
            <a:endParaRPr lang="en-US" noProof="1"/>
          </a:p>
          <a:p>
            <a:endParaRPr lang="en-US" noProof="1"/>
          </a:p>
          <a:p>
            <a:endParaRPr lang="en-US" noProof="1"/>
          </a:p>
        </p:txBody>
      </p:sp>
      <p:sp>
        <p:nvSpPr>
          <p:cNvPr id="3" name="Slide Number Placeholder 2">
            <a:extLst>
              <a:ext uri="{FF2B5EF4-FFF2-40B4-BE49-F238E27FC236}">
                <a16:creationId xmlns:a16="http://schemas.microsoft.com/office/drawing/2014/main" id="{85704518-46C5-FB20-E54A-26EED6309A74}"/>
              </a:ext>
            </a:extLst>
          </p:cNvPr>
          <p:cNvSpPr>
            <a:spLocks noGrp="1"/>
          </p:cNvSpPr>
          <p:nvPr>
            <p:ph type="sldNum" sz="quarter" idx="12"/>
          </p:nvPr>
        </p:nvSpPr>
        <p:spPr/>
        <p:txBody>
          <a:bodyPr/>
          <a:lstStyle/>
          <a:p>
            <a:fld id="{1A7E88B7-70CE-4035-AE73-13FA6FB985D4}" type="slidenum">
              <a:rPr lang="en-US" noProof="1" smtClean="0"/>
              <a:t>36</a:t>
            </a:fld>
            <a:endParaRPr lang="en-US" noProof="1"/>
          </a:p>
        </p:txBody>
      </p:sp>
      <p:pic>
        <p:nvPicPr>
          <p:cNvPr id="6" name="Picture 5">
            <a:extLst>
              <a:ext uri="{FF2B5EF4-FFF2-40B4-BE49-F238E27FC236}">
                <a16:creationId xmlns:a16="http://schemas.microsoft.com/office/drawing/2014/main" id="{7D2837BA-B926-6BE2-9228-A16373270EF5}"/>
              </a:ext>
            </a:extLst>
          </p:cNvPr>
          <p:cNvPicPr>
            <a:picLocks noChangeAspect="1"/>
          </p:cNvPicPr>
          <p:nvPr/>
        </p:nvPicPr>
        <p:blipFill>
          <a:blip r:embed="rId3"/>
          <a:stretch>
            <a:fillRect/>
          </a:stretch>
        </p:blipFill>
        <p:spPr>
          <a:xfrm>
            <a:off x="7962760" y="134937"/>
            <a:ext cx="2827868" cy="1325563"/>
          </a:xfrm>
          <a:prstGeom prst="rect">
            <a:avLst/>
          </a:prstGeom>
        </p:spPr>
      </p:pic>
    </p:spTree>
    <p:extLst>
      <p:ext uri="{BB962C8B-B14F-4D97-AF65-F5344CB8AC3E}">
        <p14:creationId xmlns:p14="http://schemas.microsoft.com/office/powerpoint/2010/main" val="3187071590"/>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10183</TotalTime>
  <Words>6697</Words>
  <Application>Microsoft Office PowerPoint</Application>
  <PresentationFormat>Widescreen</PresentationFormat>
  <Paragraphs>472</Paragraphs>
  <Slides>36</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Calibri Light</vt:lpstr>
      <vt:lpstr>Cambria Math</vt:lpstr>
      <vt:lpstr>Tema do Office</vt:lpstr>
      <vt:lpstr>TP558 - Tópicos avançados em Machine Learning: DIY Your EasyNAS for Vision: Convolution Operation Merging, Map Channel Reducing, and Search Space to Supernet Conversion Tooling IEEE TRANSACTIONS ON PATTERN ANALYSIS AND MACHINE INTELLIGENCE 2023</vt:lpstr>
      <vt:lpstr>Contexto do Tema</vt:lpstr>
      <vt:lpstr>Contexto do Tema</vt:lpstr>
      <vt:lpstr>DARTS, Differentiable Architecture Search</vt:lpstr>
      <vt:lpstr>Introdução do artigo</vt:lpstr>
      <vt:lpstr>Introdução do artigo</vt:lpstr>
      <vt:lpstr>Trabalhos relacionados</vt:lpstr>
      <vt:lpstr>Trabalhos relacionados</vt:lpstr>
      <vt:lpstr>Trabalhos relacionados</vt:lpstr>
      <vt:lpstr>Modelo de Sistema</vt:lpstr>
      <vt:lpstr>Atomic search component</vt:lpstr>
      <vt:lpstr>Atomic search component</vt:lpstr>
      <vt:lpstr>Atomic search component</vt:lpstr>
      <vt:lpstr>Pesos das convoluções</vt:lpstr>
      <vt:lpstr>Algoritmo de treinamento</vt:lpstr>
      <vt:lpstr>Célula de Busca para Classificação</vt:lpstr>
      <vt:lpstr>Supernet para Detecção de Objetos</vt:lpstr>
      <vt:lpstr>Supernet para Segmentação Semântica</vt:lpstr>
      <vt:lpstr>Resultados</vt:lpstr>
      <vt:lpstr>PowerPoint Presentation</vt:lpstr>
      <vt:lpstr>Resultados</vt:lpstr>
      <vt:lpstr>PowerPoint Presentation</vt:lpstr>
      <vt:lpstr>PowerPoint Presentation</vt:lpstr>
      <vt:lpstr>PowerPoint Presentation</vt:lpstr>
      <vt:lpstr>PowerPoint Presentation</vt:lpstr>
      <vt:lpstr>PowerPoint Presentation</vt:lpstr>
      <vt:lpstr>Conclusões</vt:lpstr>
      <vt:lpstr>Limitações</vt:lpstr>
      <vt:lpstr>Minhas implementações</vt:lpstr>
      <vt:lpstr>Minhas implementações</vt:lpstr>
      <vt:lpstr>Minhas implementações</vt:lpstr>
      <vt:lpstr>PowerPoint Presentation</vt:lpstr>
      <vt:lpstr>PowerPoint Presentation</vt:lpstr>
      <vt:lpstr>Referências</vt:lpstr>
      <vt:lpstr>PowerPoint Presentation</vt:lpstr>
      <vt:lpstr>Fundamentação teórica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dc:title>
  <dc:creator>Felipe Augusto Pereira de Figueiredo</dc:creator>
  <cp:lastModifiedBy>Matheus Ferreira Silva</cp:lastModifiedBy>
  <cp:revision>1766</cp:revision>
  <dcterms:created xsi:type="dcterms:W3CDTF">2020-01-20T13:50:05Z</dcterms:created>
  <dcterms:modified xsi:type="dcterms:W3CDTF">2026-05-04T23:06:30Z</dcterms:modified>
</cp:coreProperties>
</file>